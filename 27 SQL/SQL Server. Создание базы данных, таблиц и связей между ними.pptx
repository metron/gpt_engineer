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7"/>
    <p:restoredTop sz="94674"/>
  </p:normalViewPr>
  <p:slideViewPr>
    <p:cSldViewPr snapToGrid="0">
      <p:cViewPr varScale="1">
        <p:scale>
          <a:sx n="109" d="100"/>
          <a:sy n="109" d="100"/>
        </p:scale>
        <p:origin x="10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9A6C6B-399D-F7D4-EC64-543B47FF3ED6}"/>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D7D03F70-56C8-20BE-BF43-95F63C4720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456D273C-B5C0-93B8-753A-F3D53D6406A6}"/>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5" name="Нижний колонтитул 4">
            <a:extLst>
              <a:ext uri="{FF2B5EF4-FFF2-40B4-BE49-F238E27FC236}">
                <a16:creationId xmlns:a16="http://schemas.microsoft.com/office/drawing/2014/main" id="{E107EC34-F5C9-870F-EEB6-4EC650E1EDF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86BBAAB-5661-DBB7-E459-3EBB7FA0E170}"/>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4274994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E7DD49-3BD6-DCE4-DE0A-33620859E2D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D0F122A-95D5-BF4C-5F89-94739AE521B3}"/>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CA935C9-55BA-6DFB-34CE-55A31DA70DDA}"/>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5" name="Нижний колонтитул 4">
            <a:extLst>
              <a:ext uri="{FF2B5EF4-FFF2-40B4-BE49-F238E27FC236}">
                <a16:creationId xmlns:a16="http://schemas.microsoft.com/office/drawing/2014/main" id="{7F9174B2-36EF-7B3D-5D67-259A3F87E74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5BF29C5-EEAB-DC19-F4DB-7A695CA65905}"/>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1880466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EE139D-8A04-F467-81FE-A09691D55DAB}"/>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8BEEFB6E-1F5B-945D-CEB3-EE718C8139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485A287-B585-CC7E-8D35-4F996975F736}"/>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5" name="Нижний колонтитул 4">
            <a:extLst>
              <a:ext uri="{FF2B5EF4-FFF2-40B4-BE49-F238E27FC236}">
                <a16:creationId xmlns:a16="http://schemas.microsoft.com/office/drawing/2014/main" id="{2B2CC126-3553-EC0A-B350-324D1A7EF8F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2DC31D5-7FF7-5D5C-6C80-23B4CB83959F}"/>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2802568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319281-C37A-B375-1546-ADBAC61D056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782C2DA-BA38-FAC9-6736-38AE26A82CE6}"/>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01F01D6F-A981-27E3-1470-E9C5C0B0F89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82720E63-D9D8-626E-B37C-4BA1CA3888D0}"/>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6" name="Нижний колонтитул 5">
            <a:extLst>
              <a:ext uri="{FF2B5EF4-FFF2-40B4-BE49-F238E27FC236}">
                <a16:creationId xmlns:a16="http://schemas.microsoft.com/office/drawing/2014/main" id="{13F03B61-8401-EC70-93A3-8A183FEB8CC9}"/>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102931D-6DB0-1F73-4CB7-9710E29D5A34}"/>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1056006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4C75CB-0767-8F12-B484-75FE648D8BCB}"/>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9FEB17E2-2E9A-EA49-79C3-6C7A89E723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8C36573D-930D-14CA-31BF-512CB0C3B95A}"/>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669B5AF4-7CF1-900F-B11F-4D8ECF046C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56FFEDA5-A746-1373-415D-369B2EE30D3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93D66D95-EA4A-BBE7-672C-2E3E06CCBB37}"/>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8" name="Нижний колонтитул 7">
            <a:extLst>
              <a:ext uri="{FF2B5EF4-FFF2-40B4-BE49-F238E27FC236}">
                <a16:creationId xmlns:a16="http://schemas.microsoft.com/office/drawing/2014/main" id="{39C32CAD-FF2C-93A0-1A26-19674517C2F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15531B5D-FF6A-D78D-96F2-3CCCFC7F80E7}"/>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3049903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21FA0A-00C4-2D42-F445-FBDD960954FE}"/>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64B5B466-0932-BF61-E8B6-4C8A89C060D7}"/>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4" name="Нижний колонтитул 3">
            <a:extLst>
              <a:ext uri="{FF2B5EF4-FFF2-40B4-BE49-F238E27FC236}">
                <a16:creationId xmlns:a16="http://schemas.microsoft.com/office/drawing/2014/main" id="{7BDEC296-1C9D-9519-AD3C-656EAF49AA7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3363CF6-65B7-8557-82AD-6A479184682B}"/>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1517319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59729452-EE67-7A5C-B626-74E9782CC399}"/>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3" name="Нижний колонтитул 2">
            <a:extLst>
              <a:ext uri="{FF2B5EF4-FFF2-40B4-BE49-F238E27FC236}">
                <a16:creationId xmlns:a16="http://schemas.microsoft.com/office/drawing/2014/main" id="{682E7B7A-3701-6593-0D11-D6F78359E9B6}"/>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1FCBFB38-6345-A746-F8F3-A0B920C51FA2}"/>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1180942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0CCE63-6021-3DC9-7B1D-0DB6BBC3972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1F67695-386D-02F2-4E95-8ACBFE3E5A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ABD1DAD1-CABB-8ACE-12D9-739C4AF21B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9CB999F-009D-B0DF-66A7-570934CC8F28}"/>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6" name="Нижний колонтитул 5">
            <a:extLst>
              <a:ext uri="{FF2B5EF4-FFF2-40B4-BE49-F238E27FC236}">
                <a16:creationId xmlns:a16="http://schemas.microsoft.com/office/drawing/2014/main" id="{894DC30D-D96C-2836-31FE-B75019BBC41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6B5F556-C82B-9027-6067-95A1D0B98BFA}"/>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4008307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08E277-65EE-FF98-FEEA-AA7F5189DEC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E80EE0E3-63AE-F61F-6829-EA4F147568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F3920710-1C8E-3FE9-2F41-F2C84081A6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DA94F5C-00D2-2A13-EF17-017E2ED8D737}"/>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6" name="Нижний колонтитул 5">
            <a:extLst>
              <a:ext uri="{FF2B5EF4-FFF2-40B4-BE49-F238E27FC236}">
                <a16:creationId xmlns:a16="http://schemas.microsoft.com/office/drawing/2014/main" id="{5F95888C-FD77-FB97-12A3-D761B8AB52A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946AF14-F27D-EC22-7266-1CDDC2B5C265}"/>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2295936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D42D60-EBB6-4CC7-6043-D15E792E1B1A}"/>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C635DDB6-937E-1F19-2928-C83EE7CEC18A}"/>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FB7332D-971C-91E8-6474-E8720D847FF7}"/>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5" name="Нижний колонтитул 4">
            <a:extLst>
              <a:ext uri="{FF2B5EF4-FFF2-40B4-BE49-F238E27FC236}">
                <a16:creationId xmlns:a16="http://schemas.microsoft.com/office/drawing/2014/main" id="{88E9F400-15CE-BF92-BCDE-8B75BE960A9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E113F68-690B-446A-C5E3-FF165EAA8F3C}"/>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201960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DF157EED-1820-27CE-4250-3094C8579284}"/>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2A54DBE1-169D-95E0-EC48-D938A0E29F2F}"/>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955A391-81A9-DFC9-BC77-2EA3F364A494}"/>
              </a:ext>
            </a:extLst>
          </p:cNvPr>
          <p:cNvSpPr>
            <a:spLocks noGrp="1"/>
          </p:cNvSpPr>
          <p:nvPr>
            <p:ph type="dt" sz="half" idx="10"/>
          </p:nvPr>
        </p:nvSpPr>
        <p:spPr/>
        <p:txBody>
          <a:bodyPr/>
          <a:lstStyle/>
          <a:p>
            <a:fld id="{797B0454-8F13-5F4D-A2B6-EB9A41D746C8}" type="datetimeFigureOut">
              <a:rPr lang="ru-RU" smtClean="0"/>
              <a:t>16.02.2025</a:t>
            </a:fld>
            <a:endParaRPr lang="ru-RU"/>
          </a:p>
        </p:txBody>
      </p:sp>
      <p:sp>
        <p:nvSpPr>
          <p:cNvPr id="5" name="Нижний колонтитул 4">
            <a:extLst>
              <a:ext uri="{FF2B5EF4-FFF2-40B4-BE49-F238E27FC236}">
                <a16:creationId xmlns:a16="http://schemas.microsoft.com/office/drawing/2014/main" id="{1E8755F6-1CED-9351-DBA4-A91CE8F5F63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1297F82-9C05-BC23-5BAA-79067C08FEFA}"/>
              </a:ext>
            </a:extLst>
          </p:cNvPr>
          <p:cNvSpPr>
            <a:spLocks noGrp="1"/>
          </p:cNvSpPr>
          <p:nvPr>
            <p:ph type="sldNum" sz="quarter" idx="12"/>
          </p:nvPr>
        </p:nvSpPr>
        <p:spPr/>
        <p:txBody>
          <a:bodyPr/>
          <a:lstStyle/>
          <a:p>
            <a:fld id="{C85834A7-5A66-1F40-B30E-8D041A96C094}" type="slidenum">
              <a:rPr lang="ru-RU" smtClean="0"/>
              <a:t>‹#›</a:t>
            </a:fld>
            <a:endParaRPr lang="ru-RU"/>
          </a:p>
        </p:txBody>
      </p:sp>
    </p:spTree>
    <p:extLst>
      <p:ext uri="{BB962C8B-B14F-4D97-AF65-F5344CB8AC3E}">
        <p14:creationId xmlns:p14="http://schemas.microsoft.com/office/powerpoint/2010/main" val="428599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07D555-2BF4-37CB-019B-12DEA4D2B4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D47C1DF8-4102-B046-158A-B9E9148B75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02CC2BD-EF3B-2B1C-09BB-D2C862F40E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7B0454-8F13-5F4D-A2B6-EB9A41D746C8}" type="datetimeFigureOut">
              <a:rPr lang="ru-RU" smtClean="0"/>
              <a:t>16.02.2025</a:t>
            </a:fld>
            <a:endParaRPr lang="ru-RU"/>
          </a:p>
        </p:txBody>
      </p:sp>
      <p:sp>
        <p:nvSpPr>
          <p:cNvPr id="5" name="Нижний колонтитул 4">
            <a:extLst>
              <a:ext uri="{FF2B5EF4-FFF2-40B4-BE49-F238E27FC236}">
                <a16:creationId xmlns:a16="http://schemas.microsoft.com/office/drawing/2014/main" id="{CBF45683-278A-1268-3854-C339B5F684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87C778D8-13FB-072C-4426-6F994424B9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5834A7-5A66-1F40-B30E-8D041A96C094}" type="slidenum">
              <a:rPr lang="ru-RU" smtClean="0"/>
              <a:t>‹#›</a:t>
            </a:fld>
            <a:endParaRPr lang="ru-RU"/>
          </a:p>
        </p:txBody>
      </p:sp>
    </p:spTree>
    <p:extLst>
      <p:ext uri="{BB962C8B-B14F-4D97-AF65-F5344CB8AC3E}">
        <p14:creationId xmlns:p14="http://schemas.microsoft.com/office/powerpoint/2010/main" val="2567042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23B621-A20E-2311-607E-0111EF934EC1}"/>
              </a:ext>
            </a:extLst>
          </p:cNvPr>
          <p:cNvSpPr>
            <a:spLocks noGrp="1"/>
          </p:cNvSpPr>
          <p:nvPr>
            <p:ph type="ctrTitle"/>
          </p:nvPr>
        </p:nvSpPr>
        <p:spPr>
          <a:xfrm>
            <a:off x="1524000" y="328246"/>
            <a:ext cx="9144000" cy="5396883"/>
          </a:xfrm>
        </p:spPr>
        <p:txBody>
          <a:bodyPr>
            <a:normAutofit fontScale="90000"/>
          </a:bodyPr>
          <a:lstStyle/>
          <a:p>
            <a:r>
              <a:rPr lang="en" b="0" i="0" u="none" strike="noStrike" dirty="0">
                <a:solidFill>
                  <a:srgbClr val="3A3B45"/>
                </a:solidFill>
                <a:effectLst/>
                <a:latin typeface="Times New Roman" panose="02020603050405020304" pitchFamily="18" charset="0"/>
                <a:cs typeface="Times New Roman" panose="02020603050405020304" pitchFamily="18" charset="0"/>
              </a:rPr>
              <a:t>SQL Server. </a:t>
            </a:r>
            <a:r>
              <a:rPr lang="ru-RU" b="0" i="0" u="none" strike="noStrike" dirty="0">
                <a:solidFill>
                  <a:srgbClr val="3A3B45"/>
                </a:solidFill>
                <a:effectLst/>
                <a:latin typeface="Times New Roman" panose="02020603050405020304" pitchFamily="18" charset="0"/>
                <a:cs typeface="Times New Roman" panose="02020603050405020304" pitchFamily="18" charset="0"/>
              </a:rPr>
              <a:t>Создание базы данных, таблиц и связей между ними</a:t>
            </a:r>
            <a:br>
              <a:rPr lang="ru-RU" b="0" i="0" u="none" strike="noStrike" dirty="0">
                <a:solidFill>
                  <a:srgbClr val="3A3B45"/>
                </a:solidFill>
                <a:effectLst/>
                <a:latin typeface="Times New Roman" panose="02020603050405020304" pitchFamily="18" charset="0"/>
                <a:cs typeface="Times New Roman" panose="02020603050405020304" pitchFamily="18" charset="0"/>
              </a:rPr>
            </a:br>
            <a:r>
              <a:rPr lang="ru-RU" b="0" i="0" u="none" strike="noStrike" dirty="0">
                <a:solidFill>
                  <a:srgbClr val="3A3B45"/>
                </a:solidFill>
                <a:effectLst/>
                <a:latin typeface="Times New Roman" panose="02020603050405020304" pitchFamily="18" charset="0"/>
                <a:cs typeface="Times New Roman" panose="02020603050405020304" pitchFamily="18" charset="0"/>
              </a:rPr>
              <a:t>Основы работы с </a:t>
            </a:r>
            <a:br>
              <a:rPr lang="ru-RU" b="0" i="0" u="none" strike="noStrike" dirty="0">
                <a:solidFill>
                  <a:srgbClr val="3A3B45"/>
                </a:solidFill>
                <a:effectLst/>
                <a:latin typeface="Times New Roman" panose="02020603050405020304" pitchFamily="18" charset="0"/>
                <a:cs typeface="Times New Roman" panose="02020603050405020304" pitchFamily="18" charset="0"/>
              </a:rPr>
            </a:br>
            <a:r>
              <a:rPr lang="en" b="0" i="0" u="none" strike="noStrike" dirty="0">
                <a:solidFill>
                  <a:srgbClr val="3A3B45"/>
                </a:solidFill>
                <a:effectLst/>
                <a:latin typeface="Times New Roman" panose="02020603050405020304" pitchFamily="18" charset="0"/>
                <a:cs typeface="Times New Roman" panose="02020603050405020304" pitchFamily="18" charset="0"/>
              </a:rPr>
              <a:t>MS SQL Server Management Studio</a:t>
            </a:r>
            <a:br>
              <a:rPr lang="en" b="0" i="0" u="none" strike="noStrike" dirty="0">
                <a:solidFill>
                  <a:srgbClr val="3A3B45"/>
                </a:solidFill>
                <a:effectLst/>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8206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60523F-3E0C-8CFB-B649-E851FA65552D}"/>
              </a:ext>
            </a:extLst>
          </p:cNvPr>
          <p:cNvSpPr txBox="1"/>
          <p:nvPr/>
        </p:nvSpPr>
        <p:spPr>
          <a:xfrm>
            <a:off x="281188" y="366623"/>
            <a:ext cx="11629623" cy="6124754"/>
          </a:xfrm>
          <a:prstGeom prst="rect">
            <a:avLst/>
          </a:prstGeom>
          <a:noFill/>
        </p:spPr>
        <p:txBody>
          <a:bodyPr wrap="square">
            <a:spAutoFit/>
          </a:bodyPr>
          <a:lstStyle/>
          <a:p>
            <a:pPr algn="just"/>
            <a:r>
              <a:rPr lang="ru-RU" sz="2800" b="0" i="0" u="none" strike="noStrike" dirty="0">
                <a:solidFill>
                  <a:srgbClr val="3A3B45"/>
                </a:solidFill>
                <a:effectLst/>
                <a:latin typeface="Times New Roman" panose="02020603050405020304" pitchFamily="18" charset="0"/>
                <a:cs typeface="Times New Roman" panose="02020603050405020304" pitchFamily="18" charset="0"/>
              </a:rPr>
              <a:t>В </a:t>
            </a:r>
            <a:r>
              <a:rPr lang="en" sz="2800" b="0" i="0" u="none" strike="noStrike" dirty="0">
                <a:solidFill>
                  <a:srgbClr val="3A3B45"/>
                </a:solidFill>
                <a:effectLst/>
                <a:latin typeface="Times New Roman" panose="02020603050405020304" pitchFamily="18" charset="0"/>
                <a:cs typeface="Times New Roman" panose="02020603050405020304" pitchFamily="18" charset="0"/>
              </a:rPr>
              <a:t>MS SQL Server </a:t>
            </a:r>
            <a:r>
              <a:rPr lang="ru-RU" sz="2800" b="0" i="0" u="none" strike="noStrike" dirty="0">
                <a:solidFill>
                  <a:srgbClr val="3A3B45"/>
                </a:solidFill>
                <a:effectLst/>
                <a:latin typeface="Times New Roman" panose="02020603050405020304" pitchFamily="18" charset="0"/>
                <a:cs typeface="Times New Roman" panose="02020603050405020304" pitchFamily="18" charset="0"/>
              </a:rPr>
              <a:t>по умолчанию создается 4 системных баз данных:</a:t>
            </a:r>
          </a:p>
          <a:p>
            <a:pPr algn="just">
              <a:buFont typeface="Arial" panose="020B0604020202020204" pitchFamily="34" charset="0"/>
              <a:buChar char="•"/>
            </a:pPr>
            <a:r>
              <a:rPr lang="en" sz="2800" b="1" i="0" u="none" strike="noStrike" dirty="0">
                <a:solidFill>
                  <a:srgbClr val="3A3B45"/>
                </a:solidFill>
                <a:effectLst/>
                <a:latin typeface="Times New Roman" panose="02020603050405020304" pitchFamily="18" charset="0"/>
                <a:cs typeface="Times New Roman" panose="02020603050405020304" pitchFamily="18" charset="0"/>
              </a:rPr>
              <a:t>master:</a:t>
            </a:r>
            <a:r>
              <a:rPr lang="en" sz="2800" b="0" i="0" u="none" strike="noStrike" dirty="0">
                <a:solidFill>
                  <a:srgbClr val="3A3B45"/>
                </a:solidFill>
                <a:effectLst/>
                <a:latin typeface="Times New Roman" panose="02020603050405020304" pitchFamily="18" charset="0"/>
                <a:cs typeface="Times New Roman" panose="02020603050405020304" pitchFamily="18" charset="0"/>
              </a:rPr>
              <a:t> </a:t>
            </a:r>
            <a:r>
              <a:rPr lang="ru-RU" sz="2800" b="0" i="0" u="none" strike="noStrike" dirty="0">
                <a:solidFill>
                  <a:srgbClr val="3A3B45"/>
                </a:solidFill>
                <a:effectLst/>
                <a:latin typeface="Times New Roman" panose="02020603050405020304" pitchFamily="18" charset="0"/>
                <a:cs typeface="Times New Roman" panose="02020603050405020304" pitchFamily="18" charset="0"/>
              </a:rPr>
              <a:t>эта главная БД сервера, в случае ее отсутствия или повреждения сервер не сможет работать. Она хранит все используемые логины пользователей сервера, их роли, различные конфигурационные настройки, имена и информацию о базах данных, которые хранятся на сервере, а также ряд другой информации.</a:t>
            </a:r>
          </a:p>
          <a:p>
            <a:pPr algn="just">
              <a:buFont typeface="Arial" panose="020B0604020202020204" pitchFamily="34" charset="0"/>
              <a:buChar char="•"/>
            </a:pPr>
            <a:r>
              <a:rPr lang="en" sz="2800" b="1" i="0" u="none" strike="noStrike" dirty="0">
                <a:solidFill>
                  <a:srgbClr val="3A3B45"/>
                </a:solidFill>
                <a:effectLst/>
                <a:latin typeface="Times New Roman" panose="02020603050405020304" pitchFamily="18" charset="0"/>
                <a:cs typeface="Times New Roman" panose="02020603050405020304" pitchFamily="18" charset="0"/>
              </a:rPr>
              <a:t>model</a:t>
            </a:r>
            <a:r>
              <a:rPr lang="en" sz="2800" b="0" i="0" u="none" strike="noStrike" dirty="0">
                <a:solidFill>
                  <a:srgbClr val="3A3B45"/>
                </a:solidFill>
                <a:effectLst/>
                <a:latin typeface="Times New Roman" panose="02020603050405020304" pitchFamily="18" charset="0"/>
                <a:cs typeface="Times New Roman" panose="02020603050405020304" pitchFamily="18" charset="0"/>
              </a:rPr>
              <a:t>: </a:t>
            </a:r>
            <a:r>
              <a:rPr lang="ru-RU" sz="2800" b="0" i="0" u="none" strike="noStrike" dirty="0">
                <a:solidFill>
                  <a:srgbClr val="3A3B45"/>
                </a:solidFill>
                <a:effectLst/>
                <a:latin typeface="Times New Roman" panose="02020603050405020304" pitchFamily="18" charset="0"/>
                <a:cs typeface="Times New Roman" panose="02020603050405020304" pitchFamily="18" charset="0"/>
              </a:rPr>
              <a:t>эта БД представляет шаблон, на основе которого создаются другие БД. То есть когда мы создаем через </a:t>
            </a:r>
            <a:r>
              <a:rPr lang="en" sz="2800" b="0" i="0" u="none" strike="noStrike" dirty="0">
                <a:solidFill>
                  <a:srgbClr val="3A3B45"/>
                </a:solidFill>
                <a:effectLst/>
                <a:latin typeface="Times New Roman" panose="02020603050405020304" pitchFamily="18" charset="0"/>
                <a:cs typeface="Times New Roman" panose="02020603050405020304" pitchFamily="18" charset="0"/>
              </a:rPr>
              <a:t>SSMS </a:t>
            </a:r>
            <a:r>
              <a:rPr lang="ru-RU" sz="2800" b="0" i="0" u="none" strike="noStrike" dirty="0">
                <a:solidFill>
                  <a:srgbClr val="3A3B45"/>
                </a:solidFill>
                <a:effectLst/>
                <a:latin typeface="Times New Roman" panose="02020603050405020304" pitchFamily="18" charset="0"/>
                <a:cs typeface="Times New Roman" panose="02020603050405020304" pitchFamily="18" charset="0"/>
              </a:rPr>
              <a:t>свою БД, она создается как копия базы </a:t>
            </a:r>
            <a:r>
              <a:rPr lang="en" sz="2800" b="0" i="0" u="none" strike="noStrike" dirty="0">
                <a:solidFill>
                  <a:srgbClr val="3A3B45"/>
                </a:solidFill>
                <a:effectLst/>
                <a:latin typeface="Times New Roman" panose="02020603050405020304" pitchFamily="18" charset="0"/>
                <a:cs typeface="Times New Roman" panose="02020603050405020304" pitchFamily="18" charset="0"/>
              </a:rPr>
              <a:t>model.</a:t>
            </a:r>
          </a:p>
          <a:p>
            <a:pPr algn="just">
              <a:buFont typeface="Arial" panose="020B0604020202020204" pitchFamily="34" charset="0"/>
              <a:buChar char="•"/>
            </a:pPr>
            <a:r>
              <a:rPr lang="en" sz="2800" b="1" i="0" u="none" strike="noStrike" dirty="0" err="1">
                <a:solidFill>
                  <a:srgbClr val="3A3B45"/>
                </a:solidFill>
                <a:effectLst/>
                <a:latin typeface="Times New Roman" panose="02020603050405020304" pitchFamily="18" charset="0"/>
                <a:cs typeface="Times New Roman" panose="02020603050405020304" pitchFamily="18" charset="0"/>
              </a:rPr>
              <a:t>msdb</a:t>
            </a:r>
            <a:r>
              <a:rPr lang="en" sz="2800" b="0" i="0" u="none" strike="noStrike" dirty="0">
                <a:solidFill>
                  <a:srgbClr val="3A3B45"/>
                </a:solidFill>
                <a:effectLst/>
                <a:latin typeface="Times New Roman" panose="02020603050405020304" pitchFamily="18" charset="0"/>
                <a:cs typeface="Times New Roman" panose="02020603050405020304" pitchFamily="18" charset="0"/>
              </a:rPr>
              <a:t>: </a:t>
            </a:r>
            <a:r>
              <a:rPr lang="ru-RU" sz="2800" b="0" i="0" u="none" strike="noStrike" dirty="0">
                <a:solidFill>
                  <a:srgbClr val="3A3B45"/>
                </a:solidFill>
                <a:effectLst/>
                <a:latin typeface="Times New Roman" panose="02020603050405020304" pitchFamily="18" charset="0"/>
                <a:cs typeface="Times New Roman" panose="02020603050405020304" pitchFamily="18" charset="0"/>
              </a:rPr>
              <a:t>хранит информацию о работе, выполняемой таким компонентом как планировщик </a:t>
            </a:r>
            <a:r>
              <a:rPr lang="en" sz="2800" b="0" i="0" u="none" strike="noStrike" dirty="0">
                <a:solidFill>
                  <a:srgbClr val="3A3B45"/>
                </a:solidFill>
                <a:effectLst/>
                <a:latin typeface="Times New Roman" panose="02020603050405020304" pitchFamily="18" charset="0"/>
                <a:cs typeface="Times New Roman" panose="02020603050405020304" pitchFamily="18" charset="0"/>
              </a:rPr>
              <a:t>SQL. </a:t>
            </a:r>
            <a:r>
              <a:rPr lang="ru-RU" sz="2800" b="0" i="0" u="none" strike="noStrike" dirty="0">
                <a:solidFill>
                  <a:srgbClr val="3A3B45"/>
                </a:solidFill>
                <a:effectLst/>
                <a:latin typeface="Times New Roman" panose="02020603050405020304" pitchFamily="18" charset="0"/>
                <a:cs typeface="Times New Roman" panose="02020603050405020304" pitchFamily="18" charset="0"/>
              </a:rPr>
              <a:t>Также она хранит информацию о </a:t>
            </a:r>
            <a:r>
              <a:rPr lang="ru-RU" sz="2800" b="0" i="0" u="none" strike="noStrike" dirty="0" err="1">
                <a:solidFill>
                  <a:srgbClr val="3A3B45"/>
                </a:solidFill>
                <a:effectLst/>
                <a:latin typeface="Times New Roman" panose="02020603050405020304" pitchFamily="18" charset="0"/>
                <a:cs typeface="Times New Roman" panose="02020603050405020304" pitchFamily="18" charset="0"/>
              </a:rPr>
              <a:t>бекапах</a:t>
            </a:r>
            <a:r>
              <a:rPr lang="ru-RU" sz="2800" b="0" i="0" u="none" strike="noStrike" dirty="0">
                <a:solidFill>
                  <a:srgbClr val="3A3B45"/>
                </a:solidFill>
                <a:effectLst/>
                <a:latin typeface="Times New Roman" panose="02020603050405020304" pitchFamily="18" charset="0"/>
                <a:cs typeface="Times New Roman" panose="02020603050405020304" pitchFamily="18" charset="0"/>
              </a:rPr>
              <a:t> баз данных.</a:t>
            </a:r>
          </a:p>
          <a:p>
            <a:pPr algn="just">
              <a:buFont typeface="Arial" panose="020B0604020202020204" pitchFamily="34" charset="0"/>
              <a:buChar char="•"/>
            </a:pPr>
            <a:r>
              <a:rPr lang="en" sz="2800" b="1" i="0" u="none" strike="noStrike" dirty="0" err="1">
                <a:solidFill>
                  <a:srgbClr val="3A3B45"/>
                </a:solidFill>
                <a:effectLst/>
                <a:latin typeface="Times New Roman" panose="02020603050405020304" pitchFamily="18" charset="0"/>
                <a:cs typeface="Times New Roman" panose="02020603050405020304" pitchFamily="18" charset="0"/>
              </a:rPr>
              <a:t>tempdb</a:t>
            </a:r>
            <a:r>
              <a:rPr lang="en" sz="2800" b="0" i="0" u="none" strike="noStrike" dirty="0">
                <a:solidFill>
                  <a:srgbClr val="3A3B45"/>
                </a:solidFill>
                <a:effectLst/>
                <a:latin typeface="Times New Roman" panose="02020603050405020304" pitchFamily="18" charset="0"/>
                <a:cs typeface="Times New Roman" panose="02020603050405020304" pitchFamily="18" charset="0"/>
              </a:rPr>
              <a:t>: </a:t>
            </a:r>
            <a:r>
              <a:rPr lang="ru-RU" sz="2800" b="0" i="0" u="none" strike="noStrike" dirty="0">
                <a:solidFill>
                  <a:srgbClr val="3A3B45"/>
                </a:solidFill>
                <a:effectLst/>
                <a:latin typeface="Times New Roman" panose="02020603050405020304" pitchFamily="18" charset="0"/>
                <a:cs typeface="Times New Roman" panose="02020603050405020304" pitchFamily="18" charset="0"/>
              </a:rPr>
              <a:t>эта БД используется как хранилище для временных объектов. Она заново пересоздается при каждом запуске сервера.</a:t>
            </a:r>
          </a:p>
        </p:txBody>
      </p:sp>
    </p:spTree>
    <p:extLst>
      <p:ext uri="{BB962C8B-B14F-4D97-AF65-F5344CB8AC3E}">
        <p14:creationId xmlns:p14="http://schemas.microsoft.com/office/powerpoint/2010/main" val="1649899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FDA646-B251-FCDD-43CB-9BA5087722A2}"/>
              </a:ext>
            </a:extLst>
          </p:cNvPr>
          <p:cNvSpPr txBox="1"/>
          <p:nvPr/>
        </p:nvSpPr>
        <p:spPr>
          <a:xfrm>
            <a:off x="421783" y="343264"/>
            <a:ext cx="10589654" cy="954107"/>
          </a:xfrm>
          <a:prstGeom prst="rect">
            <a:avLst/>
          </a:prstGeom>
          <a:noFill/>
        </p:spPr>
        <p:txBody>
          <a:bodyPr wrap="square">
            <a:spAutoFit/>
          </a:bodyPr>
          <a:lstStyle/>
          <a:p>
            <a:r>
              <a:rPr lang="ru-RU" sz="2800" b="0" i="0" u="none" strike="noStrike" dirty="0">
                <a:solidFill>
                  <a:srgbClr val="3A3B45"/>
                </a:solidFill>
                <a:effectLst/>
                <a:latin typeface="Times New Roman" panose="02020603050405020304" pitchFamily="18" charset="0"/>
                <a:cs typeface="Times New Roman" panose="02020603050405020304" pitchFamily="18" charset="0"/>
              </a:rPr>
              <a:t>Все эти базы можно увидеть через </a:t>
            </a:r>
            <a:r>
              <a:rPr lang="en" sz="2800" b="0" i="0" u="none" strike="noStrike" dirty="0">
                <a:solidFill>
                  <a:srgbClr val="3A3B45"/>
                </a:solidFill>
                <a:effectLst/>
                <a:latin typeface="Times New Roman" panose="02020603050405020304" pitchFamily="18" charset="0"/>
                <a:cs typeface="Times New Roman" panose="02020603050405020304" pitchFamily="18" charset="0"/>
              </a:rPr>
              <a:t>SQL Server Management Studio </a:t>
            </a:r>
            <a:r>
              <a:rPr lang="ru-RU" sz="2800" b="0" i="0" u="none" strike="noStrike" dirty="0">
                <a:solidFill>
                  <a:srgbClr val="3A3B45"/>
                </a:solidFill>
                <a:effectLst/>
                <a:latin typeface="Times New Roman" panose="02020603050405020304" pitchFamily="18" charset="0"/>
                <a:cs typeface="Times New Roman" panose="02020603050405020304" pitchFamily="18" charset="0"/>
              </a:rPr>
              <a:t>в узле </a:t>
            </a:r>
            <a:r>
              <a:rPr lang="en" sz="2800" b="0" i="0" u="none" strike="noStrike" dirty="0">
                <a:solidFill>
                  <a:srgbClr val="3A3B45"/>
                </a:solidFill>
                <a:effectLst/>
                <a:latin typeface="Times New Roman" panose="02020603050405020304" pitchFamily="18" charset="0"/>
                <a:cs typeface="Times New Roman" panose="02020603050405020304" pitchFamily="18" charset="0"/>
              </a:rPr>
              <a:t>Databases -&gt; System Databases:</a:t>
            </a:r>
            <a:endParaRPr lang="ru-RU" sz="2800" dirty="0">
              <a:latin typeface="Times New Roman" panose="02020603050405020304" pitchFamily="18" charset="0"/>
              <a:cs typeface="Times New Roman" panose="02020603050405020304" pitchFamily="18" charset="0"/>
            </a:endParaRPr>
          </a:p>
        </p:txBody>
      </p:sp>
      <p:pic>
        <p:nvPicPr>
          <p:cNvPr id="1028" name="Picture 4" descr="Системные базы данных в MS SQL Server 2016">
            <a:extLst>
              <a:ext uri="{FF2B5EF4-FFF2-40B4-BE49-F238E27FC236}">
                <a16:creationId xmlns:a16="http://schemas.microsoft.com/office/drawing/2014/main" id="{5FE06196-D0EC-D385-7725-23519EF22E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4150" y="1246952"/>
            <a:ext cx="4055146" cy="5611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300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9F46FD-4A7B-7552-0C3F-E854DDD603EA}"/>
              </a:ext>
            </a:extLst>
          </p:cNvPr>
          <p:cNvSpPr txBox="1"/>
          <p:nvPr/>
        </p:nvSpPr>
        <p:spPr>
          <a:xfrm>
            <a:off x="2125014" y="401321"/>
            <a:ext cx="8387366" cy="523220"/>
          </a:xfrm>
          <a:prstGeom prst="rect">
            <a:avLst/>
          </a:prstGeom>
          <a:noFill/>
        </p:spPr>
        <p:txBody>
          <a:bodyPr wrap="square">
            <a:spAutoFit/>
          </a:bodyPr>
          <a:lstStyle/>
          <a:p>
            <a:pPr algn="l"/>
            <a:r>
              <a:rPr lang="ru-RU" sz="2800" b="1" i="0" u="none" strike="noStrike" dirty="0">
                <a:solidFill>
                  <a:srgbClr val="000000"/>
                </a:solidFill>
                <a:effectLst/>
                <a:latin typeface="Times New Roman" panose="02020603050405020304" pitchFamily="18" charset="0"/>
                <a:cs typeface="Times New Roman" panose="02020603050405020304" pitchFamily="18" charset="0"/>
              </a:rPr>
              <a:t>Создание базы данных в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SQL Management Studio</a:t>
            </a:r>
          </a:p>
        </p:txBody>
      </p:sp>
      <p:sp>
        <p:nvSpPr>
          <p:cNvPr id="7" name="TextBox 6">
            <a:extLst>
              <a:ext uri="{FF2B5EF4-FFF2-40B4-BE49-F238E27FC236}">
                <a16:creationId xmlns:a16="http://schemas.microsoft.com/office/drawing/2014/main" id="{46D76CBA-CD91-2498-CF58-4F5F582E522D}"/>
              </a:ext>
            </a:extLst>
          </p:cNvPr>
          <p:cNvSpPr txBox="1"/>
          <p:nvPr/>
        </p:nvSpPr>
        <p:spPr>
          <a:xfrm>
            <a:off x="447541" y="1025638"/>
            <a:ext cx="11130566" cy="2677656"/>
          </a:xfrm>
          <a:prstGeom prst="rect">
            <a:avLst/>
          </a:prstGeom>
          <a:noFill/>
        </p:spPr>
        <p:txBody>
          <a:bodyPr wrap="square">
            <a:spAutoFit/>
          </a:bodyPr>
          <a:lstStyle/>
          <a:p>
            <a:r>
              <a:rPr lang="ru-RU" sz="2800" b="0" i="0" u="none" strike="noStrike" dirty="0">
                <a:solidFill>
                  <a:srgbClr val="000000"/>
                </a:solidFill>
                <a:effectLst/>
                <a:latin typeface="Times New Roman" panose="02020603050405020304" pitchFamily="18" charset="0"/>
                <a:cs typeface="Times New Roman" panose="02020603050405020304" pitchFamily="18" charset="0"/>
              </a:rPr>
              <a:t>Теперь создадим свою базу данных. Для этого мы можем использовать скрипт на языке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SQL,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либо все сделать с помощью графических средств в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SQL Management Studio.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В данном случае мы выберем второй способ. Для этого откроем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SQL Server Management Studio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нажмем правой кнопкой мыши на узел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Databases</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Затем в появившемся контекстном меню выберем пункт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New Database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128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Создание базы данных в SQL Server Management Studio">
            <a:extLst>
              <a:ext uri="{FF2B5EF4-FFF2-40B4-BE49-F238E27FC236}">
                <a16:creationId xmlns:a16="http://schemas.microsoft.com/office/drawing/2014/main" id="{A29FBEF5-523C-1C00-3AA9-C0BDB7EE04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4300" y="419100"/>
            <a:ext cx="68834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7533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E61408-82F4-A1CA-18BD-95859F963FCC}"/>
              </a:ext>
            </a:extLst>
          </p:cNvPr>
          <p:cNvSpPr txBox="1"/>
          <p:nvPr/>
        </p:nvSpPr>
        <p:spPr>
          <a:xfrm>
            <a:off x="383145" y="67614"/>
            <a:ext cx="10370713" cy="523220"/>
          </a:xfrm>
          <a:prstGeom prst="rect">
            <a:avLst/>
          </a:prstGeom>
          <a:noFill/>
        </p:spPr>
        <p:txBody>
          <a:bodyPr wrap="square">
            <a:spAutoFit/>
          </a:bodyPr>
          <a:lstStyle/>
          <a:p>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этого нам открывается окно для создания базы данных:</a:t>
            </a:r>
            <a:endParaRPr lang="ru-RU" sz="2800" dirty="0">
              <a:latin typeface="Times New Roman" panose="02020603050405020304" pitchFamily="18" charset="0"/>
              <a:cs typeface="Times New Roman" panose="02020603050405020304" pitchFamily="18" charset="0"/>
            </a:endParaRPr>
          </a:p>
        </p:txBody>
      </p:sp>
      <p:pic>
        <p:nvPicPr>
          <p:cNvPr id="3074" name="Picture 2" descr="Определение базы данных в SQL Server Management Studio">
            <a:extLst>
              <a:ext uri="{FF2B5EF4-FFF2-40B4-BE49-F238E27FC236}">
                <a16:creationId xmlns:a16="http://schemas.microsoft.com/office/drawing/2014/main" id="{D23C824B-EF00-76E3-ED9C-1BDEA9ABCF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590834"/>
            <a:ext cx="10363200" cy="608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142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89A6A0-5525-D5A9-2E96-1F6D30CEFEDD}"/>
              </a:ext>
            </a:extLst>
          </p:cNvPr>
          <p:cNvSpPr txBox="1"/>
          <p:nvPr/>
        </p:nvSpPr>
        <p:spPr>
          <a:xfrm>
            <a:off x="193182" y="283335"/>
            <a:ext cx="11372045" cy="6370975"/>
          </a:xfrm>
          <a:prstGeom prst="rect">
            <a:avLst/>
          </a:prstGeom>
          <a:noFill/>
        </p:spPr>
        <p:txBody>
          <a:bodyPr wrap="square">
            <a:spAutoFit/>
          </a:bodyPr>
          <a:lstStyle/>
          <a:p>
            <a:pPr algn="just"/>
            <a:r>
              <a:rPr lang="ru-RU" sz="2400" b="0" i="0" u="none" strike="noStrike" dirty="0">
                <a:solidFill>
                  <a:srgbClr val="000000"/>
                </a:solidFill>
                <a:effectLst/>
                <a:latin typeface="Times New Roman" panose="02020603050405020304" pitchFamily="18" charset="0"/>
                <a:cs typeface="Times New Roman" panose="02020603050405020304" pitchFamily="18" charset="0"/>
              </a:rPr>
              <a:t>В поле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Database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необходимо ввести название новой БД. Пусть у нас БД называется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university</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a:t>
            </a:r>
          </a:p>
          <a:p>
            <a:pPr algn="just"/>
            <a:r>
              <a:rPr lang="ru-RU" sz="2400" b="0" i="0" u="none" strike="noStrike" dirty="0">
                <a:solidFill>
                  <a:srgbClr val="000000"/>
                </a:solidFill>
                <a:effectLst/>
                <a:latin typeface="Times New Roman" panose="02020603050405020304" pitchFamily="18" charset="0"/>
                <a:cs typeface="Times New Roman" panose="02020603050405020304" pitchFamily="18" charset="0"/>
              </a:rPr>
              <a:t>Следующее поле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Owner</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задает владельца </a:t>
            </a:r>
            <a:r>
              <a:rPr lang="ru-RU" sz="2400" b="0" i="0" u="none" strike="noStrike" dirty="0" err="1">
                <a:solidFill>
                  <a:srgbClr val="000000"/>
                </a:solidFill>
                <a:effectLst/>
                <a:latin typeface="Times New Roman" panose="02020603050405020304" pitchFamily="18" charset="0"/>
                <a:cs typeface="Times New Roman" panose="02020603050405020304" pitchFamily="18" charset="0"/>
              </a:rPr>
              <a:t>БДх</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 По умолчанию оно имеет значение </a:t>
            </a:r>
            <a:r>
              <a:rPr lang="ru-RU" sz="2400" b="0" i="1" u="none" strike="noStrike" dirty="0">
                <a:solidFill>
                  <a:srgbClr val="000000"/>
                </a:solidFill>
                <a:effectLst/>
                <a:latin typeface="Times New Roman" panose="02020603050405020304" pitchFamily="18" charset="0"/>
                <a:cs typeface="Times New Roman" panose="02020603050405020304" pitchFamily="18" charset="0"/>
              </a:rPr>
              <a:t>&lt;</a:t>
            </a:r>
            <a:r>
              <a:rPr lang="en" sz="2400" b="0" i="1" u="none" strike="noStrike" dirty="0" err="1">
                <a:solidFill>
                  <a:srgbClr val="000000"/>
                </a:solidFill>
                <a:effectLst/>
                <a:latin typeface="Times New Roman" panose="02020603050405020304" pitchFamily="18" charset="0"/>
                <a:cs typeface="Times New Roman" panose="02020603050405020304" pitchFamily="18" charset="0"/>
              </a:rPr>
              <a:t>defult</a:t>
            </a:r>
            <a:r>
              <a:rPr lang="en" sz="2400" b="0" i="1" u="none" strike="noStrike" dirty="0">
                <a:solidFill>
                  <a:srgbClr val="000000"/>
                </a:solidFill>
                <a:effectLst/>
                <a:latin typeface="Times New Roman" panose="02020603050405020304" pitchFamily="18" charset="0"/>
                <a:cs typeface="Times New Roman" panose="02020603050405020304" pitchFamily="18" charset="0"/>
              </a:rPr>
              <a:t>&gt;</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то есть владельцем будет тот, кто создает эту БД. Оставим это поле без изменений.</a:t>
            </a:r>
          </a:p>
          <a:p>
            <a:pPr algn="just"/>
            <a:r>
              <a:rPr lang="ru-RU" sz="2400" b="0" i="0" u="none" strike="noStrike" dirty="0">
                <a:solidFill>
                  <a:srgbClr val="000000"/>
                </a:solidFill>
                <a:effectLst/>
                <a:latin typeface="Times New Roman" panose="02020603050405020304" pitchFamily="18" charset="0"/>
                <a:cs typeface="Times New Roman" panose="02020603050405020304" pitchFamily="18" charset="0"/>
              </a:rPr>
              <a:t>Далее идет таблица для установки общих настроек БД. Она содержит две строки – 1-я для установки настроек для главного файла, где будут храниться данные, и 2-я строка для конфигурации файла </a:t>
            </a:r>
            <a:r>
              <a:rPr lang="ru-RU" sz="2400" b="0" i="0" u="none" strike="noStrike" dirty="0" err="1">
                <a:solidFill>
                  <a:srgbClr val="000000"/>
                </a:solidFill>
                <a:effectLst/>
                <a:latin typeface="Times New Roman" panose="02020603050405020304" pitchFamily="18" charset="0"/>
                <a:cs typeface="Times New Roman" panose="02020603050405020304" pitchFamily="18" charset="0"/>
              </a:rPr>
              <a:t>логгирования</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 В частности, мы можем установить следующие настройки:</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Logical Name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логическое имя, которое присваивается файлу БД.</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File Type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есть несколько типов файлов, но, как правило, основная работа ведется с файлами данных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ROWS Data)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 файлом лога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LOG)</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Filegroup</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err="1">
                <a:solidFill>
                  <a:srgbClr val="000000"/>
                </a:solidFill>
                <a:effectLst/>
                <a:latin typeface="Times New Roman" panose="02020603050405020304" pitchFamily="18" charset="0"/>
                <a:cs typeface="Times New Roman" panose="02020603050405020304" pitchFamily="18" charset="0"/>
              </a:rPr>
              <a:t>обозначет</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 группу файлов. Группа файлов может хранить множество файлов и может использоваться для разбиения БД на части для размещения в разных местах.</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Initial Size (MB)</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устанавливает начальный размер файлов при создании (фактический размер может отличаться от этого значения).</a:t>
            </a:r>
          </a:p>
        </p:txBody>
      </p:sp>
    </p:spTree>
    <p:extLst>
      <p:ext uri="{BB962C8B-B14F-4D97-AF65-F5344CB8AC3E}">
        <p14:creationId xmlns:p14="http://schemas.microsoft.com/office/powerpoint/2010/main" val="1405063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C88AAB-A405-82D4-BF29-A9827102CA4E}"/>
              </a:ext>
            </a:extLst>
          </p:cNvPr>
          <p:cNvSpPr txBox="1"/>
          <p:nvPr/>
        </p:nvSpPr>
        <p:spPr>
          <a:xfrm>
            <a:off x="274749" y="193183"/>
            <a:ext cx="11642501" cy="3108543"/>
          </a:xfrm>
          <a:prstGeom prst="rect">
            <a:avLst/>
          </a:prstGeom>
          <a:noFill/>
        </p:spPr>
        <p:txBody>
          <a:bodyPr wrap="square">
            <a:spAutoFit/>
          </a:bodyPr>
          <a:lstStyle/>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Autogrowth/</a:t>
            </a:r>
            <a:r>
              <a:rPr lang="en" sz="2800" b="1" i="0" u="none" strike="noStrike" dirty="0" err="1">
                <a:solidFill>
                  <a:srgbClr val="000000"/>
                </a:solidFill>
                <a:effectLst/>
                <a:latin typeface="Times New Roman" panose="02020603050405020304" pitchFamily="18" charset="0"/>
                <a:cs typeface="Times New Roman" panose="02020603050405020304" pitchFamily="18" charset="0"/>
              </a:rPr>
              <a:t>Maxsize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при достижении базой данных начального размера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SQL Server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использует это значение для увеличения файла.</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Path</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каталог, где будут храниться базы данных.</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File Name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непосредственное имя физического файла. Если оно не указано, то применяется логическое имя.</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ввода названия базы данных нажмем на кнопку ОК, и </a:t>
            </a:r>
            <a:r>
              <a:rPr lang="ru-RU" sz="2800" b="0" i="0" u="none" strike="noStrike" dirty="0" err="1">
                <a:solidFill>
                  <a:srgbClr val="000000"/>
                </a:solidFill>
                <a:effectLst/>
                <a:latin typeface="Times New Roman" panose="02020603050405020304" pitchFamily="18" charset="0"/>
                <a:cs typeface="Times New Roman" panose="02020603050405020304" pitchFamily="18" charset="0"/>
              </a:rPr>
              <a:t>бд</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 будет создана.</a:t>
            </a:r>
          </a:p>
        </p:txBody>
      </p:sp>
      <p:sp>
        <p:nvSpPr>
          <p:cNvPr id="7" name="TextBox 6">
            <a:extLst>
              <a:ext uri="{FF2B5EF4-FFF2-40B4-BE49-F238E27FC236}">
                <a16:creationId xmlns:a16="http://schemas.microsoft.com/office/drawing/2014/main" id="{C5E30FB2-0AC6-D197-45F3-8C30AC3BE710}"/>
              </a:ext>
            </a:extLst>
          </p:cNvPr>
          <p:cNvSpPr txBox="1"/>
          <p:nvPr/>
        </p:nvSpPr>
        <p:spPr>
          <a:xfrm>
            <a:off x="408903" y="4313126"/>
            <a:ext cx="11336629" cy="1384995"/>
          </a:xfrm>
          <a:prstGeom prst="rect">
            <a:avLst/>
          </a:prstGeom>
          <a:noFill/>
        </p:spPr>
        <p:txBody>
          <a:bodyPr wrap="square">
            <a:spAutoFit/>
          </a:bodyPr>
          <a:lstStyle/>
          <a:p>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этого она появится среди баз данных сервера. Если эта </a:t>
            </a:r>
            <a:r>
              <a:rPr lang="ru-RU" sz="2800" b="0" i="0" u="none" strike="noStrike" dirty="0" err="1">
                <a:solidFill>
                  <a:srgbClr val="000000"/>
                </a:solidFill>
                <a:effectLst/>
                <a:latin typeface="Times New Roman" panose="02020603050405020304" pitchFamily="18" charset="0"/>
                <a:cs typeface="Times New Roman" panose="02020603050405020304" pitchFamily="18" charset="0"/>
              </a:rPr>
              <a:t>бд</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 впоследствии не потребуется, то ее можно удалить, нажав на нее правой кнопкой мыши и выбрав в контекстном меню пункт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Delete:</a:t>
            </a:r>
            <a:endParaRPr lang="ru-RU"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139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Удаление базы данных в MS SQL Server">
            <a:extLst>
              <a:ext uri="{FF2B5EF4-FFF2-40B4-BE49-F238E27FC236}">
                <a16:creationId xmlns:a16="http://schemas.microsoft.com/office/drawing/2014/main" id="{E6C4E276-3269-3AB1-F561-A027DD7D3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500" y="631065"/>
            <a:ext cx="4194533" cy="6226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0473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B55C3E-29D8-3709-8860-89078E51B825}"/>
              </a:ext>
            </a:extLst>
          </p:cNvPr>
          <p:cNvSpPr txBox="1"/>
          <p:nvPr/>
        </p:nvSpPr>
        <p:spPr>
          <a:xfrm>
            <a:off x="5096813" y="182381"/>
            <a:ext cx="6098146" cy="523220"/>
          </a:xfrm>
          <a:prstGeom prst="rect">
            <a:avLst/>
          </a:prstGeom>
          <a:noFill/>
        </p:spPr>
        <p:txBody>
          <a:bodyPr wrap="square">
            <a:spAutoFit/>
          </a:bodyPr>
          <a:lstStyle/>
          <a:p>
            <a:pPr algn="l"/>
            <a:r>
              <a:rPr lang="ru-RU" sz="2800" b="1" i="0" u="none" strike="noStrike" dirty="0">
                <a:solidFill>
                  <a:srgbClr val="000000"/>
                </a:solidFill>
                <a:effectLst/>
                <a:latin typeface="Times New Roman" panose="02020603050405020304" pitchFamily="18" charset="0"/>
                <a:cs typeface="Times New Roman" panose="02020603050405020304" pitchFamily="18" charset="0"/>
              </a:rPr>
              <a:t>Создание таблиц</a:t>
            </a:r>
          </a:p>
        </p:txBody>
      </p:sp>
      <p:sp>
        <p:nvSpPr>
          <p:cNvPr id="7" name="TextBox 6">
            <a:extLst>
              <a:ext uri="{FF2B5EF4-FFF2-40B4-BE49-F238E27FC236}">
                <a16:creationId xmlns:a16="http://schemas.microsoft.com/office/drawing/2014/main" id="{6BF1A767-6869-C657-B717-90104CB7DF9F}"/>
              </a:ext>
            </a:extLst>
          </p:cNvPr>
          <p:cNvSpPr txBox="1"/>
          <p:nvPr/>
        </p:nvSpPr>
        <p:spPr>
          <a:xfrm>
            <a:off x="331631" y="1119165"/>
            <a:ext cx="11452538" cy="1384995"/>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Ключевым объектом в базе данных являются таблицы. Таблицы состоят из строк и столбцов. Столбцы определяют тип информации, которая хранится, а строки содержат значения для этих столбцов.</a:t>
            </a:r>
            <a:endParaRPr lang="ru-RU" sz="2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B5C57E5-C7A0-0069-8A10-B4D36DAB784A}"/>
              </a:ext>
            </a:extLst>
          </p:cNvPr>
          <p:cNvSpPr txBox="1"/>
          <p:nvPr/>
        </p:nvSpPr>
        <p:spPr>
          <a:xfrm>
            <a:off x="208129" y="2917724"/>
            <a:ext cx="11160456" cy="2246769"/>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Для этого раскроем узел базы данных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university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в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SQL Server Management Studio,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нажмем на его </a:t>
            </a:r>
            <a:r>
              <a:rPr lang="ru-RU" sz="2800" b="0" i="0" u="none" strike="noStrike" dirty="0" err="1">
                <a:solidFill>
                  <a:srgbClr val="000000"/>
                </a:solidFill>
                <a:effectLst/>
                <a:latin typeface="Times New Roman" panose="02020603050405020304" pitchFamily="18" charset="0"/>
                <a:cs typeface="Times New Roman" panose="02020603050405020304" pitchFamily="18" charset="0"/>
              </a:rPr>
              <a:t>подузел</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Tables</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правой кнопкой мыши и далее в </a:t>
            </a:r>
            <a:r>
              <a:rPr lang="ru-RU" sz="2800" b="0" i="0" u="none" strike="noStrike" dirty="0" err="1">
                <a:solidFill>
                  <a:srgbClr val="000000"/>
                </a:solidFill>
                <a:effectLst/>
                <a:latin typeface="Times New Roman" panose="02020603050405020304" pitchFamily="18" charset="0"/>
                <a:cs typeface="Times New Roman" panose="02020603050405020304" pitchFamily="18" charset="0"/>
              </a:rPr>
              <a:t>контексто</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 меню выберем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New -&gt; Table...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p>
          <a:p>
            <a:pPr algn="just"/>
            <a:r>
              <a:rPr lang="en" sz="2800" dirty="0">
                <a:latin typeface="Times New Roman" panose="02020603050405020304" pitchFamily="18" charset="0"/>
                <a:cs typeface="Times New Roman" panose="02020603050405020304" pitchFamily="18" charset="0"/>
              </a:rPr>
              <a:t/>
            </a:r>
            <a:br>
              <a:rPr lang="en" sz="2800" dirty="0">
                <a:latin typeface="Times New Roman" panose="02020603050405020304" pitchFamily="18" charset="0"/>
                <a:cs typeface="Times New Roman" panose="02020603050405020304" pitchFamily="18" charset="0"/>
              </a:rPr>
            </a:br>
            <a:endParaRPr lang="ru-RU"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532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Создание таблицы в SQL Server Management Studio">
            <a:extLst>
              <a:ext uri="{FF2B5EF4-FFF2-40B4-BE49-F238E27FC236}">
                <a16:creationId xmlns:a16="http://schemas.microsoft.com/office/drawing/2014/main" id="{E9581309-8D61-C523-6F9E-DE90DFB493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177420"/>
            <a:ext cx="8092840" cy="6636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0560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4D4F75E-D69E-3127-3C9C-3335626C3CA3}"/>
              </a:ext>
            </a:extLst>
          </p:cNvPr>
          <p:cNvSpPr txBox="1"/>
          <p:nvPr/>
        </p:nvSpPr>
        <p:spPr>
          <a:xfrm>
            <a:off x="436727" y="349872"/>
            <a:ext cx="10822675" cy="3970318"/>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этого нам откроется дизайнер таблицы. В центральной части в таблице необходимо ввести данные о столбцах таблицы. Дизайнер содержит три поля:</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Column Name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имя столбца</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Data Type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тип данных столбца. Тип данных определяет, какие данные могут храниться в этом столбце. Например, если столбец представляет числовой тип, то он может хранить только числа.</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Allow Nulls</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может ли отсутствовать значение у столбца, то есть может ли он быть пустым</a:t>
            </a:r>
          </a:p>
        </p:txBody>
      </p:sp>
    </p:spTree>
    <p:extLst>
      <p:ext uri="{BB962C8B-B14F-4D97-AF65-F5344CB8AC3E}">
        <p14:creationId xmlns:p14="http://schemas.microsoft.com/office/powerpoint/2010/main" val="922054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Определение столбцов таблицы в SQL Server Management Studio">
            <a:extLst>
              <a:ext uri="{FF2B5EF4-FFF2-40B4-BE49-F238E27FC236}">
                <a16:creationId xmlns:a16="http://schemas.microsoft.com/office/drawing/2014/main" id="{92EAE61F-E4C2-A4C1-9452-66FBA5283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279400"/>
            <a:ext cx="10134600" cy="629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124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1F9D0F-09D6-4C1D-C556-3EBFBD53A746}"/>
              </a:ext>
            </a:extLst>
          </p:cNvPr>
          <p:cNvSpPr txBox="1"/>
          <p:nvPr/>
        </p:nvSpPr>
        <p:spPr>
          <a:xfrm>
            <a:off x="309349" y="301854"/>
            <a:ext cx="11573302" cy="6463308"/>
          </a:xfrm>
          <a:prstGeom prst="rect">
            <a:avLst/>
          </a:prstGeom>
          <a:noFill/>
        </p:spPr>
        <p:txBody>
          <a:bodyPr wrap="square">
            <a:spAutoFit/>
          </a:bodyPr>
          <a:lstStyle/>
          <a:p>
            <a:pPr algn="just"/>
            <a:r>
              <a:rPr lang="ru-RU" sz="2300" b="0" i="0" u="none" strike="noStrike" dirty="0">
                <a:solidFill>
                  <a:srgbClr val="000000"/>
                </a:solidFill>
                <a:effectLst/>
                <a:latin typeface="Times New Roman" panose="02020603050405020304" pitchFamily="18" charset="0"/>
                <a:cs typeface="Times New Roman" panose="02020603050405020304" pitchFamily="18" charset="0"/>
              </a:rPr>
              <a:t>Создадим таблицу с данными учащихся в учебном заведении. Для этого в дизайнере таблицы четыре столбца: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Id, FirstName, </a:t>
            </a:r>
            <a:r>
              <a:rPr lang="en" sz="2300" b="0" i="0" u="none" strike="noStrike" dirty="0" err="1">
                <a:solidFill>
                  <a:srgbClr val="000000"/>
                </a:solidFill>
                <a:effectLst/>
                <a:latin typeface="Times New Roman" panose="02020603050405020304" pitchFamily="18" charset="0"/>
                <a:cs typeface="Times New Roman" panose="02020603050405020304" pitchFamily="18" charset="0"/>
              </a:rPr>
              <a:t>LastName</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Year,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которые будут представлять соответственно уникальный идентификатор пользователя, его имя, фамилию и год рождения. У первого и четвертого столбца надо указать тип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int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то есть целочисленный), а у столбцов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FirstName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300" b="0" i="0" u="none" strike="noStrike" dirty="0" err="1">
                <a:solidFill>
                  <a:srgbClr val="000000"/>
                </a:solidFill>
                <a:effectLst/>
                <a:latin typeface="Times New Roman" panose="02020603050405020304" pitchFamily="18" charset="0"/>
                <a:cs typeface="Times New Roman" panose="02020603050405020304" pitchFamily="18" charset="0"/>
              </a:rPr>
              <a:t>LastName</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 -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тип </a:t>
            </a:r>
            <a:r>
              <a:rPr lang="en" sz="2300" b="1" i="0" u="none" strike="noStrike" dirty="0" err="1">
                <a:solidFill>
                  <a:srgbClr val="000000"/>
                </a:solidFill>
                <a:effectLst/>
                <a:latin typeface="Times New Roman" panose="02020603050405020304" pitchFamily="18" charset="0"/>
                <a:cs typeface="Times New Roman" panose="02020603050405020304" pitchFamily="18" charset="0"/>
              </a:rPr>
              <a:t>nvarchar</a:t>
            </a:r>
            <a:r>
              <a:rPr lang="en" sz="2300" b="1" i="0" u="none" strike="noStrike" dirty="0">
                <a:solidFill>
                  <a:srgbClr val="000000"/>
                </a:solidFill>
                <a:effectLst/>
                <a:latin typeface="Times New Roman" panose="02020603050405020304" pitchFamily="18" charset="0"/>
                <a:cs typeface="Times New Roman" panose="02020603050405020304" pitchFamily="18" charset="0"/>
              </a:rPr>
              <a:t>(50)</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строковый).</a:t>
            </a:r>
          </a:p>
          <a:p>
            <a:pPr algn="l"/>
            <a:r>
              <a:rPr lang="ru-RU" sz="2300" b="0" i="0" u="none" strike="noStrike" dirty="0">
                <a:solidFill>
                  <a:srgbClr val="000000"/>
                </a:solidFill>
                <a:effectLst/>
                <a:latin typeface="Times New Roman" panose="02020603050405020304" pitchFamily="18" charset="0"/>
                <a:cs typeface="Times New Roman" panose="02020603050405020304" pitchFamily="18" charset="0"/>
              </a:rPr>
              <a:t>Затем в окне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Properties,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которая содержит свойства таблицы, в поле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Name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надо ввести имя таблицы - </a:t>
            </a:r>
            <a:r>
              <a:rPr lang="en" sz="2300" b="1" i="0" u="none" strike="noStrike" dirty="0">
                <a:solidFill>
                  <a:srgbClr val="000000"/>
                </a:solidFill>
                <a:effectLst/>
                <a:latin typeface="Times New Roman" panose="02020603050405020304" pitchFamily="18" charset="0"/>
                <a:cs typeface="Times New Roman" panose="02020603050405020304" pitchFamily="18" charset="0"/>
              </a:rPr>
              <a:t>Students</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а в поле </a:t>
            </a:r>
            <a:r>
              <a:rPr lang="en" sz="2300" b="1" i="0" u="none" strike="noStrike" dirty="0">
                <a:solidFill>
                  <a:srgbClr val="000000"/>
                </a:solidFill>
                <a:effectLst/>
                <a:latin typeface="Times New Roman" panose="02020603050405020304" pitchFamily="18" charset="0"/>
                <a:cs typeface="Times New Roman" panose="02020603050405020304" pitchFamily="18" charset="0"/>
              </a:rPr>
              <a:t>Identity</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ввести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Id,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то есть тем самым указывая, что столбец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Id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будет идентификатором.</a:t>
            </a:r>
          </a:p>
          <a:p>
            <a:pPr algn="l"/>
            <a:r>
              <a:rPr lang="ru-RU" sz="2300" b="0" i="0" u="none" strike="noStrike" dirty="0">
                <a:solidFill>
                  <a:srgbClr val="000000"/>
                </a:solidFill>
                <a:effectLst/>
                <a:latin typeface="Times New Roman" panose="02020603050405020304" pitchFamily="18" charset="0"/>
                <a:cs typeface="Times New Roman" panose="02020603050405020304" pitchFamily="18" charset="0"/>
              </a:rPr>
              <a:t>Имя таблицы должно быть уникальным в рамках базы данных. Как правило, название таблицы отражает название сущности, которая в ней хранится. Например, мы хотим сохранить студентов, поэтому таблица называется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Students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слово студент во множественном числе на английском языке). Существуют разные мнения по поводу того, стоит использовать название сущности в единственном или множественном числе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Student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или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Students).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В данном случае вопрос наименования таблицы всецело ложится на разработчика базы данных.</a:t>
            </a:r>
          </a:p>
          <a:p>
            <a:pPr algn="l"/>
            <a:r>
              <a:rPr lang="ru-RU" sz="2300" b="0" i="0" u="none" strike="noStrike" dirty="0">
                <a:solidFill>
                  <a:srgbClr val="000000"/>
                </a:solidFill>
                <a:effectLst/>
                <a:latin typeface="Times New Roman" panose="02020603050405020304" pitchFamily="18" charset="0"/>
                <a:cs typeface="Times New Roman" panose="02020603050405020304" pitchFamily="18" charset="0"/>
              </a:rPr>
              <a:t>И в конце нам надо отметить, что столбец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Id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будет выполнять роль </a:t>
            </a:r>
            <a:r>
              <a:rPr lang="ru-RU" sz="2300" b="1" i="0" u="none" strike="noStrike" dirty="0">
                <a:solidFill>
                  <a:srgbClr val="000000"/>
                </a:solidFill>
                <a:effectLst/>
                <a:latin typeface="Times New Roman" panose="02020603050405020304" pitchFamily="18" charset="0"/>
                <a:cs typeface="Times New Roman" panose="02020603050405020304" pitchFamily="18" charset="0"/>
              </a:rPr>
              <a:t>первичного ключа</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 (</a:t>
            </a:r>
            <a:r>
              <a:rPr lang="en" sz="2300" b="0" i="0" u="none" strike="noStrike" dirty="0">
                <a:solidFill>
                  <a:srgbClr val="000000"/>
                </a:solidFill>
                <a:effectLst/>
                <a:latin typeface="Times New Roman" panose="02020603050405020304" pitchFamily="18" charset="0"/>
                <a:cs typeface="Times New Roman" panose="02020603050405020304" pitchFamily="18" charset="0"/>
              </a:rPr>
              <a:t>primary key). </a:t>
            </a:r>
            <a:r>
              <a:rPr lang="ru-RU" sz="2300" b="0" i="0" u="none" strike="noStrike" dirty="0">
                <a:solidFill>
                  <a:srgbClr val="000000"/>
                </a:solidFill>
                <a:effectLst/>
                <a:latin typeface="Times New Roman" panose="02020603050405020304" pitchFamily="18" charset="0"/>
                <a:cs typeface="Times New Roman" panose="02020603050405020304" pitchFamily="18" charset="0"/>
              </a:rPr>
              <a:t>Первичный ключ уникально идентифицирует каждую строку. В роли первичного ключа может выступать один столбец, а может и несколько.</a:t>
            </a:r>
          </a:p>
        </p:txBody>
      </p:sp>
    </p:spTree>
    <p:extLst>
      <p:ext uri="{BB962C8B-B14F-4D97-AF65-F5344CB8AC3E}">
        <p14:creationId xmlns:p14="http://schemas.microsoft.com/office/powerpoint/2010/main" val="186219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93BA25-0F5A-9F6B-F97B-70B90513BE74}"/>
              </a:ext>
            </a:extLst>
          </p:cNvPr>
          <p:cNvSpPr txBox="1"/>
          <p:nvPr/>
        </p:nvSpPr>
        <p:spPr>
          <a:xfrm>
            <a:off x="249071" y="323081"/>
            <a:ext cx="11556241" cy="954107"/>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Для установки первичного ключа нажмем на столбец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Id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правой кнопкой мыши и в появившемся меню выберем пункт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Set Primary Key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pic>
        <p:nvPicPr>
          <p:cNvPr id="7170" name="Picture 2" descr="Установка первичного ключа в SQL Server">
            <a:extLst>
              <a:ext uri="{FF2B5EF4-FFF2-40B4-BE49-F238E27FC236}">
                <a16:creationId xmlns:a16="http://schemas.microsoft.com/office/drawing/2014/main" id="{6A4563FB-79CE-F599-2FF9-DFD481A51A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5490" y="1605222"/>
            <a:ext cx="5411339" cy="4952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9803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589867-510C-38C9-14D4-8DEF6B7B0C81}"/>
              </a:ext>
            </a:extLst>
          </p:cNvPr>
          <p:cNvSpPr txBox="1"/>
          <p:nvPr/>
        </p:nvSpPr>
        <p:spPr>
          <a:xfrm>
            <a:off x="392942" y="395785"/>
            <a:ext cx="11406116" cy="4401205"/>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этого напротив поля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Id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должен появиться золотой ключик. Этот ключик будет указывать, что столбец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Id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будет выполнять роль первичного ключа.</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после сохранения в базе данных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university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появится таблица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Students:</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Мы можем заметить, что название таблицы на самом деле начинается с префикса </a:t>
            </a:r>
            <a:r>
              <a:rPr lang="en" sz="2800" b="1" i="0" u="none" strike="noStrike" dirty="0" err="1">
                <a:solidFill>
                  <a:srgbClr val="000000"/>
                </a:solidFill>
                <a:effectLst/>
                <a:latin typeface="Times New Roman" panose="02020603050405020304" pitchFamily="18" charset="0"/>
                <a:cs typeface="Times New Roman" panose="02020603050405020304" pitchFamily="18" charset="0"/>
              </a:rPr>
              <a:t>dbo</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Этот префикс представляет схему. Схема определяет контейнер, который хранит объекты. То есть схема логически разграничивает базы данных. Если схема явным образом не указывается при создании объекта, то объект принадлежит схеме по умолчанию - схеме </a:t>
            </a:r>
            <a:r>
              <a:rPr lang="en" sz="2800" b="1" i="0" u="none" strike="noStrike" dirty="0" err="1">
                <a:solidFill>
                  <a:srgbClr val="000000"/>
                </a:solidFill>
                <a:effectLst/>
                <a:latin typeface="Times New Roman" panose="02020603050405020304" pitchFamily="18" charset="0"/>
                <a:cs typeface="Times New Roman" panose="02020603050405020304" pitchFamily="18" charset="0"/>
              </a:rPr>
              <a:t>dbo</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37453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B3525D-F5A7-ADED-5DA9-AC568AC27379}"/>
              </a:ext>
            </a:extLst>
          </p:cNvPr>
          <p:cNvSpPr txBox="1"/>
          <p:nvPr/>
        </p:nvSpPr>
        <p:spPr>
          <a:xfrm>
            <a:off x="317310" y="216166"/>
            <a:ext cx="11365173" cy="954107"/>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Нажмем правой кнопкой мыши на название таблицы, и нам отобразится контекстное меню с опциями:</a:t>
            </a:r>
            <a:endParaRPr lang="ru-RU" sz="2800" dirty="0">
              <a:latin typeface="Times New Roman" panose="02020603050405020304" pitchFamily="18" charset="0"/>
              <a:cs typeface="Times New Roman" panose="02020603050405020304" pitchFamily="18" charset="0"/>
            </a:endParaRPr>
          </a:p>
        </p:txBody>
      </p:sp>
      <p:pic>
        <p:nvPicPr>
          <p:cNvPr id="8194" name="Picture 2" descr="Добавление таблиц в MS SQL Server 2016">
            <a:extLst>
              <a:ext uri="{FF2B5EF4-FFF2-40B4-BE49-F238E27FC236}">
                <a16:creationId xmlns:a16="http://schemas.microsoft.com/office/drawing/2014/main" id="{3BA6111D-35D3-AE6A-FF81-3538C7A6D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2406" y="1388393"/>
            <a:ext cx="4621284" cy="5253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168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16A6A9-ADA6-611B-4A78-7433BCF935BB}"/>
              </a:ext>
            </a:extLst>
          </p:cNvPr>
          <p:cNvSpPr txBox="1"/>
          <p:nvPr/>
        </p:nvSpPr>
        <p:spPr>
          <a:xfrm>
            <a:off x="426492" y="330664"/>
            <a:ext cx="11351525" cy="2246769"/>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Для добавления начальных данных можно выбрать опцию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Edit Top 200 Rows</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Она открывает в виде таблицы 200 первых строк и позволяет их изменить. Но так как у нас таблица только создана, то естественно в ней будет никаких данных. Введем пару строк - пару студентов, указав необходимые данные для столбцов:</a:t>
            </a:r>
            <a:endParaRPr lang="ru-RU" sz="2800" dirty="0">
              <a:latin typeface="Times New Roman" panose="02020603050405020304" pitchFamily="18" charset="0"/>
              <a:cs typeface="Times New Roman" panose="02020603050405020304" pitchFamily="18" charset="0"/>
            </a:endParaRPr>
          </a:p>
        </p:txBody>
      </p:sp>
      <p:pic>
        <p:nvPicPr>
          <p:cNvPr id="9218" name="Picture 2" descr="Добавление начальных данных в SQL Server 2016">
            <a:extLst>
              <a:ext uri="{FF2B5EF4-FFF2-40B4-BE49-F238E27FC236}">
                <a16:creationId xmlns:a16="http://schemas.microsoft.com/office/drawing/2014/main" id="{B2AB011D-F3BF-7C55-E985-AF2DB1C356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8697" y="2513499"/>
            <a:ext cx="8374987" cy="4261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549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13DEC2-96C8-F319-A6EB-0584812ECD7B}"/>
              </a:ext>
            </a:extLst>
          </p:cNvPr>
          <p:cNvSpPr txBox="1"/>
          <p:nvPr/>
        </p:nvSpPr>
        <p:spPr>
          <a:xfrm>
            <a:off x="276367" y="239173"/>
            <a:ext cx="11447059" cy="1384995"/>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Затем опять же по клику на таблицу правой кнопкой мыши мы можем выбрать в контекстном меню пункт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Select To 1000 Rows</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будет запущен скрипт, который отобразит первые 1000 строк из таблицы:</a:t>
            </a:r>
            <a:endParaRPr lang="ru-RU" sz="2800" dirty="0">
              <a:latin typeface="Times New Roman" panose="02020603050405020304" pitchFamily="18" charset="0"/>
              <a:cs typeface="Times New Roman" panose="02020603050405020304" pitchFamily="18" charset="0"/>
            </a:endParaRPr>
          </a:p>
        </p:txBody>
      </p:sp>
      <p:pic>
        <p:nvPicPr>
          <p:cNvPr id="10242" name="Picture 2" descr="Получение данных в SQL Server Management Studio">
            <a:extLst>
              <a:ext uri="{FF2B5EF4-FFF2-40B4-BE49-F238E27FC236}">
                <a16:creationId xmlns:a16="http://schemas.microsoft.com/office/drawing/2014/main" id="{81A9824D-BFBA-8A6B-CF38-955ADD6BBF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0136" y="1637750"/>
            <a:ext cx="8021661" cy="522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0703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4CAB72-E07E-E9F1-A84A-F74606AF158B}"/>
              </a:ext>
            </a:extLst>
          </p:cNvPr>
          <p:cNvSpPr txBox="1"/>
          <p:nvPr/>
        </p:nvSpPr>
        <p:spPr>
          <a:xfrm>
            <a:off x="3319819" y="231590"/>
            <a:ext cx="6093724" cy="523220"/>
          </a:xfrm>
          <a:prstGeom prst="rect">
            <a:avLst/>
          </a:prstGeom>
          <a:noFill/>
        </p:spPr>
        <p:txBody>
          <a:bodyPr wrap="square">
            <a:spAutoFit/>
          </a:bodyPr>
          <a:lstStyle/>
          <a:p>
            <a:pPr algn="l"/>
            <a:r>
              <a:rPr lang="ru-RU" sz="2800" b="1" i="0" u="none" strike="noStrike" dirty="0">
                <a:solidFill>
                  <a:srgbClr val="000000"/>
                </a:solidFill>
                <a:effectLst/>
                <a:latin typeface="Times New Roman" panose="02020603050405020304" pitchFamily="18" charset="0"/>
                <a:cs typeface="Times New Roman" panose="02020603050405020304" pitchFamily="18" charset="0"/>
              </a:rPr>
              <a:t>Первый запрос на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T-SQL</a:t>
            </a:r>
          </a:p>
        </p:txBody>
      </p:sp>
      <p:sp>
        <p:nvSpPr>
          <p:cNvPr id="7" name="TextBox 6">
            <a:extLst>
              <a:ext uri="{FF2B5EF4-FFF2-40B4-BE49-F238E27FC236}">
                <a16:creationId xmlns:a16="http://schemas.microsoft.com/office/drawing/2014/main" id="{7A77705D-0679-1A4E-81E0-88596062F505}"/>
              </a:ext>
            </a:extLst>
          </p:cNvPr>
          <p:cNvSpPr txBox="1"/>
          <p:nvPr/>
        </p:nvSpPr>
        <p:spPr>
          <a:xfrm>
            <a:off x="0" y="754810"/>
            <a:ext cx="11682484" cy="1384995"/>
          </a:xfrm>
          <a:prstGeom prst="rect">
            <a:avLst/>
          </a:prstGeom>
          <a:noFill/>
        </p:spPr>
        <p:txBody>
          <a:bodyPr wrap="square">
            <a:spAutoFit/>
          </a:bodyPr>
          <a:lstStyle/>
          <a:p>
            <a:pPr algn="just"/>
            <a:r>
              <a:rPr lang="ru-RU" sz="2800" dirty="0">
                <a:solidFill>
                  <a:srgbClr val="000000"/>
                </a:solidFill>
                <a:latin typeface="Times New Roman" panose="02020603050405020304" pitchFamily="18" charset="0"/>
                <a:cs typeface="Times New Roman" panose="02020603050405020304" pitchFamily="18" charset="0"/>
              </a:rPr>
              <a:t>О</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ткроем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SQL Management Studio,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нажмем правой кнопкой мыши на элемент самого верхнего уровня в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Object Explorer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название сервера) и в появившемся контекстном меню выберем пункт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New Query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pic>
        <p:nvPicPr>
          <p:cNvPr id="11266" name="Picture 2" descr="Первый запрос на SQL в SQL Management Studio">
            <a:extLst>
              <a:ext uri="{FF2B5EF4-FFF2-40B4-BE49-F238E27FC236}">
                <a16:creationId xmlns:a16="http://schemas.microsoft.com/office/drawing/2014/main" id="{7623ED07-F3BB-1045-5783-FFBB9AF760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378" y="2663025"/>
            <a:ext cx="8208909" cy="3642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542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55FBE2-A616-9175-CC4F-AF47803A42CC}"/>
              </a:ext>
            </a:extLst>
          </p:cNvPr>
          <p:cNvSpPr txBox="1"/>
          <p:nvPr/>
        </p:nvSpPr>
        <p:spPr>
          <a:xfrm>
            <a:off x="603914" y="297303"/>
            <a:ext cx="11037626" cy="3539430"/>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этого в центральной части программы откроется окно для ввода команд языка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SQL.</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Выполним запрос к таблице, которая была создана в прошлой теме, в частности, получим все данные из нее. База данных у нас называется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university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а таблица - </a:t>
            </a:r>
            <a:r>
              <a:rPr lang="en" sz="2800" b="1" i="0" u="none" strike="noStrike" dirty="0" err="1">
                <a:solidFill>
                  <a:srgbClr val="000000"/>
                </a:solidFill>
                <a:effectLst/>
                <a:latin typeface="Times New Roman" panose="02020603050405020304" pitchFamily="18" charset="0"/>
                <a:cs typeface="Times New Roman" panose="02020603050405020304" pitchFamily="18" charset="0"/>
              </a:rPr>
              <a:t>dbo.Students</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поэтому для получения данных из таблицы введем следующий запрос:</a:t>
            </a:r>
          </a:p>
          <a:p>
            <a:pPr algn="just"/>
            <a:r>
              <a:rPr lang="ru-RU" sz="2800" dirty="0">
                <a:latin typeface="Times New Roman" panose="02020603050405020304" pitchFamily="18" charset="0"/>
                <a:cs typeface="Times New Roman" panose="02020603050405020304" pitchFamily="18" charset="0"/>
              </a:rPr>
              <a:t/>
            </a:r>
            <a:br>
              <a:rPr lang="ru-RU" sz="2800" dirty="0">
                <a:latin typeface="Times New Roman" panose="02020603050405020304" pitchFamily="18" charset="0"/>
                <a:cs typeface="Times New Roman" panose="02020603050405020304" pitchFamily="18" charset="0"/>
              </a:rPr>
            </a:br>
            <a:endParaRPr lang="ru-RU" sz="2800" dirty="0">
              <a:latin typeface="Times New Roman" panose="02020603050405020304" pitchFamily="18" charset="0"/>
              <a:cs typeface="Times New Roman" panose="02020603050405020304" pitchFamily="18" charset="0"/>
            </a:endParaRPr>
          </a:p>
        </p:txBody>
      </p:sp>
      <p:graphicFrame>
        <p:nvGraphicFramePr>
          <p:cNvPr id="8" name="Таблица 7">
            <a:extLst>
              <a:ext uri="{FF2B5EF4-FFF2-40B4-BE49-F238E27FC236}">
                <a16:creationId xmlns:a16="http://schemas.microsoft.com/office/drawing/2014/main" id="{B182029C-9005-0392-EEC0-B556FD441258}"/>
              </a:ext>
            </a:extLst>
          </p:cNvPr>
          <p:cNvGraphicFramePr>
            <a:graphicFrameLocks noGrp="1"/>
          </p:cNvGraphicFramePr>
          <p:nvPr>
            <p:extLst>
              <p:ext uri="{D42A27DB-BD31-4B8C-83A1-F6EECF244321}">
                <p14:modId xmlns:p14="http://schemas.microsoft.com/office/powerpoint/2010/main" val="1588651934"/>
              </p:ext>
            </p:extLst>
          </p:nvPr>
        </p:nvGraphicFramePr>
        <p:xfrm>
          <a:off x="1062169" y="3429000"/>
          <a:ext cx="8955287" cy="774510"/>
        </p:xfrm>
        <a:graphic>
          <a:graphicData uri="http://schemas.openxmlformats.org/drawingml/2006/table">
            <a:tbl>
              <a:tblPr/>
              <a:tblGrid>
                <a:gridCol w="356784">
                  <a:extLst>
                    <a:ext uri="{9D8B030D-6E8A-4147-A177-3AD203B41FA5}">
                      <a16:colId xmlns:a16="http://schemas.microsoft.com/office/drawing/2014/main" val="926552759"/>
                    </a:ext>
                  </a:extLst>
                </a:gridCol>
                <a:gridCol w="8598503">
                  <a:extLst>
                    <a:ext uri="{9D8B030D-6E8A-4147-A177-3AD203B41FA5}">
                      <a16:colId xmlns:a16="http://schemas.microsoft.com/office/drawing/2014/main" val="1045936544"/>
                    </a:ext>
                  </a:extLst>
                </a:gridCol>
              </a:tblGrid>
              <a:tr h="774510">
                <a:tc>
                  <a:txBody>
                    <a:bodyPr/>
                    <a:lstStyle/>
                    <a:p>
                      <a:pPr algn="r" fontAlgn="base"/>
                      <a:r>
                        <a:rPr lang="ru-RU" b="0" i="0">
                          <a:solidFill>
                            <a:srgbClr val="AFAFAF"/>
                          </a:solidFill>
                          <a:effectLst/>
                          <a:latin typeface="var(--code-font-family)"/>
                        </a:rPr>
                        <a:t>1</a:t>
                      </a:r>
                    </a:p>
                  </a:txBody>
                  <a:tcPr marL="0" marR="0" marT="0" marB="0" anchor="ctr">
                    <a:lnL>
                      <a:noFill/>
                    </a:lnL>
                    <a:lnR>
                      <a:noFill/>
                    </a:lnR>
                    <a:lnT>
                      <a:noFill/>
                    </a:lnT>
                    <a:lnB>
                      <a:noFill/>
                    </a:lnB>
                    <a:solidFill>
                      <a:srgbClr val="F7F7FA"/>
                    </a:solidFill>
                  </a:tcPr>
                </a:tc>
                <a:tc>
                  <a:txBody>
                    <a:bodyPr/>
                    <a:lstStyle/>
                    <a:p>
                      <a:pPr algn="l" fontAlgn="base"/>
                      <a:r>
                        <a:rPr lang="ru-RU" b="0" i="0" dirty="0">
                          <a:effectLst/>
                          <a:latin typeface="var(--code-font-family)"/>
                        </a:rPr>
                        <a:t>   </a:t>
                      </a:r>
                      <a:r>
                        <a:rPr lang="en" b="0" i="0" dirty="0">
                          <a:effectLst/>
                          <a:latin typeface="var(--code-font-family)"/>
                        </a:rPr>
                        <a:t>SELECT * FROM </a:t>
                      </a:r>
                      <a:r>
                        <a:rPr lang="en" b="0" i="0" dirty="0" err="1">
                          <a:effectLst/>
                          <a:latin typeface="var(--code-font-family)"/>
                        </a:rPr>
                        <a:t>university.dbo.Students</a:t>
                      </a:r>
                      <a:endParaRPr lang="en" b="0" i="0" dirty="0">
                        <a:effectLst/>
                        <a:latin typeface="var(--code-font-family)"/>
                      </a:endParaRP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3154874685"/>
                  </a:ext>
                </a:extLst>
              </a:tr>
            </a:tbl>
          </a:graphicData>
        </a:graphic>
      </p:graphicFrame>
    </p:spTree>
    <p:extLst>
      <p:ext uri="{BB962C8B-B14F-4D97-AF65-F5344CB8AC3E}">
        <p14:creationId xmlns:p14="http://schemas.microsoft.com/office/powerpoint/2010/main" val="3476366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C0B463-37B8-2D4E-C609-ED94EFE0C536}"/>
              </a:ext>
            </a:extLst>
          </p:cNvPr>
          <p:cNvSpPr txBox="1"/>
          <p:nvPr/>
        </p:nvSpPr>
        <p:spPr>
          <a:xfrm>
            <a:off x="386118" y="190265"/>
            <a:ext cx="11419764" cy="2246769"/>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Оператор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SELECT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позволяет выбирать данные.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FROM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указывает источник, откуда брать данные. Фактически этим запросом мы говорим "ВЫБРАТЬ все ИЗ таблицы </a:t>
            </a: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university.dbo.Students</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Стоит отметить, что для названия таблицы используется полный ее путь с указанием базы данных и схемы.</a:t>
            </a:r>
            <a:endParaRPr lang="ru-RU" sz="2800" dirty="0">
              <a:latin typeface="Times New Roman" panose="02020603050405020304" pitchFamily="18" charset="0"/>
              <a:cs typeface="Times New Roman" panose="02020603050405020304" pitchFamily="18" charset="0"/>
            </a:endParaRPr>
          </a:p>
        </p:txBody>
      </p:sp>
      <p:pic>
        <p:nvPicPr>
          <p:cNvPr id="13314" name="Picture 2" descr="Выполнение запроса на SQL в SQL Management Studio">
            <a:extLst>
              <a:ext uri="{FF2B5EF4-FFF2-40B4-BE49-F238E27FC236}">
                <a16:creationId xmlns:a16="http://schemas.microsoft.com/office/drawing/2014/main" id="{7F37DF4E-0D37-8EF8-7AF6-682492665E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4087" y="2437034"/>
            <a:ext cx="9003826" cy="4420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006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BACC0-11CF-6906-9937-38E9D1AFC166}"/>
              </a:ext>
            </a:extLst>
          </p:cNvPr>
          <p:cNvSpPr txBox="1"/>
          <p:nvPr/>
        </p:nvSpPr>
        <p:spPr>
          <a:xfrm>
            <a:off x="300250" y="218364"/>
            <a:ext cx="11723427" cy="3970318"/>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ввода запроса нажмем на панели инструментов на кнопку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Execute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либо можно нажать на клавишу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F5</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В результате выполнения запроса в нижней части программы появится небольшая таблица, которая отобразит результаты запроса - то есть все данные из таблицы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Students.</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Если необходимо совершить несколько запросов к одной и той же базе данных, то мы можем использовать команду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USE,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чтобы зафиксировать базу данных. В этом случае при запросах к таблицам достаточно указать их имя без имени </a:t>
            </a:r>
            <a:r>
              <a:rPr lang="ru-RU" sz="2800" b="0" i="0" u="none" strike="noStrike" dirty="0" err="1">
                <a:solidFill>
                  <a:srgbClr val="000000"/>
                </a:solidFill>
                <a:effectLst/>
                <a:latin typeface="Times New Roman" panose="02020603050405020304" pitchFamily="18" charset="0"/>
                <a:cs typeface="Times New Roman" panose="02020603050405020304" pitchFamily="18" charset="0"/>
              </a:rPr>
              <a:t>бд</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 и схемы:</a:t>
            </a:r>
          </a:p>
        </p:txBody>
      </p:sp>
      <p:graphicFrame>
        <p:nvGraphicFramePr>
          <p:cNvPr id="6" name="Таблица 5">
            <a:extLst>
              <a:ext uri="{FF2B5EF4-FFF2-40B4-BE49-F238E27FC236}">
                <a16:creationId xmlns:a16="http://schemas.microsoft.com/office/drawing/2014/main" id="{77209A6A-3B5D-7E75-22FD-B2E551A04D18}"/>
              </a:ext>
            </a:extLst>
          </p:cNvPr>
          <p:cNvGraphicFramePr>
            <a:graphicFrameLocks noGrp="1"/>
          </p:cNvGraphicFramePr>
          <p:nvPr>
            <p:extLst>
              <p:ext uri="{D42A27DB-BD31-4B8C-83A1-F6EECF244321}">
                <p14:modId xmlns:p14="http://schemas.microsoft.com/office/powerpoint/2010/main" val="1155056939"/>
              </p:ext>
            </p:extLst>
          </p:nvPr>
        </p:nvGraphicFramePr>
        <p:xfrm>
          <a:off x="2181286" y="4559487"/>
          <a:ext cx="8941639" cy="1336346"/>
        </p:xfrm>
        <a:graphic>
          <a:graphicData uri="http://schemas.openxmlformats.org/drawingml/2006/table">
            <a:tbl>
              <a:tblPr/>
              <a:tblGrid>
                <a:gridCol w="356241">
                  <a:extLst>
                    <a:ext uri="{9D8B030D-6E8A-4147-A177-3AD203B41FA5}">
                      <a16:colId xmlns:a16="http://schemas.microsoft.com/office/drawing/2014/main" val="510880446"/>
                    </a:ext>
                  </a:extLst>
                </a:gridCol>
                <a:gridCol w="8585398">
                  <a:extLst>
                    <a:ext uri="{9D8B030D-6E8A-4147-A177-3AD203B41FA5}">
                      <a16:colId xmlns:a16="http://schemas.microsoft.com/office/drawing/2014/main" val="1222906478"/>
                    </a:ext>
                  </a:extLst>
                </a:gridCol>
              </a:tblGrid>
              <a:tr h="1336346">
                <a:tc>
                  <a:txBody>
                    <a:bodyPr/>
                    <a:lstStyle/>
                    <a:p>
                      <a:pPr algn="r" fontAlgn="base"/>
                      <a:r>
                        <a:rPr lang="ru-RU" b="0" i="0">
                          <a:solidFill>
                            <a:srgbClr val="AFAFAF"/>
                          </a:solidFill>
                          <a:effectLst/>
                          <a:latin typeface="var(--code-font-family)"/>
                        </a:rPr>
                        <a:t>1</a:t>
                      </a:r>
                    </a:p>
                    <a:p>
                      <a:pPr algn="r" fontAlgn="base"/>
                      <a:r>
                        <a:rPr lang="ru-RU" b="0" i="0">
                          <a:solidFill>
                            <a:srgbClr val="AFAFAF"/>
                          </a:solidFill>
                          <a:effectLst/>
                          <a:latin typeface="var(--code-font-family)"/>
                        </a:rPr>
                        <a:t>2</a:t>
                      </a:r>
                    </a:p>
                  </a:txBody>
                  <a:tcPr marL="0" marR="0" marT="0" marB="0" anchor="ctr">
                    <a:lnL>
                      <a:noFill/>
                    </a:lnL>
                    <a:lnR>
                      <a:noFill/>
                    </a:lnR>
                    <a:lnT>
                      <a:noFill/>
                    </a:lnT>
                    <a:lnB>
                      <a:noFill/>
                    </a:lnB>
                  </a:tcPr>
                </a:tc>
                <a:tc>
                  <a:txBody>
                    <a:bodyPr/>
                    <a:lstStyle/>
                    <a:p>
                      <a:pPr algn="l" fontAlgn="base"/>
                      <a:r>
                        <a:rPr lang="ru-RU" b="0" i="0" dirty="0">
                          <a:effectLst/>
                          <a:latin typeface="var(--code-font-family)"/>
                        </a:rPr>
                        <a:t>   </a:t>
                      </a:r>
                      <a:r>
                        <a:rPr lang="en" b="0" i="0" dirty="0">
                          <a:effectLst/>
                          <a:latin typeface="var(--code-font-family)"/>
                        </a:rPr>
                        <a:t>USE university</a:t>
                      </a:r>
                    </a:p>
                    <a:p>
                      <a:pPr algn="l" fontAlgn="base"/>
                      <a:r>
                        <a:rPr lang="ru-RU" b="0" i="0" dirty="0">
                          <a:effectLst/>
                          <a:latin typeface="var(--code-font-family)"/>
                        </a:rPr>
                        <a:t>   </a:t>
                      </a:r>
                      <a:r>
                        <a:rPr lang="en" b="0" i="0" dirty="0">
                          <a:effectLst/>
                          <a:latin typeface="var(--code-font-family)"/>
                        </a:rPr>
                        <a:t>SELECT * FROM Students</a:t>
                      </a:r>
                    </a:p>
                  </a:txBody>
                  <a:tcPr marL="0" marR="0" marT="0" marB="0" anchor="ctr">
                    <a:lnL>
                      <a:noFill/>
                    </a:lnL>
                    <a:lnR>
                      <a:noFill/>
                    </a:lnR>
                    <a:lnT>
                      <a:noFill/>
                    </a:lnT>
                    <a:lnB>
                      <a:noFill/>
                    </a:lnB>
                  </a:tcPr>
                </a:tc>
                <a:extLst>
                  <a:ext uri="{0D108BD9-81ED-4DB2-BD59-A6C34878D82A}">
                    <a16:rowId xmlns:a16="http://schemas.microsoft.com/office/drawing/2014/main" val="3126510137"/>
                  </a:ext>
                </a:extLst>
              </a:tr>
            </a:tbl>
          </a:graphicData>
        </a:graphic>
      </p:graphicFrame>
    </p:spTree>
    <p:extLst>
      <p:ext uri="{BB962C8B-B14F-4D97-AF65-F5344CB8AC3E}">
        <p14:creationId xmlns:p14="http://schemas.microsoft.com/office/powerpoint/2010/main" val="1514622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CB6C4E-47A7-48EE-7742-6AFCA6A966CB}"/>
              </a:ext>
            </a:extLst>
          </p:cNvPr>
          <p:cNvSpPr txBox="1"/>
          <p:nvPr/>
        </p:nvSpPr>
        <p:spPr>
          <a:xfrm>
            <a:off x="290014" y="207834"/>
            <a:ext cx="11692719" cy="2246769"/>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В данном случае мы выполняем запрос в целом для сервера, мы можем обратиться к любой базе данных на сервере. Но также мы можем выполнять запросы только в рамках конкретной базы данных. Для этого необходимо нажать правой кнопкой мыши на нужную </a:t>
            </a:r>
            <a:r>
              <a:rPr lang="ru-RU" sz="2800" b="0" i="0" u="none" strike="noStrike" dirty="0" err="1">
                <a:solidFill>
                  <a:srgbClr val="000000"/>
                </a:solidFill>
                <a:effectLst/>
                <a:latin typeface="Times New Roman" panose="02020603050405020304" pitchFamily="18" charset="0"/>
                <a:cs typeface="Times New Roman" panose="02020603050405020304" pitchFamily="18" charset="0"/>
              </a:rPr>
              <a:t>бд</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 и в контекстном меню выбрать пункт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New Query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6232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15362" name="Picture 2" descr="Выполнение запроса на SQL в базе данных">
            <a:extLst>
              <a:ext uri="{FF2B5EF4-FFF2-40B4-BE49-F238E27FC236}">
                <a16:creationId xmlns:a16="http://schemas.microsoft.com/office/drawing/2014/main" id="{A2DED0A3-80E0-3D3F-1711-FC050AC77F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00" y="346502"/>
            <a:ext cx="5651500" cy="5537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FA4D390-0B55-3326-ECA2-C1E02C2FCA6E}"/>
              </a:ext>
            </a:extLst>
          </p:cNvPr>
          <p:cNvSpPr txBox="1"/>
          <p:nvPr/>
        </p:nvSpPr>
        <p:spPr>
          <a:xfrm>
            <a:off x="6096001" y="120948"/>
            <a:ext cx="5651500" cy="3108543"/>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Если в этом случае мы захотим выполнить запрос к выше использованной таблице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Students,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то нам не пришлось бы указывать в запросе название базы данных и схему, так как эти значения итак уже были бы понятны:</a:t>
            </a:r>
            <a:endParaRPr lang="ru-RU" sz="2800" dirty="0">
              <a:latin typeface="Times New Roman" panose="02020603050405020304" pitchFamily="18" charset="0"/>
              <a:cs typeface="Times New Roman" panose="02020603050405020304" pitchFamily="18" charset="0"/>
            </a:endParaRPr>
          </a:p>
        </p:txBody>
      </p:sp>
      <p:graphicFrame>
        <p:nvGraphicFramePr>
          <p:cNvPr id="6" name="Таблица 5">
            <a:extLst>
              <a:ext uri="{FF2B5EF4-FFF2-40B4-BE49-F238E27FC236}">
                <a16:creationId xmlns:a16="http://schemas.microsoft.com/office/drawing/2014/main" id="{9C27BFC8-3E41-0140-40EF-34C82EA6C929}"/>
              </a:ext>
            </a:extLst>
          </p:cNvPr>
          <p:cNvGraphicFramePr>
            <a:graphicFrameLocks noGrp="1"/>
          </p:cNvGraphicFramePr>
          <p:nvPr>
            <p:extLst>
              <p:ext uri="{D42A27DB-BD31-4B8C-83A1-F6EECF244321}">
                <p14:modId xmlns:p14="http://schemas.microsoft.com/office/powerpoint/2010/main" val="1832382350"/>
              </p:ext>
            </p:extLst>
          </p:nvPr>
        </p:nvGraphicFramePr>
        <p:xfrm>
          <a:off x="6221024" y="3628510"/>
          <a:ext cx="4478821" cy="834308"/>
        </p:xfrm>
        <a:graphic>
          <a:graphicData uri="http://schemas.openxmlformats.org/drawingml/2006/table">
            <a:tbl>
              <a:tblPr/>
              <a:tblGrid>
                <a:gridCol w="178439">
                  <a:extLst>
                    <a:ext uri="{9D8B030D-6E8A-4147-A177-3AD203B41FA5}">
                      <a16:colId xmlns:a16="http://schemas.microsoft.com/office/drawing/2014/main" val="1890291389"/>
                    </a:ext>
                  </a:extLst>
                </a:gridCol>
                <a:gridCol w="4300382">
                  <a:extLst>
                    <a:ext uri="{9D8B030D-6E8A-4147-A177-3AD203B41FA5}">
                      <a16:colId xmlns:a16="http://schemas.microsoft.com/office/drawing/2014/main" val="614431007"/>
                    </a:ext>
                  </a:extLst>
                </a:gridCol>
              </a:tblGrid>
              <a:tr h="834308">
                <a:tc>
                  <a:txBody>
                    <a:bodyPr/>
                    <a:lstStyle/>
                    <a:p>
                      <a:pPr algn="r" fontAlgn="base"/>
                      <a:r>
                        <a:rPr lang="ru-RU" b="0" i="0">
                          <a:solidFill>
                            <a:srgbClr val="AFAFAF"/>
                          </a:solidFill>
                          <a:effectLst/>
                          <a:latin typeface="var(--code-font-family)"/>
                        </a:rPr>
                        <a:t>1</a:t>
                      </a:r>
                    </a:p>
                  </a:txBody>
                  <a:tcPr marL="0" marR="0" marT="0" marB="0" anchor="ctr">
                    <a:lnL>
                      <a:noFill/>
                    </a:lnL>
                    <a:lnR>
                      <a:noFill/>
                    </a:lnR>
                    <a:lnT>
                      <a:noFill/>
                    </a:lnT>
                    <a:lnB>
                      <a:noFill/>
                    </a:lnB>
                  </a:tcPr>
                </a:tc>
                <a:tc>
                  <a:txBody>
                    <a:bodyPr/>
                    <a:lstStyle/>
                    <a:p>
                      <a:pPr algn="l" fontAlgn="base"/>
                      <a:r>
                        <a:rPr lang="ru-RU" b="0" i="0" dirty="0">
                          <a:effectLst/>
                          <a:latin typeface="var(--code-font-family)"/>
                        </a:rPr>
                        <a:t>   </a:t>
                      </a:r>
                      <a:r>
                        <a:rPr lang="en" b="0" i="0" dirty="0">
                          <a:effectLst/>
                          <a:latin typeface="var(--code-font-family)"/>
                        </a:rPr>
                        <a:t>SELECT * FROM Students</a:t>
                      </a:r>
                    </a:p>
                  </a:txBody>
                  <a:tcPr marL="0" marR="0" marT="0" marB="0" anchor="ctr">
                    <a:lnL>
                      <a:noFill/>
                    </a:lnL>
                    <a:lnR>
                      <a:noFill/>
                    </a:lnR>
                    <a:lnT>
                      <a:noFill/>
                    </a:lnT>
                    <a:lnB>
                      <a:noFill/>
                    </a:lnB>
                  </a:tcPr>
                </a:tc>
                <a:extLst>
                  <a:ext uri="{0D108BD9-81ED-4DB2-BD59-A6C34878D82A}">
                    <a16:rowId xmlns:a16="http://schemas.microsoft.com/office/drawing/2014/main" val="1652059154"/>
                  </a:ext>
                </a:extLst>
              </a:tr>
            </a:tbl>
          </a:graphicData>
        </a:graphic>
      </p:graphicFrame>
    </p:spTree>
    <p:extLst>
      <p:ext uri="{BB962C8B-B14F-4D97-AF65-F5344CB8AC3E}">
        <p14:creationId xmlns:p14="http://schemas.microsoft.com/office/powerpoint/2010/main" val="4294254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707C748-6EBA-227D-9B95-7CED59A295B8}"/>
              </a:ext>
            </a:extLst>
          </p:cNvPr>
          <p:cNvSpPr txBox="1"/>
          <p:nvPr/>
        </p:nvSpPr>
        <p:spPr>
          <a:xfrm>
            <a:off x="2855794" y="163352"/>
            <a:ext cx="6093724" cy="523220"/>
          </a:xfrm>
          <a:prstGeom prst="rect">
            <a:avLst/>
          </a:prstGeom>
          <a:noFill/>
        </p:spPr>
        <p:txBody>
          <a:bodyPr wrap="square">
            <a:spAutoFit/>
          </a:bodyPr>
          <a:lstStyle/>
          <a:p>
            <a:pPr algn="l"/>
            <a:r>
              <a:rPr lang="ru-RU" sz="2800" b="1" i="0" u="none" strike="noStrike" dirty="0">
                <a:solidFill>
                  <a:srgbClr val="000000"/>
                </a:solidFill>
                <a:effectLst/>
                <a:latin typeface="Times New Roman" panose="02020603050405020304" pitchFamily="18" charset="0"/>
                <a:cs typeface="Times New Roman" panose="02020603050405020304" pitchFamily="18" charset="0"/>
              </a:rPr>
              <a:t>Создание и удаление базы данных</a:t>
            </a:r>
          </a:p>
        </p:txBody>
      </p:sp>
      <p:sp>
        <p:nvSpPr>
          <p:cNvPr id="8" name="TextBox 7">
            <a:extLst>
              <a:ext uri="{FF2B5EF4-FFF2-40B4-BE49-F238E27FC236}">
                <a16:creationId xmlns:a16="http://schemas.microsoft.com/office/drawing/2014/main" id="{60AB328D-7422-D8AF-3552-10E2BE99ACAC}"/>
              </a:ext>
            </a:extLst>
          </p:cNvPr>
          <p:cNvSpPr txBox="1"/>
          <p:nvPr/>
        </p:nvSpPr>
        <p:spPr>
          <a:xfrm>
            <a:off x="221776" y="808335"/>
            <a:ext cx="11801902" cy="1815882"/>
          </a:xfrm>
          <a:prstGeom prst="rect">
            <a:avLst/>
          </a:prstGeom>
          <a:noFill/>
        </p:spPr>
        <p:txBody>
          <a:bodyPr wrap="square">
            <a:spAutoFit/>
          </a:bodyPr>
          <a:lstStyle/>
          <a:p>
            <a:pPr algn="l"/>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Для создания базы данных используется команда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CREATE DATABASE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p>
          <a:p>
            <a:pPr algn="l"/>
            <a:r>
              <a:rPr lang="ru-RU" sz="2800" b="0" i="0" u="none" strike="noStrike" dirty="0">
                <a:solidFill>
                  <a:srgbClr val="000000"/>
                </a:solidFill>
                <a:effectLst/>
                <a:latin typeface="Times New Roman" panose="02020603050405020304" pitchFamily="18" charset="0"/>
                <a:cs typeface="Times New Roman" panose="02020603050405020304" pitchFamily="18" charset="0"/>
              </a:rPr>
              <a:t>Чтобы создать новую базу данных откроем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SQL Server Management Studio.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Нажмем на назначение сервера в окне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Object Explorer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в появившемся меню выберем пункт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New Query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p>
        </p:txBody>
      </p:sp>
      <p:pic>
        <p:nvPicPr>
          <p:cNvPr id="16388" name="Picture 4">
            <a:extLst>
              <a:ext uri="{FF2B5EF4-FFF2-40B4-BE49-F238E27FC236}">
                <a16:creationId xmlns:a16="http://schemas.microsoft.com/office/drawing/2014/main" id="{10E0AD16-ED4A-D6AA-F952-93F4456F89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7107" y="2860439"/>
            <a:ext cx="8051041" cy="3572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231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378CFE-861F-8AD1-3455-E2577F1C40E8}"/>
              </a:ext>
            </a:extLst>
          </p:cNvPr>
          <p:cNvSpPr txBox="1"/>
          <p:nvPr/>
        </p:nvSpPr>
        <p:spPr>
          <a:xfrm>
            <a:off x="194481" y="325104"/>
            <a:ext cx="10887501" cy="523220"/>
          </a:xfrm>
          <a:prstGeom prst="rect">
            <a:avLst/>
          </a:prstGeom>
          <a:noFill/>
        </p:spPr>
        <p:txBody>
          <a:bodyPr wrap="square">
            <a:spAutoFit/>
          </a:bodyPr>
          <a:lstStyle/>
          <a:p>
            <a:r>
              <a:rPr lang="ru-RU" sz="2800" b="0" i="0" u="none" strike="noStrike" dirty="0">
                <a:solidFill>
                  <a:srgbClr val="000000"/>
                </a:solidFill>
                <a:effectLst/>
                <a:latin typeface="Times New Roman" panose="02020603050405020304" pitchFamily="18" charset="0"/>
                <a:cs typeface="Times New Roman" panose="02020603050405020304" pitchFamily="18" charset="0"/>
              </a:rPr>
              <a:t>В центральное поле для ввода выражений </a:t>
            </a: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sql</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введем следующий код:</a:t>
            </a:r>
            <a:endParaRPr lang="ru-RU" sz="2800" dirty="0">
              <a:latin typeface="Times New Roman" panose="02020603050405020304" pitchFamily="18" charset="0"/>
              <a:cs typeface="Times New Roman" panose="02020603050405020304" pitchFamily="18" charset="0"/>
            </a:endParaRPr>
          </a:p>
        </p:txBody>
      </p:sp>
      <p:graphicFrame>
        <p:nvGraphicFramePr>
          <p:cNvPr id="6" name="Таблица 5">
            <a:extLst>
              <a:ext uri="{FF2B5EF4-FFF2-40B4-BE49-F238E27FC236}">
                <a16:creationId xmlns:a16="http://schemas.microsoft.com/office/drawing/2014/main" id="{04619A29-B089-2D4D-7ECB-B0AE8E75B2DC}"/>
              </a:ext>
            </a:extLst>
          </p:cNvPr>
          <p:cNvGraphicFramePr>
            <a:graphicFrameLocks noGrp="1"/>
          </p:cNvGraphicFramePr>
          <p:nvPr>
            <p:extLst>
              <p:ext uri="{D42A27DB-BD31-4B8C-83A1-F6EECF244321}">
                <p14:modId xmlns:p14="http://schemas.microsoft.com/office/powerpoint/2010/main" val="3140068921"/>
              </p:ext>
            </p:extLst>
          </p:nvPr>
        </p:nvGraphicFramePr>
        <p:xfrm>
          <a:off x="393430" y="1093638"/>
          <a:ext cx="7747540" cy="274320"/>
        </p:xfrm>
        <a:graphic>
          <a:graphicData uri="http://schemas.openxmlformats.org/drawingml/2006/table">
            <a:tbl>
              <a:tblPr/>
              <a:tblGrid>
                <a:gridCol w="308667">
                  <a:extLst>
                    <a:ext uri="{9D8B030D-6E8A-4147-A177-3AD203B41FA5}">
                      <a16:colId xmlns:a16="http://schemas.microsoft.com/office/drawing/2014/main" val="641011082"/>
                    </a:ext>
                  </a:extLst>
                </a:gridCol>
                <a:gridCol w="7438873">
                  <a:extLst>
                    <a:ext uri="{9D8B030D-6E8A-4147-A177-3AD203B41FA5}">
                      <a16:colId xmlns:a16="http://schemas.microsoft.com/office/drawing/2014/main" val="892241570"/>
                    </a:ext>
                  </a:extLst>
                </a:gridCol>
              </a:tblGrid>
              <a:tr h="0">
                <a:tc>
                  <a:txBody>
                    <a:bodyPr/>
                    <a:lstStyle/>
                    <a:p>
                      <a:pPr algn="r" fontAlgn="base"/>
                      <a:r>
                        <a:rPr lang="ru-RU" b="0" i="0">
                          <a:solidFill>
                            <a:srgbClr val="AFAFAF"/>
                          </a:solidFill>
                          <a:effectLst/>
                          <a:latin typeface="var(--code-font-family)"/>
                        </a:rPr>
                        <a:t>1</a:t>
                      </a:r>
                    </a:p>
                  </a:txBody>
                  <a:tcPr marL="0" marR="0" marT="0" marB="0" anchor="ctr">
                    <a:lnL>
                      <a:noFill/>
                    </a:lnL>
                    <a:lnR>
                      <a:noFill/>
                    </a:lnR>
                    <a:lnT>
                      <a:noFill/>
                    </a:lnT>
                    <a:lnB>
                      <a:noFill/>
                    </a:lnB>
                  </a:tcPr>
                </a:tc>
                <a:tc>
                  <a:txBody>
                    <a:bodyPr/>
                    <a:lstStyle/>
                    <a:p>
                      <a:pPr algn="l" fontAlgn="base"/>
                      <a:r>
                        <a:rPr lang="ru-RU" b="0" i="0" dirty="0">
                          <a:effectLst/>
                          <a:latin typeface="var(--code-font-family)"/>
                        </a:rPr>
                        <a:t>   </a:t>
                      </a:r>
                      <a:r>
                        <a:rPr lang="en" b="0" i="0" dirty="0">
                          <a:effectLst/>
                          <a:latin typeface="var(--code-font-family)"/>
                        </a:rPr>
                        <a:t>CREATE DATABASE </a:t>
                      </a:r>
                      <a:r>
                        <a:rPr lang="en" b="0" i="0" dirty="0" err="1">
                          <a:effectLst/>
                          <a:latin typeface="var(--code-font-family)"/>
                        </a:rPr>
                        <a:t>usersdb</a:t>
                      </a:r>
                      <a:endParaRPr lang="en" b="0" i="0" dirty="0">
                        <a:effectLst/>
                        <a:latin typeface="var(--code-font-family)"/>
                      </a:endParaRPr>
                    </a:p>
                  </a:txBody>
                  <a:tcPr marL="0" marR="0" marT="0" marB="0" anchor="ctr">
                    <a:lnL>
                      <a:noFill/>
                    </a:lnL>
                    <a:lnR>
                      <a:noFill/>
                    </a:lnR>
                    <a:lnT>
                      <a:noFill/>
                    </a:lnT>
                    <a:lnB>
                      <a:noFill/>
                    </a:lnB>
                  </a:tcPr>
                </a:tc>
                <a:extLst>
                  <a:ext uri="{0D108BD9-81ED-4DB2-BD59-A6C34878D82A}">
                    <a16:rowId xmlns:a16="http://schemas.microsoft.com/office/drawing/2014/main" val="475701990"/>
                  </a:ext>
                </a:extLst>
              </a:tr>
            </a:tbl>
          </a:graphicData>
        </a:graphic>
      </p:graphicFrame>
      <p:sp>
        <p:nvSpPr>
          <p:cNvPr id="8" name="TextBox 7">
            <a:extLst>
              <a:ext uri="{FF2B5EF4-FFF2-40B4-BE49-F238E27FC236}">
                <a16:creationId xmlns:a16="http://schemas.microsoft.com/office/drawing/2014/main" id="{E998CDC1-9A90-7A09-12DA-40C92C5F86C9}"/>
              </a:ext>
            </a:extLst>
          </p:cNvPr>
          <p:cNvSpPr txBox="1"/>
          <p:nvPr/>
        </p:nvSpPr>
        <p:spPr>
          <a:xfrm>
            <a:off x="393430" y="1613272"/>
            <a:ext cx="11043394" cy="954107"/>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Тем самым мы создаем базу данных, которая будет называться "</a:t>
            </a: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usersdb</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pic>
        <p:nvPicPr>
          <p:cNvPr id="17411" name="Picture 3" descr="Создание базы данных в MS SQL Server 2016 с помощью T-SQL">
            <a:extLst>
              <a:ext uri="{FF2B5EF4-FFF2-40B4-BE49-F238E27FC236}">
                <a16:creationId xmlns:a16="http://schemas.microsoft.com/office/drawing/2014/main" id="{0614FCAE-93C4-F79B-1532-E1B9509F19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24" y="2787671"/>
            <a:ext cx="7656963" cy="3536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6454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6E074D-D182-4127-E07D-03E46A90C686}"/>
              </a:ext>
            </a:extLst>
          </p:cNvPr>
          <p:cNvSpPr txBox="1"/>
          <p:nvPr/>
        </p:nvSpPr>
        <p:spPr>
          <a:xfrm>
            <a:off x="330958" y="447933"/>
            <a:ext cx="10996684" cy="954107"/>
          </a:xfrm>
          <a:prstGeom prst="rect">
            <a:avLst/>
          </a:prstGeom>
          <a:noFill/>
        </p:spPr>
        <p:txBody>
          <a:bodyPr wrap="square">
            <a:spAutoFit/>
          </a:bodyPr>
          <a:lstStyle/>
          <a:p>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создания базы </a:t>
            </a:r>
            <a:r>
              <a:rPr lang="ru-RU" sz="2800" b="0" i="0" u="none" strike="noStrike" dirty="0" err="1">
                <a:solidFill>
                  <a:srgbClr val="000000"/>
                </a:solidFill>
                <a:effectLst/>
                <a:latin typeface="Times New Roman" panose="02020603050405020304" pitchFamily="18" charset="0"/>
                <a:cs typeface="Times New Roman" panose="02020603050405020304" pitchFamily="18" charset="0"/>
              </a:rPr>
              <a:t>даных</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 мы можем установить ее в качестве текущей с помощью команды </a:t>
            </a:r>
            <a:r>
              <a:rPr lang="en" sz="2800" b="1" i="0" u="none" strike="noStrike" dirty="0">
                <a:solidFill>
                  <a:srgbClr val="000000"/>
                </a:solidFill>
                <a:effectLst/>
                <a:latin typeface="-apple-system"/>
              </a:rPr>
              <a:t>USE</a:t>
            </a:r>
            <a:r>
              <a:rPr lang="en" sz="2800" b="0" i="0" u="none" strike="noStrike" dirty="0">
                <a:solidFill>
                  <a:srgbClr val="000000"/>
                </a:solidFill>
                <a:effectLst/>
                <a:latin typeface="-apple-system"/>
              </a:rPr>
              <a:t>:</a:t>
            </a:r>
            <a:endParaRPr lang="ru-RU" sz="2800" dirty="0"/>
          </a:p>
        </p:txBody>
      </p:sp>
      <p:graphicFrame>
        <p:nvGraphicFramePr>
          <p:cNvPr id="8" name="Таблица 7">
            <a:extLst>
              <a:ext uri="{FF2B5EF4-FFF2-40B4-BE49-F238E27FC236}">
                <a16:creationId xmlns:a16="http://schemas.microsoft.com/office/drawing/2014/main" id="{D80C76AD-C07F-DC7F-8D15-97E332A9B0C9}"/>
              </a:ext>
            </a:extLst>
          </p:cNvPr>
          <p:cNvGraphicFramePr>
            <a:graphicFrameLocks noGrp="1"/>
          </p:cNvGraphicFramePr>
          <p:nvPr>
            <p:extLst>
              <p:ext uri="{D42A27DB-BD31-4B8C-83A1-F6EECF244321}">
                <p14:modId xmlns:p14="http://schemas.microsoft.com/office/powerpoint/2010/main" val="2844840970"/>
              </p:ext>
            </p:extLst>
          </p:nvPr>
        </p:nvGraphicFramePr>
        <p:xfrm>
          <a:off x="502612" y="1694140"/>
          <a:ext cx="7747540" cy="274320"/>
        </p:xfrm>
        <a:graphic>
          <a:graphicData uri="http://schemas.openxmlformats.org/drawingml/2006/table">
            <a:tbl>
              <a:tblPr/>
              <a:tblGrid>
                <a:gridCol w="308667">
                  <a:extLst>
                    <a:ext uri="{9D8B030D-6E8A-4147-A177-3AD203B41FA5}">
                      <a16:colId xmlns:a16="http://schemas.microsoft.com/office/drawing/2014/main" val="1616382807"/>
                    </a:ext>
                  </a:extLst>
                </a:gridCol>
                <a:gridCol w="7438873">
                  <a:extLst>
                    <a:ext uri="{9D8B030D-6E8A-4147-A177-3AD203B41FA5}">
                      <a16:colId xmlns:a16="http://schemas.microsoft.com/office/drawing/2014/main" val="1587360458"/>
                    </a:ext>
                  </a:extLst>
                </a:gridCol>
              </a:tblGrid>
              <a:tr h="0">
                <a:tc>
                  <a:txBody>
                    <a:bodyPr/>
                    <a:lstStyle/>
                    <a:p>
                      <a:pPr algn="r" fontAlgn="base"/>
                      <a:r>
                        <a:rPr lang="ru-RU" b="0" i="0">
                          <a:solidFill>
                            <a:srgbClr val="AFAFAF"/>
                          </a:solidFill>
                          <a:effectLst/>
                          <a:latin typeface="var(--code-font-family)"/>
                        </a:rPr>
                        <a:t>1</a:t>
                      </a:r>
                    </a:p>
                  </a:txBody>
                  <a:tcPr marL="0" marR="0" marT="0" marB="0" anchor="ctr">
                    <a:lnL>
                      <a:noFill/>
                    </a:lnL>
                    <a:lnR>
                      <a:noFill/>
                    </a:lnR>
                    <a:lnT>
                      <a:noFill/>
                    </a:lnT>
                    <a:lnB>
                      <a:noFill/>
                    </a:lnB>
                    <a:solidFill>
                      <a:srgbClr val="F7F7FA"/>
                    </a:solidFill>
                  </a:tcPr>
                </a:tc>
                <a:tc>
                  <a:txBody>
                    <a:bodyPr/>
                    <a:lstStyle/>
                    <a:p>
                      <a:pPr algn="l" fontAlgn="base"/>
                      <a:r>
                        <a:rPr lang="ru-RU" b="0" i="0" dirty="0">
                          <a:effectLst/>
                          <a:latin typeface="var(--code-font-family)"/>
                        </a:rPr>
                        <a:t>  </a:t>
                      </a:r>
                      <a:r>
                        <a:rPr lang="en" b="0" i="0" dirty="0">
                          <a:effectLst/>
                          <a:latin typeface="var(--code-font-family)"/>
                        </a:rPr>
                        <a:t>USE </a:t>
                      </a:r>
                      <a:r>
                        <a:rPr lang="en" b="0" i="0" dirty="0" err="1">
                          <a:effectLst/>
                          <a:latin typeface="var(--code-font-family)"/>
                        </a:rPr>
                        <a:t>usersdb</a:t>
                      </a:r>
                      <a:r>
                        <a:rPr lang="en" b="0" i="0" dirty="0">
                          <a:effectLst/>
                          <a:latin typeface="var(--code-font-family)"/>
                        </a:rPr>
                        <a:t>;</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3363473042"/>
                  </a:ext>
                </a:extLst>
              </a:tr>
            </a:tbl>
          </a:graphicData>
        </a:graphic>
      </p:graphicFrame>
      <p:sp>
        <p:nvSpPr>
          <p:cNvPr id="10" name="TextBox 9">
            <a:extLst>
              <a:ext uri="{FF2B5EF4-FFF2-40B4-BE49-F238E27FC236}">
                <a16:creationId xmlns:a16="http://schemas.microsoft.com/office/drawing/2014/main" id="{60B96BFD-C57D-6BEA-4DBB-2794D2CD2BB1}"/>
              </a:ext>
            </a:extLst>
          </p:cNvPr>
          <p:cNvSpPr txBox="1"/>
          <p:nvPr/>
        </p:nvSpPr>
        <p:spPr>
          <a:xfrm>
            <a:off x="330958" y="2254354"/>
            <a:ext cx="11733663" cy="3539430"/>
          </a:xfrm>
          <a:prstGeom prst="rect">
            <a:avLst/>
          </a:prstGeom>
          <a:noFill/>
        </p:spPr>
        <p:txBody>
          <a:bodyPr wrap="square">
            <a:spAutoFit/>
          </a:bodyPr>
          <a:lstStyle/>
          <a:p>
            <a:pPr algn="just"/>
            <a:r>
              <a:rPr lang="ru-RU" sz="2800" b="1" i="0" u="none" strike="noStrike" dirty="0">
                <a:solidFill>
                  <a:srgbClr val="000000"/>
                </a:solidFill>
                <a:effectLst/>
                <a:latin typeface="Times New Roman" panose="02020603050405020304" pitchFamily="18" charset="0"/>
                <a:cs typeface="Times New Roman" panose="02020603050405020304" pitchFamily="18" charset="0"/>
              </a:rPr>
              <a:t>Прикрепление базы данных</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Возможна ситуация, что у нас уже есть файл базы данных, который, к примеру, создан на другом компьютере. Файл базы данных представляет файл с расширением </a:t>
            </a: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mdf</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этот файл в принципе мы можем переносить. Однако даже если мы скопируем его компьютер с установленным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MS SQL Server,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просто так скопированная база данных на сервере не появится. Для этого необходимо выполнить прикрепление базы данных к серверу. В этом случае применяется выражение:</a:t>
            </a:r>
          </a:p>
        </p:txBody>
      </p:sp>
    </p:spTree>
    <p:extLst>
      <p:ext uri="{BB962C8B-B14F-4D97-AF65-F5344CB8AC3E}">
        <p14:creationId xmlns:p14="http://schemas.microsoft.com/office/powerpoint/2010/main" val="883672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aphicFrame>
        <p:nvGraphicFramePr>
          <p:cNvPr id="4" name="Таблица 3">
            <a:extLst>
              <a:ext uri="{FF2B5EF4-FFF2-40B4-BE49-F238E27FC236}">
                <a16:creationId xmlns:a16="http://schemas.microsoft.com/office/drawing/2014/main" id="{DD59581D-674D-D128-4AB8-AA790C6B7505}"/>
              </a:ext>
            </a:extLst>
          </p:cNvPr>
          <p:cNvGraphicFramePr>
            <a:graphicFrameLocks noGrp="1"/>
          </p:cNvGraphicFramePr>
          <p:nvPr>
            <p:extLst>
              <p:ext uri="{D42A27DB-BD31-4B8C-83A1-F6EECF244321}">
                <p14:modId xmlns:p14="http://schemas.microsoft.com/office/powerpoint/2010/main" val="2729892321"/>
              </p:ext>
            </p:extLst>
          </p:nvPr>
        </p:nvGraphicFramePr>
        <p:xfrm>
          <a:off x="516260" y="464477"/>
          <a:ext cx="11261758" cy="1463040"/>
        </p:xfrm>
        <a:graphic>
          <a:graphicData uri="http://schemas.openxmlformats.org/drawingml/2006/table">
            <a:tbl>
              <a:tblPr/>
              <a:tblGrid>
                <a:gridCol w="448676">
                  <a:extLst>
                    <a:ext uri="{9D8B030D-6E8A-4147-A177-3AD203B41FA5}">
                      <a16:colId xmlns:a16="http://schemas.microsoft.com/office/drawing/2014/main" val="3545729784"/>
                    </a:ext>
                  </a:extLst>
                </a:gridCol>
                <a:gridCol w="10813082">
                  <a:extLst>
                    <a:ext uri="{9D8B030D-6E8A-4147-A177-3AD203B41FA5}">
                      <a16:colId xmlns:a16="http://schemas.microsoft.com/office/drawing/2014/main" val="2974972674"/>
                    </a:ext>
                  </a:extLst>
                </a:gridCol>
              </a:tblGrid>
              <a:tr h="0">
                <a:tc>
                  <a:txBody>
                    <a:bodyPr/>
                    <a:lstStyle/>
                    <a:p>
                      <a:pPr algn="r" fontAlgn="base"/>
                      <a:r>
                        <a:rPr lang="ru-RU" sz="2400" b="0" i="0">
                          <a:solidFill>
                            <a:srgbClr val="AFAFAF"/>
                          </a:solidFill>
                          <a:effectLst/>
                          <a:latin typeface="Times New Roman" panose="02020603050405020304" pitchFamily="18" charset="0"/>
                          <a:cs typeface="Times New Roman" panose="02020603050405020304" pitchFamily="18" charset="0"/>
                        </a:rPr>
                        <a:t>1</a:t>
                      </a:r>
                    </a:p>
                    <a:p>
                      <a:pPr algn="r" fontAlgn="base"/>
                      <a:r>
                        <a:rPr lang="ru-RU" sz="2400" b="0" i="0">
                          <a:solidFill>
                            <a:srgbClr val="AFAFAF"/>
                          </a:solidFill>
                          <a:effectLst/>
                          <a:latin typeface="Times New Roman" panose="02020603050405020304" pitchFamily="18" charset="0"/>
                          <a:cs typeface="Times New Roman" panose="02020603050405020304" pitchFamily="18" charset="0"/>
                        </a:rPr>
                        <a:t>2</a:t>
                      </a:r>
                    </a:p>
                    <a:p>
                      <a:pPr algn="r" fontAlgn="base"/>
                      <a:r>
                        <a:rPr lang="ru-RU" sz="2400" b="0" i="0">
                          <a:solidFill>
                            <a:srgbClr val="AFAFAF"/>
                          </a:solidFill>
                          <a:effectLst/>
                          <a:latin typeface="Times New Roman" panose="02020603050405020304" pitchFamily="18" charset="0"/>
                          <a:cs typeface="Times New Roman" panose="02020603050405020304" pitchFamily="18" charset="0"/>
                        </a:rPr>
                        <a:t>3</a:t>
                      </a:r>
                    </a:p>
                  </a:txBody>
                  <a:tcPr marL="0" marR="0" marT="0" marB="0" anchor="ctr">
                    <a:lnL>
                      <a:noFill/>
                    </a:lnL>
                    <a:lnR>
                      <a:noFill/>
                    </a:lnR>
                    <a:lnT>
                      <a:noFill/>
                    </a:lnT>
                    <a:lnB>
                      <a:noFill/>
                    </a:lnB>
                  </a:tcPr>
                </a:tc>
                <a:tc>
                  <a:txBody>
                    <a:bodyPr/>
                    <a:lstStyle/>
                    <a:p>
                      <a:pPr algn="l" fontAlgn="base"/>
                      <a:endParaRPr lang="ru-RU" sz="2400" b="0" i="0" dirty="0">
                        <a:effectLst/>
                        <a:latin typeface="Times New Roman" panose="02020603050405020304" pitchFamily="18" charset="0"/>
                        <a:cs typeface="Times New Roman" panose="02020603050405020304" pitchFamily="18" charset="0"/>
                      </a:endParaRPr>
                    </a:p>
                    <a:p>
                      <a:pPr algn="l" fontAlgn="base"/>
                      <a:r>
                        <a:rPr lang="ru-RU" sz="2400" b="0" i="0" dirty="0">
                          <a:effectLst/>
                          <a:latin typeface="Times New Roman" panose="02020603050405020304" pitchFamily="18" charset="0"/>
                          <a:cs typeface="Times New Roman" panose="02020603050405020304" pitchFamily="18" charset="0"/>
                        </a:rPr>
                        <a:t>   </a:t>
                      </a:r>
                      <a:r>
                        <a:rPr lang="en" sz="2400" b="0" i="0" dirty="0">
                          <a:effectLst/>
                          <a:latin typeface="Times New Roman" panose="02020603050405020304" pitchFamily="18" charset="0"/>
                          <a:cs typeface="Times New Roman" panose="02020603050405020304" pitchFamily="18" charset="0"/>
                        </a:rPr>
                        <a:t>CREATE DATABASE </a:t>
                      </a:r>
                      <a:r>
                        <a:rPr lang="ru-RU" sz="2400" b="0" i="0" dirty="0" err="1">
                          <a:effectLst/>
                          <a:latin typeface="Times New Roman" panose="02020603050405020304" pitchFamily="18" charset="0"/>
                          <a:cs typeface="Times New Roman" panose="02020603050405020304" pitchFamily="18" charset="0"/>
                        </a:rPr>
                        <a:t>название_базы_данных</a:t>
                      </a:r>
                      <a:endParaRPr lang="ru-RU" sz="2400" b="0" i="0" dirty="0">
                        <a:effectLst/>
                        <a:latin typeface="Times New Roman" panose="02020603050405020304" pitchFamily="18" charset="0"/>
                        <a:cs typeface="Times New Roman" panose="02020603050405020304" pitchFamily="18" charset="0"/>
                      </a:endParaRPr>
                    </a:p>
                    <a:p>
                      <a:pPr algn="l" fontAlgn="base"/>
                      <a:r>
                        <a:rPr lang="ru-RU" sz="2400" b="0" i="0" dirty="0">
                          <a:effectLst/>
                          <a:latin typeface="Times New Roman" panose="02020603050405020304" pitchFamily="18" charset="0"/>
                          <a:cs typeface="Times New Roman" panose="02020603050405020304" pitchFamily="18" charset="0"/>
                        </a:rPr>
                        <a:t>   </a:t>
                      </a:r>
                      <a:r>
                        <a:rPr lang="en" sz="2400" b="0" i="0" dirty="0">
                          <a:effectLst/>
                          <a:latin typeface="Times New Roman" panose="02020603050405020304" pitchFamily="18" charset="0"/>
                          <a:cs typeface="Times New Roman" panose="02020603050405020304" pitchFamily="18" charset="0"/>
                        </a:rPr>
                        <a:t>ON PRIMARY(FILENAME='</a:t>
                      </a:r>
                      <a:r>
                        <a:rPr lang="ru-RU" sz="2400" b="0" i="0" dirty="0" err="1">
                          <a:effectLst/>
                          <a:latin typeface="Times New Roman" panose="02020603050405020304" pitchFamily="18" charset="0"/>
                          <a:cs typeface="Times New Roman" panose="02020603050405020304" pitchFamily="18" charset="0"/>
                        </a:rPr>
                        <a:t>путь_к_файлу</a:t>
                      </a:r>
                      <a:r>
                        <a:rPr lang="ru-RU" sz="2400" b="0" i="0" dirty="0">
                          <a:effectLst/>
                          <a:latin typeface="Times New Roman" panose="02020603050405020304" pitchFamily="18" charset="0"/>
                          <a:cs typeface="Times New Roman" panose="02020603050405020304" pitchFamily="18" charset="0"/>
                        </a:rPr>
                        <a:t>_</a:t>
                      </a:r>
                      <a:r>
                        <a:rPr lang="en" sz="2400" b="0" i="0" dirty="0" err="1">
                          <a:effectLst/>
                          <a:latin typeface="Times New Roman" panose="02020603050405020304" pitchFamily="18" charset="0"/>
                          <a:cs typeface="Times New Roman" panose="02020603050405020304" pitchFamily="18" charset="0"/>
                        </a:rPr>
                        <a:t>mdf</a:t>
                      </a:r>
                      <a:r>
                        <a:rPr lang="en" sz="2400" b="0" i="0" dirty="0">
                          <a:effectLst/>
                          <a:latin typeface="Times New Roman" panose="02020603050405020304" pitchFamily="18" charset="0"/>
                          <a:cs typeface="Times New Roman" panose="02020603050405020304" pitchFamily="18" charset="0"/>
                        </a:rPr>
                        <a:t>_</a:t>
                      </a:r>
                      <a:r>
                        <a:rPr lang="ru-RU" sz="2400" b="0" i="0" dirty="0" err="1">
                          <a:effectLst/>
                          <a:latin typeface="Times New Roman" panose="02020603050405020304" pitchFamily="18" charset="0"/>
                          <a:cs typeface="Times New Roman" panose="02020603050405020304" pitchFamily="18" charset="0"/>
                        </a:rPr>
                        <a:t>на_локальном_компьютере</a:t>
                      </a:r>
                      <a:r>
                        <a:rPr lang="ru-RU" sz="2400" b="0" i="0" dirty="0">
                          <a:effectLst/>
                          <a:latin typeface="Times New Roman" panose="02020603050405020304" pitchFamily="18" charset="0"/>
                          <a:cs typeface="Times New Roman" panose="02020603050405020304" pitchFamily="18" charset="0"/>
                        </a:rPr>
                        <a:t>’)</a:t>
                      </a:r>
                    </a:p>
                    <a:p>
                      <a:pPr algn="l" fontAlgn="base"/>
                      <a:r>
                        <a:rPr lang="ru-RU" sz="2400" b="0" i="0" dirty="0">
                          <a:effectLst/>
                          <a:latin typeface="Times New Roman" panose="02020603050405020304" pitchFamily="18" charset="0"/>
                          <a:cs typeface="Times New Roman" panose="02020603050405020304" pitchFamily="18" charset="0"/>
                        </a:rPr>
                        <a:t>   </a:t>
                      </a:r>
                      <a:r>
                        <a:rPr lang="en" sz="2400" b="0" i="0" dirty="0">
                          <a:effectLst/>
                          <a:latin typeface="Times New Roman" panose="02020603050405020304" pitchFamily="18" charset="0"/>
                          <a:cs typeface="Times New Roman" panose="02020603050405020304" pitchFamily="18" charset="0"/>
                        </a:rPr>
                        <a:t>FOR ATTACH;</a:t>
                      </a:r>
                    </a:p>
                  </a:txBody>
                  <a:tcPr marL="0" marR="0" marT="0" marB="0" anchor="ctr">
                    <a:lnL>
                      <a:noFill/>
                    </a:lnL>
                    <a:lnR>
                      <a:noFill/>
                    </a:lnR>
                    <a:lnT>
                      <a:noFill/>
                    </a:lnT>
                    <a:lnB>
                      <a:noFill/>
                    </a:lnB>
                  </a:tcPr>
                </a:tc>
                <a:extLst>
                  <a:ext uri="{0D108BD9-81ED-4DB2-BD59-A6C34878D82A}">
                    <a16:rowId xmlns:a16="http://schemas.microsoft.com/office/drawing/2014/main" val="3589115273"/>
                  </a:ext>
                </a:extLst>
              </a:tr>
            </a:tbl>
          </a:graphicData>
        </a:graphic>
      </p:graphicFrame>
      <p:sp>
        <p:nvSpPr>
          <p:cNvPr id="6" name="TextBox 5">
            <a:extLst>
              <a:ext uri="{FF2B5EF4-FFF2-40B4-BE49-F238E27FC236}">
                <a16:creationId xmlns:a16="http://schemas.microsoft.com/office/drawing/2014/main" id="{5455ECAB-EA5B-E71D-9683-69B15F3CBFCD}"/>
              </a:ext>
            </a:extLst>
          </p:cNvPr>
          <p:cNvSpPr txBox="1"/>
          <p:nvPr/>
        </p:nvSpPr>
        <p:spPr>
          <a:xfrm>
            <a:off x="516259" y="2093247"/>
            <a:ext cx="11261757" cy="2246769"/>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выполнения команды на сервере появится база данных </a:t>
            </a: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contactsdb</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p>
          <a:p>
            <a:pPr algn="just"/>
            <a:endParaRPr lang="ru-RU" sz="2800" b="1" dirty="0">
              <a:solidFill>
                <a:srgbClr val="000000"/>
              </a:solidFill>
              <a:latin typeface="Times New Roman" panose="02020603050405020304" pitchFamily="18" charset="0"/>
              <a:cs typeface="Times New Roman" panose="02020603050405020304" pitchFamily="18" charset="0"/>
            </a:endParaRPr>
          </a:p>
          <a:p>
            <a:pPr algn="just"/>
            <a:r>
              <a:rPr lang="ru-RU" sz="2800" b="1" i="0" u="none" strike="noStrike" dirty="0">
                <a:solidFill>
                  <a:srgbClr val="000000"/>
                </a:solidFill>
                <a:effectLst/>
                <a:latin typeface="Times New Roman" panose="02020603050405020304" pitchFamily="18" charset="0"/>
                <a:cs typeface="Times New Roman" panose="02020603050405020304" pitchFamily="18" charset="0"/>
              </a:rPr>
              <a:t>Удаление базы данных</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Для удаления базы данных применяется команда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DROP DATABASE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которая имеет следующий синтаксис:</a:t>
            </a:r>
          </a:p>
        </p:txBody>
      </p:sp>
      <p:graphicFrame>
        <p:nvGraphicFramePr>
          <p:cNvPr id="7" name="Таблица 6">
            <a:extLst>
              <a:ext uri="{FF2B5EF4-FFF2-40B4-BE49-F238E27FC236}">
                <a16:creationId xmlns:a16="http://schemas.microsoft.com/office/drawing/2014/main" id="{81F930C3-B900-285C-9DB9-6C00983091D5}"/>
              </a:ext>
            </a:extLst>
          </p:cNvPr>
          <p:cNvGraphicFramePr>
            <a:graphicFrameLocks noGrp="1"/>
          </p:cNvGraphicFramePr>
          <p:nvPr>
            <p:extLst>
              <p:ext uri="{D42A27DB-BD31-4B8C-83A1-F6EECF244321}">
                <p14:modId xmlns:p14="http://schemas.microsoft.com/office/powerpoint/2010/main" val="2987613502"/>
              </p:ext>
            </p:extLst>
          </p:nvPr>
        </p:nvGraphicFramePr>
        <p:xfrm>
          <a:off x="699449" y="4539344"/>
          <a:ext cx="7747540" cy="365760"/>
        </p:xfrm>
        <a:graphic>
          <a:graphicData uri="http://schemas.openxmlformats.org/drawingml/2006/table">
            <a:tbl>
              <a:tblPr/>
              <a:tblGrid>
                <a:gridCol w="308667">
                  <a:extLst>
                    <a:ext uri="{9D8B030D-6E8A-4147-A177-3AD203B41FA5}">
                      <a16:colId xmlns:a16="http://schemas.microsoft.com/office/drawing/2014/main" val="1781364648"/>
                    </a:ext>
                  </a:extLst>
                </a:gridCol>
                <a:gridCol w="7438873">
                  <a:extLst>
                    <a:ext uri="{9D8B030D-6E8A-4147-A177-3AD203B41FA5}">
                      <a16:colId xmlns:a16="http://schemas.microsoft.com/office/drawing/2014/main" val="3592965325"/>
                    </a:ext>
                  </a:extLst>
                </a:gridCol>
              </a:tblGrid>
              <a:tr h="0">
                <a:tc>
                  <a:txBody>
                    <a:bodyPr/>
                    <a:lstStyle/>
                    <a:p>
                      <a:pPr algn="r" fontAlgn="base"/>
                      <a:r>
                        <a:rPr lang="ru-RU" sz="2400" b="0" i="0">
                          <a:solidFill>
                            <a:srgbClr val="AFAFAF"/>
                          </a:solidFill>
                          <a:effectLst/>
                          <a:latin typeface="var(--code-font-family)"/>
                        </a:rPr>
                        <a:t>1</a:t>
                      </a:r>
                    </a:p>
                  </a:txBody>
                  <a:tcPr marL="0" marR="0" marT="0" marB="0" anchor="ctr">
                    <a:lnL>
                      <a:noFill/>
                    </a:lnL>
                    <a:lnR>
                      <a:noFill/>
                    </a:lnR>
                    <a:lnT>
                      <a:noFill/>
                    </a:lnT>
                    <a:lnB>
                      <a:noFill/>
                    </a:lnB>
                    <a:solidFill>
                      <a:srgbClr val="F7F7FA"/>
                    </a:solidFill>
                  </a:tcPr>
                </a:tc>
                <a:tc>
                  <a:txBody>
                    <a:bodyPr/>
                    <a:lstStyle/>
                    <a:p>
                      <a:pPr algn="l" fontAlgn="base"/>
                      <a:r>
                        <a:rPr lang="ru-RU" sz="2400" b="0" i="0" dirty="0">
                          <a:effectLst/>
                          <a:latin typeface="var(--code-font-family)"/>
                        </a:rPr>
                        <a:t>  </a:t>
                      </a:r>
                      <a:r>
                        <a:rPr lang="en" sz="2400" b="0" i="0" dirty="0">
                          <a:effectLst/>
                          <a:latin typeface="var(--code-font-family)"/>
                        </a:rPr>
                        <a:t>DROP DATABASE database_name1 [, database_name2]...</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3328286501"/>
                  </a:ext>
                </a:extLst>
              </a:tr>
            </a:tbl>
          </a:graphicData>
        </a:graphic>
      </p:graphicFrame>
      <p:sp>
        <p:nvSpPr>
          <p:cNvPr id="9" name="TextBox 8">
            <a:extLst>
              <a:ext uri="{FF2B5EF4-FFF2-40B4-BE49-F238E27FC236}">
                <a16:creationId xmlns:a16="http://schemas.microsoft.com/office/drawing/2014/main" id="{B479E16E-61A4-34E6-FA55-E892B11C617D}"/>
              </a:ext>
            </a:extLst>
          </p:cNvPr>
          <p:cNvSpPr txBox="1"/>
          <p:nvPr/>
        </p:nvSpPr>
        <p:spPr>
          <a:xfrm>
            <a:off x="516259" y="5104432"/>
            <a:ext cx="10696432" cy="954107"/>
          </a:xfrm>
          <a:prstGeom prst="rect">
            <a:avLst/>
          </a:prstGeom>
          <a:noFill/>
        </p:spPr>
        <p:txBody>
          <a:bodyPr wrap="square">
            <a:spAutoFit/>
          </a:bodyPr>
          <a:lstStyle/>
          <a:p>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команды через запятую мы можем перечислить все удаляемые базы данных. Например, удаление базы данных </a:t>
            </a: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contactsdb</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graphicFrame>
        <p:nvGraphicFramePr>
          <p:cNvPr id="10" name="Таблица 9">
            <a:extLst>
              <a:ext uri="{FF2B5EF4-FFF2-40B4-BE49-F238E27FC236}">
                <a16:creationId xmlns:a16="http://schemas.microsoft.com/office/drawing/2014/main" id="{892CDEBB-32B9-E101-1667-D6C680848CBA}"/>
              </a:ext>
            </a:extLst>
          </p:cNvPr>
          <p:cNvGraphicFramePr>
            <a:graphicFrameLocks noGrp="1"/>
          </p:cNvGraphicFramePr>
          <p:nvPr>
            <p:extLst>
              <p:ext uri="{D42A27DB-BD31-4B8C-83A1-F6EECF244321}">
                <p14:modId xmlns:p14="http://schemas.microsoft.com/office/powerpoint/2010/main" val="3000574493"/>
              </p:ext>
            </p:extLst>
          </p:nvPr>
        </p:nvGraphicFramePr>
        <p:xfrm>
          <a:off x="699449" y="6120707"/>
          <a:ext cx="7747540" cy="365760"/>
        </p:xfrm>
        <a:graphic>
          <a:graphicData uri="http://schemas.openxmlformats.org/drawingml/2006/table">
            <a:tbl>
              <a:tblPr/>
              <a:tblGrid>
                <a:gridCol w="308667">
                  <a:extLst>
                    <a:ext uri="{9D8B030D-6E8A-4147-A177-3AD203B41FA5}">
                      <a16:colId xmlns:a16="http://schemas.microsoft.com/office/drawing/2014/main" val="1436875387"/>
                    </a:ext>
                  </a:extLst>
                </a:gridCol>
                <a:gridCol w="7438873">
                  <a:extLst>
                    <a:ext uri="{9D8B030D-6E8A-4147-A177-3AD203B41FA5}">
                      <a16:colId xmlns:a16="http://schemas.microsoft.com/office/drawing/2014/main" val="87444159"/>
                    </a:ext>
                  </a:extLst>
                </a:gridCol>
              </a:tblGrid>
              <a:tr h="0">
                <a:tc>
                  <a:txBody>
                    <a:bodyPr/>
                    <a:lstStyle/>
                    <a:p>
                      <a:pPr algn="r" fontAlgn="base"/>
                      <a:r>
                        <a:rPr lang="ru-RU" sz="2400" b="0" i="0">
                          <a:solidFill>
                            <a:srgbClr val="AFAFAF"/>
                          </a:solidFill>
                          <a:effectLst/>
                          <a:latin typeface="var(--code-font-family)"/>
                        </a:rPr>
                        <a:t>1</a:t>
                      </a:r>
                    </a:p>
                  </a:txBody>
                  <a:tcPr marL="0" marR="0" marT="0" marB="0" anchor="ctr">
                    <a:lnL>
                      <a:noFill/>
                    </a:lnL>
                    <a:lnR>
                      <a:noFill/>
                    </a:lnR>
                    <a:lnT>
                      <a:noFill/>
                    </a:lnT>
                    <a:lnB>
                      <a:noFill/>
                    </a:lnB>
                    <a:solidFill>
                      <a:srgbClr val="F7F7FA"/>
                    </a:solidFill>
                  </a:tcPr>
                </a:tc>
                <a:tc>
                  <a:txBody>
                    <a:bodyPr/>
                    <a:lstStyle/>
                    <a:p>
                      <a:pPr algn="l" fontAlgn="base"/>
                      <a:r>
                        <a:rPr lang="ru-RU" sz="2400" b="0" i="0" dirty="0">
                          <a:effectLst/>
                          <a:latin typeface="var(--code-font-family)"/>
                        </a:rPr>
                        <a:t>  </a:t>
                      </a:r>
                      <a:r>
                        <a:rPr lang="en" sz="2400" b="0" i="0" dirty="0">
                          <a:effectLst/>
                          <a:latin typeface="var(--code-font-family)"/>
                        </a:rPr>
                        <a:t>DROP DATABASE </a:t>
                      </a:r>
                      <a:r>
                        <a:rPr lang="en" sz="2400" b="0" i="0" dirty="0" err="1">
                          <a:effectLst/>
                          <a:latin typeface="var(--code-font-family)"/>
                        </a:rPr>
                        <a:t>contactsdb</a:t>
                      </a:r>
                      <a:endParaRPr lang="en" sz="2400" b="0" i="0" dirty="0">
                        <a:effectLst/>
                        <a:latin typeface="var(--code-font-family)"/>
                      </a:endParaRP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4234056912"/>
                  </a:ext>
                </a:extLst>
              </a:tr>
            </a:tbl>
          </a:graphicData>
        </a:graphic>
      </p:graphicFrame>
    </p:spTree>
    <p:extLst>
      <p:ext uri="{BB962C8B-B14F-4D97-AF65-F5344CB8AC3E}">
        <p14:creationId xmlns:p14="http://schemas.microsoft.com/office/powerpoint/2010/main" val="3550938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A516F8-0C1E-2C42-D8DD-6DAF19DCF473}"/>
              </a:ext>
            </a:extLst>
          </p:cNvPr>
          <p:cNvSpPr txBox="1"/>
          <p:nvPr/>
        </p:nvSpPr>
        <p:spPr>
          <a:xfrm>
            <a:off x="3049138" y="190648"/>
            <a:ext cx="6093724" cy="523220"/>
          </a:xfrm>
          <a:prstGeom prst="rect">
            <a:avLst/>
          </a:prstGeom>
          <a:noFill/>
        </p:spPr>
        <p:txBody>
          <a:bodyPr wrap="square">
            <a:spAutoFit/>
          </a:bodyPr>
          <a:lstStyle/>
          <a:p>
            <a:pPr algn="l"/>
            <a:r>
              <a:rPr lang="ru-RU" sz="2800" b="1" i="0" u="none" strike="noStrike" dirty="0">
                <a:solidFill>
                  <a:srgbClr val="000000"/>
                </a:solidFill>
                <a:effectLst/>
                <a:latin typeface="Times New Roman" panose="02020603050405020304" pitchFamily="18" charset="0"/>
                <a:cs typeface="Times New Roman" panose="02020603050405020304" pitchFamily="18" charset="0"/>
              </a:rPr>
              <a:t>Создание и удаление таблиц</a:t>
            </a:r>
          </a:p>
        </p:txBody>
      </p:sp>
      <p:sp>
        <p:nvSpPr>
          <p:cNvPr id="7" name="TextBox 6">
            <a:extLst>
              <a:ext uri="{FF2B5EF4-FFF2-40B4-BE49-F238E27FC236}">
                <a16:creationId xmlns:a16="http://schemas.microsoft.com/office/drawing/2014/main" id="{042A57FC-6A0C-50E6-613A-89EF8F38EEBE}"/>
              </a:ext>
            </a:extLst>
          </p:cNvPr>
          <p:cNvSpPr txBox="1"/>
          <p:nvPr/>
        </p:nvSpPr>
        <p:spPr>
          <a:xfrm>
            <a:off x="194480" y="858883"/>
            <a:ext cx="11997519" cy="2677656"/>
          </a:xfrm>
          <a:prstGeom prst="rect">
            <a:avLst/>
          </a:prstGeom>
          <a:noFill/>
        </p:spPr>
        <p:txBody>
          <a:bodyPr wrap="square">
            <a:spAutoFit/>
          </a:bodyPr>
          <a:lstStyle/>
          <a:p>
            <a:pPr algn="l"/>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Для создания таблиц применяется команда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CREATE TABLE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С этой командой можно использовать ряд операторов, которые определяют столбцы таблицы и их атрибуты. И кроме того, можно использовать ряд операторов, которые определяют свойства таблицы в целом. Одна база данных может содержать до 2 миллиардов таблиц.</a:t>
            </a:r>
          </a:p>
          <a:p>
            <a:pPr algn="l"/>
            <a:r>
              <a:rPr lang="ru-RU" sz="2800" b="0" i="0" u="none" strike="noStrike" dirty="0">
                <a:solidFill>
                  <a:srgbClr val="000000"/>
                </a:solidFill>
                <a:effectLst/>
                <a:latin typeface="Times New Roman" panose="02020603050405020304" pitchFamily="18" charset="0"/>
                <a:cs typeface="Times New Roman" panose="02020603050405020304" pitchFamily="18" charset="0"/>
              </a:rPr>
              <a:t>Общий синтаксис создания таблицы выглядит следующим образом:</a:t>
            </a:r>
          </a:p>
        </p:txBody>
      </p:sp>
      <p:graphicFrame>
        <p:nvGraphicFramePr>
          <p:cNvPr id="8" name="Таблица 7">
            <a:extLst>
              <a:ext uri="{FF2B5EF4-FFF2-40B4-BE49-F238E27FC236}">
                <a16:creationId xmlns:a16="http://schemas.microsoft.com/office/drawing/2014/main" id="{004932DB-D6D7-DA7D-FE5D-0A1830E0BF75}"/>
              </a:ext>
            </a:extLst>
          </p:cNvPr>
          <p:cNvGraphicFramePr>
            <a:graphicFrameLocks noGrp="1"/>
          </p:cNvGraphicFramePr>
          <p:nvPr>
            <p:extLst>
              <p:ext uri="{D42A27DB-BD31-4B8C-83A1-F6EECF244321}">
                <p14:modId xmlns:p14="http://schemas.microsoft.com/office/powerpoint/2010/main" val="2012989335"/>
              </p:ext>
            </p:extLst>
          </p:nvPr>
        </p:nvGraphicFramePr>
        <p:xfrm>
          <a:off x="194479" y="3778153"/>
          <a:ext cx="11378821" cy="2677656"/>
        </p:xfrm>
        <a:graphic>
          <a:graphicData uri="http://schemas.openxmlformats.org/drawingml/2006/table">
            <a:tbl>
              <a:tblPr/>
              <a:tblGrid>
                <a:gridCol w="453340">
                  <a:extLst>
                    <a:ext uri="{9D8B030D-6E8A-4147-A177-3AD203B41FA5}">
                      <a16:colId xmlns:a16="http://schemas.microsoft.com/office/drawing/2014/main" val="1405202454"/>
                    </a:ext>
                  </a:extLst>
                </a:gridCol>
                <a:gridCol w="10925481">
                  <a:extLst>
                    <a:ext uri="{9D8B030D-6E8A-4147-A177-3AD203B41FA5}">
                      <a16:colId xmlns:a16="http://schemas.microsoft.com/office/drawing/2014/main" val="877153203"/>
                    </a:ext>
                  </a:extLst>
                </a:gridCol>
              </a:tblGrid>
              <a:tr h="2677656">
                <a:tc>
                  <a:txBody>
                    <a:bodyPr/>
                    <a:lstStyle/>
                    <a:p>
                      <a:pPr algn="r" fontAlgn="base"/>
                      <a:r>
                        <a:rPr lang="ru-RU" sz="2400" b="0" i="0">
                          <a:solidFill>
                            <a:srgbClr val="AFAFAF"/>
                          </a:solidFill>
                          <a:effectLst/>
                          <a:latin typeface="var(--code-font-family)"/>
                        </a:rPr>
                        <a:t>1</a:t>
                      </a:r>
                    </a:p>
                    <a:p>
                      <a:pPr algn="r" fontAlgn="base"/>
                      <a:r>
                        <a:rPr lang="ru-RU" sz="2400" b="0" i="0">
                          <a:solidFill>
                            <a:srgbClr val="AFAFAF"/>
                          </a:solidFill>
                          <a:effectLst/>
                          <a:latin typeface="var(--code-font-family)"/>
                        </a:rPr>
                        <a:t>2</a:t>
                      </a:r>
                    </a:p>
                    <a:p>
                      <a:pPr algn="r" fontAlgn="base"/>
                      <a:r>
                        <a:rPr lang="ru-RU" sz="2400" b="0" i="0">
                          <a:solidFill>
                            <a:srgbClr val="AFAFAF"/>
                          </a:solidFill>
                          <a:effectLst/>
                          <a:latin typeface="var(--code-font-family)"/>
                        </a:rPr>
                        <a:t>3</a:t>
                      </a:r>
                    </a:p>
                    <a:p>
                      <a:pPr algn="r" fontAlgn="base"/>
                      <a:r>
                        <a:rPr lang="ru-RU" sz="2400" b="0" i="0">
                          <a:solidFill>
                            <a:srgbClr val="AFAFAF"/>
                          </a:solidFill>
                          <a:effectLst/>
                          <a:latin typeface="var(--code-font-family)"/>
                        </a:rPr>
                        <a:t>4</a:t>
                      </a:r>
                    </a:p>
                    <a:p>
                      <a:pPr algn="r" fontAlgn="base"/>
                      <a:r>
                        <a:rPr lang="ru-RU" sz="2400" b="0" i="0">
                          <a:solidFill>
                            <a:srgbClr val="AFAFAF"/>
                          </a:solidFill>
                          <a:effectLst/>
                          <a:latin typeface="var(--code-font-family)"/>
                        </a:rPr>
                        <a:t>5</a:t>
                      </a:r>
                    </a:p>
                    <a:p>
                      <a:pPr algn="r" fontAlgn="base"/>
                      <a:r>
                        <a:rPr lang="ru-RU" sz="2400" b="0" i="0">
                          <a:solidFill>
                            <a:srgbClr val="AFAFAF"/>
                          </a:solidFill>
                          <a:effectLst/>
                          <a:latin typeface="var(--code-font-family)"/>
                        </a:rPr>
                        <a:t>6</a:t>
                      </a:r>
                    </a:p>
                    <a:p>
                      <a:pPr algn="r" fontAlgn="base"/>
                      <a:r>
                        <a:rPr lang="ru-RU" sz="2400" b="0" i="0">
                          <a:solidFill>
                            <a:srgbClr val="AFAFAF"/>
                          </a:solidFill>
                          <a:effectLst/>
                          <a:latin typeface="var(--code-font-family)"/>
                        </a:rPr>
                        <a:t>7</a:t>
                      </a:r>
                    </a:p>
                  </a:txBody>
                  <a:tcPr marL="0" marR="0" marT="0" marB="0" anchor="ctr">
                    <a:lnL>
                      <a:noFill/>
                    </a:lnL>
                    <a:lnR>
                      <a:noFill/>
                    </a:lnR>
                    <a:lnT>
                      <a:noFill/>
                    </a:lnT>
                    <a:lnB>
                      <a:noFill/>
                    </a:lnB>
                    <a:solidFill>
                      <a:srgbClr val="F7F7FA"/>
                    </a:solidFill>
                  </a:tcPr>
                </a:tc>
                <a:tc>
                  <a:txBody>
                    <a:bodyPr/>
                    <a:lstStyle/>
                    <a:p>
                      <a:pPr algn="l" fontAlgn="base"/>
                      <a:r>
                        <a:rPr lang="en" sz="2400" b="0" i="0" dirty="0">
                          <a:effectLst/>
                          <a:latin typeface="var(--code-font-family)"/>
                        </a:rPr>
                        <a:t>CREATE TABLE </a:t>
                      </a:r>
                      <a:r>
                        <a:rPr lang="ru-RU" sz="2400" b="0" i="0" dirty="0" err="1">
                          <a:effectLst/>
                          <a:latin typeface="var(--code-font-family)"/>
                        </a:rPr>
                        <a:t>название_таблицы</a:t>
                      </a:r>
                      <a:endParaRPr lang="ru-RU" sz="2400" b="0" i="0" dirty="0">
                        <a:effectLst/>
                        <a:latin typeface="var(--code-font-family)"/>
                      </a:endParaRPr>
                    </a:p>
                    <a:p>
                      <a:pPr algn="l" fontAlgn="base"/>
                      <a:r>
                        <a:rPr lang="ru-RU" sz="2400" b="0" i="0" dirty="0">
                          <a:effectLst/>
                          <a:latin typeface="var(--code-font-family)"/>
                        </a:rPr>
                        <a:t>(название_столбца1 </a:t>
                      </a:r>
                      <a:r>
                        <a:rPr lang="ru-RU" sz="2400" b="0" i="0" dirty="0" err="1">
                          <a:effectLst/>
                          <a:latin typeface="var(--code-font-family)"/>
                        </a:rPr>
                        <a:t>тип_данных</a:t>
                      </a:r>
                      <a:r>
                        <a:rPr lang="ru-RU" sz="2400" b="0" i="0" dirty="0">
                          <a:effectLst/>
                          <a:latin typeface="var(--code-font-family)"/>
                        </a:rPr>
                        <a:t> атрибуты_столбца1, </a:t>
                      </a:r>
                    </a:p>
                    <a:p>
                      <a:pPr algn="l" fontAlgn="base"/>
                      <a:r>
                        <a:rPr lang="ru-RU" sz="2400" b="0" i="0" dirty="0">
                          <a:effectLst/>
                          <a:latin typeface="var(--code-font-family)"/>
                        </a:rPr>
                        <a:t> название_столбца2 </a:t>
                      </a:r>
                      <a:r>
                        <a:rPr lang="ru-RU" sz="2400" b="0" i="0" dirty="0" err="1">
                          <a:effectLst/>
                          <a:latin typeface="var(--code-font-family)"/>
                        </a:rPr>
                        <a:t>тип_данных</a:t>
                      </a:r>
                      <a:r>
                        <a:rPr lang="ru-RU" sz="2400" b="0" i="0" dirty="0">
                          <a:effectLst/>
                          <a:latin typeface="var(--code-font-family)"/>
                        </a:rPr>
                        <a:t> атрибуты_столбца2,</a:t>
                      </a:r>
                    </a:p>
                    <a:p>
                      <a:pPr algn="l" fontAlgn="base"/>
                      <a:r>
                        <a:rPr lang="ru-RU" sz="2400" b="0" i="0" dirty="0">
                          <a:effectLst/>
                          <a:latin typeface="var(--code-font-family)"/>
                        </a:rPr>
                        <a:t> ................................................</a:t>
                      </a:r>
                    </a:p>
                    <a:p>
                      <a:pPr algn="l" fontAlgn="base"/>
                      <a:r>
                        <a:rPr lang="ru-RU" sz="2400" b="0" i="0" dirty="0">
                          <a:effectLst/>
                          <a:latin typeface="var(--code-font-family)"/>
                        </a:rPr>
                        <a:t> </a:t>
                      </a:r>
                      <a:r>
                        <a:rPr lang="ru-RU" sz="2400" b="0" i="0" dirty="0" err="1">
                          <a:effectLst/>
                          <a:latin typeface="var(--code-font-family)"/>
                        </a:rPr>
                        <a:t>название_столбца</a:t>
                      </a:r>
                      <a:r>
                        <a:rPr lang="en" sz="2400" b="0" i="0" dirty="0">
                          <a:effectLst/>
                          <a:latin typeface="var(--code-font-family)"/>
                        </a:rPr>
                        <a:t>N </a:t>
                      </a:r>
                      <a:r>
                        <a:rPr lang="ru-RU" sz="2400" b="0" i="0" dirty="0" err="1">
                          <a:effectLst/>
                          <a:latin typeface="var(--code-font-family)"/>
                        </a:rPr>
                        <a:t>тип_данных</a:t>
                      </a:r>
                      <a:r>
                        <a:rPr lang="ru-RU" sz="2400" b="0" i="0" dirty="0">
                          <a:effectLst/>
                          <a:latin typeface="var(--code-font-family)"/>
                        </a:rPr>
                        <a:t> </a:t>
                      </a:r>
                      <a:r>
                        <a:rPr lang="ru-RU" sz="2400" b="0" i="0" dirty="0" err="1">
                          <a:effectLst/>
                          <a:latin typeface="var(--code-font-family)"/>
                        </a:rPr>
                        <a:t>атрибуты_столбца</a:t>
                      </a:r>
                      <a:r>
                        <a:rPr lang="en" sz="2400" b="0" i="0" dirty="0">
                          <a:effectLst/>
                          <a:latin typeface="var(--code-font-family)"/>
                        </a:rPr>
                        <a:t>N,</a:t>
                      </a:r>
                    </a:p>
                    <a:p>
                      <a:pPr algn="l" fontAlgn="base"/>
                      <a:r>
                        <a:rPr lang="en" sz="2400" b="0" i="0" dirty="0">
                          <a:effectLst/>
                          <a:latin typeface="var(--code-font-family)"/>
                        </a:rPr>
                        <a:t> </a:t>
                      </a:r>
                      <a:r>
                        <a:rPr lang="ru-RU" sz="2400" b="0" i="0" dirty="0" err="1">
                          <a:effectLst/>
                          <a:latin typeface="var(--code-font-family)"/>
                        </a:rPr>
                        <a:t>атрибуты_таблицы</a:t>
                      </a:r>
                      <a:endParaRPr lang="ru-RU" sz="2400" b="0" i="0" dirty="0">
                        <a:effectLst/>
                        <a:latin typeface="var(--code-font-family)"/>
                      </a:endParaRPr>
                    </a:p>
                    <a:p>
                      <a:pPr algn="l" fontAlgn="base"/>
                      <a:r>
                        <a:rPr lang="ru-RU" sz="2400" b="0" i="0" dirty="0">
                          <a:effectLst/>
                          <a:latin typeface="var(--code-font-family)"/>
                        </a:rPr>
                        <a:t>)</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1464856335"/>
                  </a:ext>
                </a:extLst>
              </a:tr>
            </a:tbl>
          </a:graphicData>
        </a:graphic>
      </p:graphicFrame>
    </p:spTree>
    <p:extLst>
      <p:ext uri="{BB962C8B-B14F-4D97-AF65-F5344CB8AC3E}">
        <p14:creationId xmlns:p14="http://schemas.microsoft.com/office/powerpoint/2010/main" val="3215364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B3C099-2EE8-E5F2-A8B0-18A9F9ED118D}"/>
              </a:ext>
            </a:extLst>
          </p:cNvPr>
          <p:cNvSpPr txBox="1"/>
          <p:nvPr/>
        </p:nvSpPr>
        <p:spPr>
          <a:xfrm>
            <a:off x="167184" y="246250"/>
            <a:ext cx="11692719" cy="5262979"/>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команды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CREATE TABLE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идет название создаваемой таблицы. Имя таблицы выполняет роль ее идентификатора в базе данных, поэтому оно должно быть уникальным. Имя должно иметь длину не больше 128 символов. Имя может состоять из алфавитно-цифровых символов, а также символов $ и знака подчеркивания. Причем первым символом должна быть буква или знак подчеркивания.</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Имя объекта не может включать пробелы и не может представлять одно из ключевых слов языка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Transact-SQL.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Если идентификатор все же содержит пробельные символы, то его следует заключать в кавычки. Если необходимо в качестве имени использовать ключевые слова, то эти слова помещаются в квадратные скобки.</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Примеры корректных идентификаторов:</a:t>
            </a:r>
          </a:p>
        </p:txBody>
      </p:sp>
    </p:spTree>
    <p:extLst>
      <p:ext uri="{BB962C8B-B14F-4D97-AF65-F5344CB8AC3E}">
        <p14:creationId xmlns:p14="http://schemas.microsoft.com/office/powerpoint/2010/main" val="6595807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aphicFrame>
        <p:nvGraphicFramePr>
          <p:cNvPr id="4" name="Таблица 3">
            <a:extLst>
              <a:ext uri="{FF2B5EF4-FFF2-40B4-BE49-F238E27FC236}">
                <a16:creationId xmlns:a16="http://schemas.microsoft.com/office/drawing/2014/main" id="{3DB83078-6110-3FFB-4E54-A9DFCA222BC2}"/>
              </a:ext>
            </a:extLst>
          </p:cNvPr>
          <p:cNvGraphicFramePr>
            <a:graphicFrameLocks noGrp="1"/>
          </p:cNvGraphicFramePr>
          <p:nvPr>
            <p:extLst>
              <p:ext uri="{D42A27DB-BD31-4B8C-83A1-F6EECF244321}">
                <p14:modId xmlns:p14="http://schemas.microsoft.com/office/powerpoint/2010/main" val="223227915"/>
              </p:ext>
            </p:extLst>
          </p:nvPr>
        </p:nvGraphicFramePr>
        <p:xfrm>
          <a:off x="311543" y="190157"/>
          <a:ext cx="7747540" cy="1828800"/>
        </p:xfrm>
        <a:graphic>
          <a:graphicData uri="http://schemas.openxmlformats.org/drawingml/2006/table">
            <a:tbl>
              <a:tblPr/>
              <a:tblGrid>
                <a:gridCol w="308667">
                  <a:extLst>
                    <a:ext uri="{9D8B030D-6E8A-4147-A177-3AD203B41FA5}">
                      <a16:colId xmlns:a16="http://schemas.microsoft.com/office/drawing/2014/main" val="182474566"/>
                    </a:ext>
                  </a:extLst>
                </a:gridCol>
                <a:gridCol w="7438873">
                  <a:extLst>
                    <a:ext uri="{9D8B030D-6E8A-4147-A177-3AD203B41FA5}">
                      <a16:colId xmlns:a16="http://schemas.microsoft.com/office/drawing/2014/main" val="2930386525"/>
                    </a:ext>
                  </a:extLst>
                </a:gridCol>
              </a:tblGrid>
              <a:tr h="0">
                <a:tc>
                  <a:txBody>
                    <a:bodyPr/>
                    <a:lstStyle/>
                    <a:p>
                      <a:pPr algn="r" fontAlgn="base"/>
                      <a:r>
                        <a:rPr lang="ru-RU" sz="2400" b="0" i="0">
                          <a:solidFill>
                            <a:srgbClr val="AFAFAF"/>
                          </a:solidFill>
                          <a:effectLst/>
                          <a:latin typeface="Times New Roman" panose="02020603050405020304" pitchFamily="18" charset="0"/>
                          <a:cs typeface="Times New Roman" panose="02020603050405020304" pitchFamily="18" charset="0"/>
                        </a:rPr>
                        <a:t>1</a:t>
                      </a:r>
                    </a:p>
                    <a:p>
                      <a:pPr algn="r" fontAlgn="base"/>
                      <a:r>
                        <a:rPr lang="ru-RU" sz="2400" b="0" i="0">
                          <a:solidFill>
                            <a:srgbClr val="AFAFAF"/>
                          </a:solidFill>
                          <a:effectLst/>
                          <a:latin typeface="Times New Roman" panose="02020603050405020304" pitchFamily="18" charset="0"/>
                          <a:cs typeface="Times New Roman" panose="02020603050405020304" pitchFamily="18" charset="0"/>
                        </a:rPr>
                        <a:t>2</a:t>
                      </a:r>
                    </a:p>
                    <a:p>
                      <a:pPr algn="r" fontAlgn="base"/>
                      <a:r>
                        <a:rPr lang="ru-RU" sz="2400" b="0" i="0">
                          <a:solidFill>
                            <a:srgbClr val="AFAFAF"/>
                          </a:solidFill>
                          <a:effectLst/>
                          <a:latin typeface="Times New Roman" panose="02020603050405020304" pitchFamily="18" charset="0"/>
                          <a:cs typeface="Times New Roman" panose="02020603050405020304" pitchFamily="18" charset="0"/>
                        </a:rPr>
                        <a:t>3</a:t>
                      </a:r>
                    </a:p>
                    <a:p>
                      <a:pPr algn="r" fontAlgn="base"/>
                      <a:r>
                        <a:rPr lang="ru-RU" sz="2400" b="0" i="0">
                          <a:solidFill>
                            <a:srgbClr val="AFAFAF"/>
                          </a:solidFill>
                          <a:effectLst/>
                          <a:latin typeface="Times New Roman" panose="02020603050405020304" pitchFamily="18" charset="0"/>
                          <a:cs typeface="Times New Roman" panose="02020603050405020304" pitchFamily="18" charset="0"/>
                        </a:rPr>
                        <a:t>4</a:t>
                      </a:r>
                    </a:p>
                    <a:p>
                      <a:pPr algn="r" fontAlgn="base"/>
                      <a:r>
                        <a:rPr lang="ru-RU" sz="2400" b="0" i="0">
                          <a:solidFill>
                            <a:srgbClr val="AFAFAF"/>
                          </a:solidFill>
                          <a:effectLst/>
                          <a:latin typeface="Times New Roman" panose="02020603050405020304" pitchFamily="18" charset="0"/>
                          <a:cs typeface="Times New Roman" panose="02020603050405020304" pitchFamily="18" charset="0"/>
                        </a:rPr>
                        <a:t>5</a:t>
                      </a:r>
                    </a:p>
                  </a:txBody>
                  <a:tcPr marL="0" marR="0" marT="0" marB="0" anchor="ctr">
                    <a:lnL>
                      <a:noFill/>
                    </a:lnL>
                    <a:lnR>
                      <a:noFill/>
                    </a:lnR>
                    <a:lnT>
                      <a:noFill/>
                    </a:lnT>
                    <a:lnB>
                      <a:noFill/>
                    </a:lnB>
                    <a:solidFill>
                      <a:srgbClr val="F7F7FA"/>
                    </a:solidFill>
                  </a:tcPr>
                </a:tc>
                <a:tc>
                  <a:txBody>
                    <a:bodyPr/>
                    <a:lstStyle/>
                    <a:p>
                      <a:pPr algn="l" fontAlgn="base"/>
                      <a:r>
                        <a:rPr lang="en" sz="2400" b="0" i="0" dirty="0">
                          <a:effectLst/>
                          <a:latin typeface="Times New Roman" panose="02020603050405020304" pitchFamily="18" charset="0"/>
                          <a:cs typeface="Times New Roman" panose="02020603050405020304" pitchFamily="18" charset="0"/>
                        </a:rPr>
                        <a:t>Users</a:t>
                      </a:r>
                    </a:p>
                    <a:p>
                      <a:pPr algn="l" fontAlgn="base"/>
                      <a:r>
                        <a:rPr lang="en" sz="2400" b="0" i="0" dirty="0">
                          <a:effectLst/>
                          <a:latin typeface="Times New Roman" panose="02020603050405020304" pitchFamily="18" charset="0"/>
                          <a:cs typeface="Times New Roman" panose="02020603050405020304" pitchFamily="18" charset="0"/>
                        </a:rPr>
                        <a:t>tags$345</a:t>
                      </a:r>
                    </a:p>
                    <a:p>
                      <a:pPr algn="l" fontAlgn="base"/>
                      <a:r>
                        <a:rPr lang="en" sz="2400" b="0" i="0" dirty="0" err="1">
                          <a:effectLst/>
                          <a:latin typeface="Times New Roman" panose="02020603050405020304" pitchFamily="18" charset="0"/>
                          <a:cs typeface="Times New Roman" panose="02020603050405020304" pitchFamily="18" charset="0"/>
                        </a:rPr>
                        <a:t>users_accounts</a:t>
                      </a:r>
                      <a:endParaRPr lang="en" sz="2400" b="0" i="0" dirty="0">
                        <a:effectLst/>
                        <a:latin typeface="Times New Roman" panose="02020603050405020304" pitchFamily="18" charset="0"/>
                        <a:cs typeface="Times New Roman" panose="02020603050405020304" pitchFamily="18" charset="0"/>
                      </a:endParaRPr>
                    </a:p>
                    <a:p>
                      <a:pPr algn="l" fontAlgn="base"/>
                      <a:r>
                        <a:rPr lang="en" sz="2400" b="0" i="0" dirty="0">
                          <a:effectLst/>
                          <a:latin typeface="Times New Roman" panose="02020603050405020304" pitchFamily="18" charset="0"/>
                          <a:cs typeface="Times New Roman" panose="02020603050405020304" pitchFamily="18" charset="0"/>
                        </a:rPr>
                        <a:t>"users accounts"</a:t>
                      </a:r>
                    </a:p>
                    <a:p>
                      <a:pPr algn="l" fontAlgn="base"/>
                      <a:r>
                        <a:rPr lang="en" sz="2400" b="0" i="0" dirty="0">
                          <a:effectLst/>
                          <a:latin typeface="Times New Roman" panose="02020603050405020304" pitchFamily="18" charset="0"/>
                          <a:cs typeface="Times New Roman" panose="02020603050405020304" pitchFamily="18" charset="0"/>
                        </a:rPr>
                        <a:t>[Table]</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803138068"/>
                  </a:ext>
                </a:extLst>
              </a:tr>
            </a:tbl>
          </a:graphicData>
        </a:graphic>
      </p:graphicFrame>
      <p:sp>
        <p:nvSpPr>
          <p:cNvPr id="6" name="TextBox 5">
            <a:extLst>
              <a:ext uri="{FF2B5EF4-FFF2-40B4-BE49-F238E27FC236}">
                <a16:creationId xmlns:a16="http://schemas.microsoft.com/office/drawing/2014/main" id="{71CDC58C-138F-0716-368C-2E88412D35F9}"/>
              </a:ext>
            </a:extLst>
          </p:cNvPr>
          <p:cNvSpPr txBox="1"/>
          <p:nvPr/>
        </p:nvSpPr>
        <p:spPr>
          <a:xfrm>
            <a:off x="426492" y="2422311"/>
            <a:ext cx="11242343" cy="3970318"/>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После имени таблицы в скобках указываются параметры всех столбцов и в самом конце атрибуты, которые относятся ко всей таблице. Атрибуты столбцов и атрибуты таблицы являются необязательными компонентами, и их можно не указывать.</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В самом просто виде команда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CREATE TABLE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должна содержать как минимум имя таблицы, имена и типы столбцов.</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Таблица может содержать от 1 до 1024 столбцов. Каждый столбец должен иметь уникальное в рамках текущей таблицы имя, и ему должен быть назначен тип данных.</a:t>
            </a:r>
          </a:p>
        </p:txBody>
      </p:sp>
    </p:spTree>
    <p:extLst>
      <p:ext uri="{BB962C8B-B14F-4D97-AF65-F5344CB8AC3E}">
        <p14:creationId xmlns:p14="http://schemas.microsoft.com/office/powerpoint/2010/main" val="1331575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6CB59F-F5ED-929F-31C9-AA02229F234C}"/>
              </a:ext>
            </a:extLst>
          </p:cNvPr>
          <p:cNvSpPr txBox="1"/>
          <p:nvPr/>
        </p:nvSpPr>
        <p:spPr>
          <a:xfrm>
            <a:off x="163773" y="204296"/>
            <a:ext cx="10533796" cy="523220"/>
          </a:xfrm>
          <a:prstGeom prst="rect">
            <a:avLst/>
          </a:prstGeom>
          <a:noFill/>
        </p:spPr>
        <p:txBody>
          <a:bodyPr wrap="square">
            <a:spAutoFit/>
          </a:bodyPr>
          <a:lstStyle/>
          <a:p>
            <a:r>
              <a:rPr lang="ru-RU" sz="2800" b="0" i="0" u="none" strike="noStrike" dirty="0">
                <a:solidFill>
                  <a:srgbClr val="000000"/>
                </a:solidFill>
                <a:effectLst/>
                <a:latin typeface="Times New Roman" panose="02020603050405020304" pitchFamily="18" charset="0"/>
                <a:cs typeface="Times New Roman" panose="02020603050405020304" pitchFamily="18" charset="0"/>
              </a:rPr>
              <a:t>Например, определение простейшей таблицы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Customers:</a:t>
            </a:r>
            <a:endParaRPr lang="ru-RU"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C313663-841B-F9BF-7172-9BF6055A6D8A}"/>
              </a:ext>
            </a:extLst>
          </p:cNvPr>
          <p:cNvSpPr txBox="1"/>
          <p:nvPr/>
        </p:nvSpPr>
        <p:spPr>
          <a:xfrm>
            <a:off x="385549" y="843677"/>
            <a:ext cx="10409830" cy="3416320"/>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CREATE TABLE Customers</a:t>
            </a:r>
          </a:p>
          <a:p>
            <a:pPr algn="l" fontAlgn="base"/>
            <a:r>
              <a:rPr lang="en" sz="2400" b="0" i="0" u="none" strike="noStrike" dirty="0">
                <a:solidFill>
                  <a:srgbClr val="000000"/>
                </a:solidFill>
                <a:effectLst/>
                <a:latin typeface="Consolas" panose="020B0609020204030204" pitchFamily="49" charset="0"/>
              </a:rPr>
              <a:t>(</a:t>
            </a:r>
          </a:p>
          <a:p>
            <a:pPr algn="l" fontAlgn="base"/>
            <a:r>
              <a:rPr lang="en" sz="2400" b="0" i="0" u="none" strike="noStrike" dirty="0">
                <a:solidFill>
                  <a:srgbClr val="000000"/>
                </a:solidFill>
                <a:effectLst/>
                <a:latin typeface="Consolas" panose="020B0609020204030204" pitchFamily="49" charset="0"/>
              </a:rPr>
              <a:t>    Id INT,</a:t>
            </a:r>
          </a:p>
          <a:p>
            <a:pPr algn="l" fontAlgn="base"/>
            <a:r>
              <a:rPr lang="en" sz="2400" b="0" i="0" u="none" strike="noStrike" dirty="0">
                <a:solidFill>
                  <a:srgbClr val="000000"/>
                </a:solidFill>
                <a:effectLst/>
                <a:latin typeface="Consolas" panose="020B0609020204030204" pitchFamily="49" charset="0"/>
              </a:rPr>
              <a:t>    Age INT,</a:t>
            </a:r>
          </a:p>
          <a:p>
            <a:pPr algn="l" fontAlgn="base"/>
            <a:r>
              <a:rPr lang="en" sz="2400" b="0" i="0" u="none" strike="noStrike" dirty="0">
                <a:solidFill>
                  <a:srgbClr val="000000"/>
                </a:solidFill>
                <a:effectLst/>
                <a:latin typeface="Consolas" panose="020B0609020204030204" pitchFamily="49" charset="0"/>
              </a:rPr>
              <a:t>    FirstName NVARCHAR(20),</a:t>
            </a:r>
          </a:p>
          <a:p>
            <a:pPr algn="l" fontAlgn="base"/>
            <a:r>
              <a:rPr lang="en" sz="2400" b="0" i="0" u="none" strike="noStrike" dirty="0">
                <a:solidFill>
                  <a:srgbClr val="000000"/>
                </a:solidFill>
                <a:effectLst/>
                <a:latin typeface="Consolas" panose="020B0609020204030204" pitchFamily="49" charset="0"/>
              </a:rPr>
              <a:t>    </a:t>
            </a:r>
            <a:r>
              <a:rPr lang="en" sz="2400" b="0" i="0" u="none" strike="noStrike" dirty="0" err="1">
                <a:solidFill>
                  <a:srgbClr val="000000"/>
                </a:solidFill>
                <a:effectLst/>
                <a:latin typeface="Consolas" panose="020B0609020204030204" pitchFamily="49" charset="0"/>
              </a:rPr>
              <a:t>LastName</a:t>
            </a:r>
            <a:r>
              <a:rPr lang="en" sz="2400" b="0" i="0" u="none" strike="noStrike" dirty="0">
                <a:solidFill>
                  <a:srgbClr val="000000"/>
                </a:solidFill>
                <a:effectLst/>
                <a:latin typeface="Consolas" panose="020B0609020204030204" pitchFamily="49" charset="0"/>
              </a:rPr>
              <a:t> NVARCHAR(20),</a:t>
            </a:r>
          </a:p>
          <a:p>
            <a:pPr algn="l" fontAlgn="base"/>
            <a:r>
              <a:rPr lang="en" sz="2400" b="0" i="0" u="none" strike="noStrike" dirty="0">
                <a:solidFill>
                  <a:srgbClr val="000000"/>
                </a:solidFill>
                <a:effectLst/>
                <a:latin typeface="Consolas" panose="020B0609020204030204" pitchFamily="49" charset="0"/>
              </a:rPr>
              <a:t>    Email VARCHAR(30),</a:t>
            </a:r>
          </a:p>
          <a:p>
            <a:pPr algn="l" fontAlgn="base"/>
            <a:r>
              <a:rPr lang="en" sz="2400" b="0" i="0" u="none" strike="noStrike" dirty="0">
                <a:solidFill>
                  <a:srgbClr val="000000"/>
                </a:solidFill>
                <a:effectLst/>
                <a:latin typeface="Consolas" panose="020B0609020204030204" pitchFamily="49" charset="0"/>
              </a:rPr>
              <a:t>    Phone VARCHAR(20)</a:t>
            </a:r>
          </a:p>
          <a:p>
            <a:pPr algn="l" fontAlgn="base"/>
            <a:r>
              <a:rPr lang="en" sz="2400" b="0" i="0" u="none" strike="noStrike"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4616DF72-DCDF-09CC-DE7A-CC6559DA9B17}"/>
              </a:ext>
            </a:extLst>
          </p:cNvPr>
          <p:cNvSpPr txBox="1"/>
          <p:nvPr/>
        </p:nvSpPr>
        <p:spPr>
          <a:xfrm>
            <a:off x="5590463" y="1120676"/>
            <a:ext cx="6215987" cy="5632311"/>
          </a:xfrm>
          <a:prstGeom prst="rect">
            <a:avLst/>
          </a:prstGeom>
          <a:noFill/>
        </p:spPr>
        <p:txBody>
          <a:bodyPr wrap="square">
            <a:spAutoFit/>
          </a:bodyPr>
          <a:lstStyle/>
          <a:p>
            <a:pPr algn="just"/>
            <a:r>
              <a:rPr lang="ru-RU" sz="2400" b="0" i="0" u="none" strike="noStrike" dirty="0">
                <a:solidFill>
                  <a:srgbClr val="000000"/>
                </a:solidFill>
                <a:effectLst/>
                <a:latin typeface="Times New Roman" panose="02020603050405020304" pitchFamily="18" charset="0"/>
                <a:cs typeface="Times New Roman" panose="02020603050405020304" pitchFamily="18" charset="0"/>
              </a:rPr>
              <a:t>В данном случае в таблице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Customers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определяются шесть столбцов: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Id, FirstName, </a:t>
            </a:r>
            <a:r>
              <a:rPr lang="en" sz="2400" b="0" i="0" u="none" strike="noStrike" dirty="0" err="1">
                <a:solidFill>
                  <a:srgbClr val="000000"/>
                </a:solidFill>
                <a:effectLst/>
                <a:latin typeface="Times New Roman" panose="02020603050405020304" pitchFamily="18" charset="0"/>
                <a:cs typeface="Times New Roman" panose="02020603050405020304" pitchFamily="18" charset="0"/>
              </a:rPr>
              <a:t>LastName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Age, Email, Phone.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Первые два столбца представляют идентификатор клиента и его возраст и имеют тип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INT</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то есть будут хранить числовые значения. Следующие два столбца представляют имя и фамилию клиента и имеют тип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NVARCHAR(20)</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то есть представляют строку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UNICODE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длиной не более 20 символов. Последние два столбца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Email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Phone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представляют адрес электронной почты и телефон клиента и имеют тип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VARCHAR(30/20)</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они также хранят строку, но не в кодировке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UNICODE.</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2764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8BD016-16B5-9157-3B28-966ECE99C6FD}"/>
              </a:ext>
            </a:extLst>
          </p:cNvPr>
          <p:cNvSpPr txBox="1"/>
          <p:nvPr/>
        </p:nvSpPr>
        <p:spPr>
          <a:xfrm>
            <a:off x="2262685" y="272535"/>
            <a:ext cx="7666630" cy="523220"/>
          </a:xfrm>
          <a:prstGeom prst="rect">
            <a:avLst/>
          </a:prstGeom>
          <a:noFill/>
        </p:spPr>
        <p:txBody>
          <a:bodyPr wrap="square">
            <a:spAutoFit/>
          </a:bodyPr>
          <a:lstStyle/>
          <a:p>
            <a:pPr algn="l"/>
            <a:r>
              <a:rPr lang="ru-RU" sz="2800" b="1" i="0" u="none" strike="noStrike" dirty="0">
                <a:solidFill>
                  <a:srgbClr val="000000"/>
                </a:solidFill>
                <a:effectLst/>
                <a:latin typeface="Times New Roman" panose="02020603050405020304" pitchFamily="18" charset="0"/>
                <a:cs typeface="Times New Roman" panose="02020603050405020304" pitchFamily="18" charset="0"/>
              </a:rPr>
              <a:t>Создание таблицы в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SQL Management Studio</a:t>
            </a:r>
          </a:p>
        </p:txBody>
      </p:sp>
      <p:sp>
        <p:nvSpPr>
          <p:cNvPr id="7" name="TextBox 6">
            <a:extLst>
              <a:ext uri="{FF2B5EF4-FFF2-40B4-BE49-F238E27FC236}">
                <a16:creationId xmlns:a16="http://schemas.microsoft.com/office/drawing/2014/main" id="{6D8902EB-E785-B706-94CD-D4030BD6B003}"/>
              </a:ext>
            </a:extLst>
          </p:cNvPr>
          <p:cNvSpPr txBox="1"/>
          <p:nvPr/>
        </p:nvSpPr>
        <p:spPr>
          <a:xfrm>
            <a:off x="235423" y="1167221"/>
            <a:ext cx="11733663" cy="1384995"/>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Создадим простую таблицу на сервере. Для этого откроем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SQL Server Management Studio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нажмем правой кнопкой мыши на название сервера. В появившемся контекстном меню выберем пункт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New Query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pic>
        <p:nvPicPr>
          <p:cNvPr id="22530" name="Picture 2" descr="Создание таблицы в SQL Server Management Studio">
            <a:extLst>
              <a:ext uri="{FF2B5EF4-FFF2-40B4-BE49-F238E27FC236}">
                <a16:creationId xmlns:a16="http://schemas.microsoft.com/office/drawing/2014/main" id="{A8401AD6-E939-6D9F-D238-8902805070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127" y="2552216"/>
            <a:ext cx="9257543" cy="3760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1001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3458B6-9521-4216-FA6B-E2CE01B6BFE5}"/>
              </a:ext>
            </a:extLst>
          </p:cNvPr>
          <p:cNvSpPr txBox="1"/>
          <p:nvPr/>
        </p:nvSpPr>
        <p:spPr>
          <a:xfrm>
            <a:off x="358253" y="164869"/>
            <a:ext cx="11447059" cy="1938992"/>
          </a:xfrm>
          <a:prstGeom prst="rect">
            <a:avLst/>
          </a:prstGeom>
          <a:noFill/>
        </p:spPr>
        <p:txBody>
          <a:bodyPr wrap="square">
            <a:spAutoFit/>
          </a:bodyPr>
          <a:lstStyle/>
          <a:p>
            <a:pPr algn="just"/>
            <a:r>
              <a:rPr lang="ru-RU" sz="2400" b="0" i="0" u="none" strike="noStrike" dirty="0">
                <a:solidFill>
                  <a:srgbClr val="000000"/>
                </a:solidFill>
                <a:effectLst/>
                <a:latin typeface="Times New Roman" panose="02020603050405020304" pitchFamily="18" charset="0"/>
                <a:cs typeface="Times New Roman" panose="02020603050405020304" pitchFamily="18" charset="0"/>
              </a:rPr>
              <a:t>Таблица создается в рамках текущей базы данных. Если мы запускаем окно редактора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SQL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как это сделано выше - из под названия сервера, то база данных по умолчанию не установлена. И для ее установки необходимо применить команду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USE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после которой указывается имя базы данных. Поэтому введем в поле редактора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SQL-</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команд следующие выражения:</a:t>
            </a:r>
            <a:endParaRPr lang="ru-RU" sz="2400" dirty="0">
              <a:latin typeface="Times New Roman" panose="02020603050405020304" pitchFamily="18" charset="0"/>
              <a:cs typeface="Times New Roman" panose="02020603050405020304" pitchFamily="18" charset="0"/>
            </a:endParaRPr>
          </a:p>
        </p:txBody>
      </p:sp>
      <p:graphicFrame>
        <p:nvGraphicFramePr>
          <p:cNvPr id="6" name="Таблица 5">
            <a:extLst>
              <a:ext uri="{FF2B5EF4-FFF2-40B4-BE49-F238E27FC236}">
                <a16:creationId xmlns:a16="http://schemas.microsoft.com/office/drawing/2014/main" id="{08E3A85F-49D5-D89C-A4FA-6EB070918E09}"/>
              </a:ext>
            </a:extLst>
          </p:cNvPr>
          <p:cNvGraphicFramePr>
            <a:graphicFrameLocks noGrp="1"/>
          </p:cNvGraphicFramePr>
          <p:nvPr>
            <p:extLst>
              <p:ext uri="{D42A27DB-BD31-4B8C-83A1-F6EECF244321}">
                <p14:modId xmlns:p14="http://schemas.microsoft.com/office/powerpoint/2010/main" val="1200246171"/>
              </p:ext>
            </p:extLst>
          </p:nvPr>
        </p:nvGraphicFramePr>
        <p:xfrm>
          <a:off x="358253" y="2356056"/>
          <a:ext cx="7747539" cy="4023360"/>
        </p:xfrm>
        <a:graphic>
          <a:graphicData uri="http://schemas.openxmlformats.org/drawingml/2006/table">
            <a:tbl>
              <a:tblPr/>
              <a:tblGrid>
                <a:gridCol w="388734">
                  <a:extLst>
                    <a:ext uri="{9D8B030D-6E8A-4147-A177-3AD203B41FA5}">
                      <a16:colId xmlns:a16="http://schemas.microsoft.com/office/drawing/2014/main" val="2275539290"/>
                    </a:ext>
                  </a:extLst>
                </a:gridCol>
                <a:gridCol w="7358805">
                  <a:extLst>
                    <a:ext uri="{9D8B030D-6E8A-4147-A177-3AD203B41FA5}">
                      <a16:colId xmlns:a16="http://schemas.microsoft.com/office/drawing/2014/main" val="181392500"/>
                    </a:ext>
                  </a:extLst>
                </a:gridCol>
              </a:tblGrid>
              <a:tr h="0">
                <a:tc>
                  <a:txBody>
                    <a:bodyPr/>
                    <a:lstStyle/>
                    <a:p>
                      <a:pPr algn="r" fontAlgn="base"/>
                      <a:r>
                        <a:rPr lang="ru-RU" sz="2400" b="0" i="0">
                          <a:solidFill>
                            <a:srgbClr val="AFAFAF"/>
                          </a:solidFill>
                          <a:effectLst/>
                          <a:latin typeface="var(--code-font-family)"/>
                        </a:rPr>
                        <a:t>1</a:t>
                      </a:r>
                    </a:p>
                    <a:p>
                      <a:pPr algn="r" fontAlgn="base"/>
                      <a:r>
                        <a:rPr lang="ru-RU" sz="2400" b="0" i="0">
                          <a:solidFill>
                            <a:srgbClr val="AFAFAF"/>
                          </a:solidFill>
                          <a:effectLst/>
                          <a:latin typeface="var(--code-font-family)"/>
                        </a:rPr>
                        <a:t>2</a:t>
                      </a:r>
                    </a:p>
                    <a:p>
                      <a:pPr algn="r" fontAlgn="base"/>
                      <a:r>
                        <a:rPr lang="ru-RU" sz="2400" b="0" i="0">
                          <a:solidFill>
                            <a:srgbClr val="AFAFAF"/>
                          </a:solidFill>
                          <a:effectLst/>
                          <a:latin typeface="var(--code-font-family)"/>
                        </a:rPr>
                        <a:t>3</a:t>
                      </a:r>
                    </a:p>
                    <a:p>
                      <a:pPr algn="r" fontAlgn="base"/>
                      <a:r>
                        <a:rPr lang="ru-RU" sz="2400" b="0" i="0">
                          <a:solidFill>
                            <a:srgbClr val="AFAFAF"/>
                          </a:solidFill>
                          <a:effectLst/>
                          <a:latin typeface="var(--code-font-family)"/>
                        </a:rPr>
                        <a:t>4</a:t>
                      </a:r>
                    </a:p>
                    <a:p>
                      <a:pPr algn="r" fontAlgn="base"/>
                      <a:r>
                        <a:rPr lang="ru-RU" sz="2400" b="0" i="0">
                          <a:solidFill>
                            <a:srgbClr val="AFAFAF"/>
                          </a:solidFill>
                          <a:effectLst/>
                          <a:latin typeface="var(--code-font-family)"/>
                        </a:rPr>
                        <a:t>5</a:t>
                      </a:r>
                    </a:p>
                    <a:p>
                      <a:pPr algn="r" fontAlgn="base"/>
                      <a:r>
                        <a:rPr lang="ru-RU" sz="2400" b="0" i="0">
                          <a:solidFill>
                            <a:srgbClr val="AFAFAF"/>
                          </a:solidFill>
                          <a:effectLst/>
                          <a:latin typeface="var(--code-font-family)"/>
                        </a:rPr>
                        <a:t>6</a:t>
                      </a:r>
                    </a:p>
                    <a:p>
                      <a:pPr algn="r" fontAlgn="base"/>
                      <a:r>
                        <a:rPr lang="ru-RU" sz="2400" b="0" i="0">
                          <a:solidFill>
                            <a:srgbClr val="AFAFAF"/>
                          </a:solidFill>
                          <a:effectLst/>
                          <a:latin typeface="var(--code-font-family)"/>
                        </a:rPr>
                        <a:t>7</a:t>
                      </a:r>
                    </a:p>
                    <a:p>
                      <a:pPr algn="r" fontAlgn="base"/>
                      <a:r>
                        <a:rPr lang="ru-RU" sz="2400" b="0" i="0">
                          <a:solidFill>
                            <a:srgbClr val="AFAFAF"/>
                          </a:solidFill>
                          <a:effectLst/>
                          <a:latin typeface="var(--code-font-family)"/>
                        </a:rPr>
                        <a:t>8</a:t>
                      </a:r>
                    </a:p>
                    <a:p>
                      <a:pPr algn="r" fontAlgn="base"/>
                      <a:r>
                        <a:rPr lang="ru-RU" sz="2400" b="0" i="0">
                          <a:solidFill>
                            <a:srgbClr val="AFAFAF"/>
                          </a:solidFill>
                          <a:effectLst/>
                          <a:latin typeface="var(--code-font-family)"/>
                        </a:rPr>
                        <a:t>9</a:t>
                      </a:r>
                    </a:p>
                    <a:p>
                      <a:pPr algn="r" fontAlgn="base"/>
                      <a:r>
                        <a:rPr lang="ru-RU" sz="2400" b="0" i="0">
                          <a:solidFill>
                            <a:srgbClr val="AFAFAF"/>
                          </a:solidFill>
                          <a:effectLst/>
                          <a:latin typeface="var(--code-font-family)"/>
                        </a:rPr>
                        <a:t>10</a:t>
                      </a:r>
                    </a:p>
                    <a:p>
                      <a:pPr algn="r" fontAlgn="base"/>
                      <a:r>
                        <a:rPr lang="ru-RU" sz="2400" b="0" i="0">
                          <a:solidFill>
                            <a:srgbClr val="AFAFAF"/>
                          </a:solidFill>
                          <a:effectLst/>
                          <a:latin typeface="var(--code-font-family)"/>
                        </a:rPr>
                        <a:t>11</a:t>
                      </a:r>
                    </a:p>
                  </a:txBody>
                  <a:tcPr marL="0" marR="0" marT="0" marB="0" anchor="ctr">
                    <a:lnL>
                      <a:noFill/>
                    </a:lnL>
                    <a:lnR>
                      <a:noFill/>
                    </a:lnR>
                    <a:lnT>
                      <a:noFill/>
                    </a:lnT>
                    <a:lnB>
                      <a:noFill/>
                    </a:lnB>
                  </a:tcPr>
                </a:tc>
                <a:tc>
                  <a:txBody>
                    <a:bodyPr/>
                    <a:lstStyle/>
                    <a:p>
                      <a:pPr algn="l" fontAlgn="base"/>
                      <a:r>
                        <a:rPr lang="en" sz="2400" b="0" i="0" dirty="0">
                          <a:effectLst/>
                          <a:latin typeface="var(--code-font-family)"/>
                        </a:rPr>
                        <a:t>USE </a:t>
                      </a:r>
                      <a:r>
                        <a:rPr lang="en" sz="2400" b="0" i="0" dirty="0" err="1">
                          <a:effectLst/>
                          <a:latin typeface="var(--code-font-family)"/>
                        </a:rPr>
                        <a:t>usersdb</a:t>
                      </a:r>
                      <a:r>
                        <a:rPr lang="en" sz="2400" b="0" i="0" dirty="0">
                          <a:effectLst/>
                          <a:latin typeface="var(--code-font-family)"/>
                        </a:rPr>
                        <a:t>;</a:t>
                      </a:r>
                    </a:p>
                    <a:p>
                      <a:pPr algn="l" fontAlgn="base"/>
                      <a:r>
                        <a:rPr lang="en" sz="2400" b="0" i="0" dirty="0">
                          <a:effectLst/>
                          <a:latin typeface="var(--code-font-family)"/>
                        </a:rPr>
                        <a:t> </a:t>
                      </a:r>
                    </a:p>
                    <a:p>
                      <a:pPr algn="l" fontAlgn="base"/>
                      <a:r>
                        <a:rPr lang="en" sz="2400" b="0" i="0" dirty="0">
                          <a:effectLst/>
                          <a:latin typeface="var(--code-font-family)"/>
                        </a:rPr>
                        <a:t>CREATE TABLE Customers</a:t>
                      </a:r>
                    </a:p>
                    <a:p>
                      <a:pPr algn="l" fontAlgn="base"/>
                      <a:r>
                        <a:rPr lang="en" sz="2400" b="0" i="0" dirty="0">
                          <a:effectLst/>
                          <a:latin typeface="var(--code-font-family)"/>
                        </a:rPr>
                        <a:t>(</a:t>
                      </a:r>
                    </a:p>
                    <a:p>
                      <a:pPr algn="l" fontAlgn="base"/>
                      <a:r>
                        <a:rPr lang="en" sz="2400" b="0" i="0" dirty="0">
                          <a:effectLst/>
                          <a:latin typeface="var(--code-font-family)"/>
                        </a:rPr>
                        <a:t>    Id INT,</a:t>
                      </a:r>
                    </a:p>
                    <a:p>
                      <a:pPr algn="l" fontAlgn="base"/>
                      <a:r>
                        <a:rPr lang="en" sz="2400" b="0" i="0" dirty="0">
                          <a:effectLst/>
                          <a:latin typeface="var(--code-font-family)"/>
                        </a:rPr>
                        <a:t>    Age INT,</a:t>
                      </a:r>
                    </a:p>
                    <a:p>
                      <a:pPr algn="l" fontAlgn="base"/>
                      <a:r>
                        <a:rPr lang="en" sz="2400" b="0" i="0" dirty="0">
                          <a:effectLst/>
                          <a:latin typeface="var(--code-font-family)"/>
                        </a:rPr>
                        <a:t>    FirstName NVARCHAR(20),</a:t>
                      </a:r>
                    </a:p>
                    <a:p>
                      <a:pPr algn="l" fontAlgn="base"/>
                      <a:r>
                        <a:rPr lang="en" sz="2400" b="0" i="0" dirty="0">
                          <a:effectLst/>
                          <a:latin typeface="var(--code-font-family)"/>
                        </a:rPr>
                        <a:t>    </a:t>
                      </a:r>
                      <a:r>
                        <a:rPr lang="en" sz="2400" b="0" i="0" dirty="0" err="1">
                          <a:effectLst/>
                          <a:latin typeface="var(--code-font-family)"/>
                        </a:rPr>
                        <a:t>LastName</a:t>
                      </a:r>
                      <a:r>
                        <a:rPr lang="en" sz="2400" b="0" i="0" dirty="0">
                          <a:effectLst/>
                          <a:latin typeface="var(--code-font-family)"/>
                        </a:rPr>
                        <a:t> NVARCHAR(20),</a:t>
                      </a:r>
                    </a:p>
                    <a:p>
                      <a:pPr algn="l" fontAlgn="base"/>
                      <a:r>
                        <a:rPr lang="en" sz="2400" b="0" i="0" dirty="0">
                          <a:effectLst/>
                          <a:latin typeface="var(--code-font-family)"/>
                        </a:rPr>
                        <a:t>    Email VARCHAR(30),</a:t>
                      </a:r>
                    </a:p>
                    <a:p>
                      <a:pPr algn="l" fontAlgn="base"/>
                      <a:r>
                        <a:rPr lang="en" sz="2400" b="0" i="0" dirty="0">
                          <a:effectLst/>
                          <a:latin typeface="var(--code-font-family)"/>
                        </a:rPr>
                        <a:t>    Phone VARCHAR(20)</a:t>
                      </a:r>
                    </a:p>
                    <a:p>
                      <a:pPr algn="l" fontAlgn="base"/>
                      <a:r>
                        <a:rPr lang="en" sz="2400" b="0" i="0" dirty="0">
                          <a:effectLst/>
                          <a:latin typeface="var(--code-font-family)"/>
                        </a:rPr>
                        <a:t>);</a:t>
                      </a:r>
                    </a:p>
                  </a:txBody>
                  <a:tcPr marL="0" marR="0" marT="0" marB="0" anchor="ctr">
                    <a:lnL>
                      <a:noFill/>
                    </a:lnL>
                    <a:lnR>
                      <a:noFill/>
                    </a:lnR>
                    <a:lnT>
                      <a:noFill/>
                    </a:lnT>
                    <a:lnB>
                      <a:noFill/>
                    </a:lnB>
                  </a:tcPr>
                </a:tc>
                <a:extLst>
                  <a:ext uri="{0D108BD9-81ED-4DB2-BD59-A6C34878D82A}">
                    <a16:rowId xmlns:a16="http://schemas.microsoft.com/office/drawing/2014/main" val="3511772922"/>
                  </a:ext>
                </a:extLst>
              </a:tr>
            </a:tbl>
          </a:graphicData>
        </a:graphic>
      </p:graphicFrame>
    </p:spTree>
    <p:extLst>
      <p:ext uri="{BB962C8B-B14F-4D97-AF65-F5344CB8AC3E}">
        <p14:creationId xmlns:p14="http://schemas.microsoft.com/office/powerpoint/2010/main" val="11376130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2322AA-03E7-5677-D19B-5B5EE1D7E190}"/>
              </a:ext>
            </a:extLst>
          </p:cNvPr>
          <p:cNvSpPr txBox="1"/>
          <p:nvPr/>
        </p:nvSpPr>
        <p:spPr>
          <a:xfrm>
            <a:off x="467435" y="461582"/>
            <a:ext cx="11037627" cy="954107"/>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Также можно открыть редактор из под базы данных, также нажав на нее правой кнопкой мыши и выбрав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New Query:</a:t>
            </a:r>
            <a:endParaRPr lang="ru-RU" sz="2800" dirty="0">
              <a:latin typeface="Times New Roman" panose="02020603050405020304" pitchFamily="18" charset="0"/>
              <a:cs typeface="Times New Roman" panose="02020603050405020304" pitchFamily="18" charset="0"/>
            </a:endParaRPr>
          </a:p>
        </p:txBody>
      </p:sp>
      <p:pic>
        <p:nvPicPr>
          <p:cNvPr id="24578" name="Picture 2" descr="Создание таблицы в MS SQL Server 2016">
            <a:extLst>
              <a:ext uri="{FF2B5EF4-FFF2-40B4-BE49-F238E27FC236}">
                <a16:creationId xmlns:a16="http://schemas.microsoft.com/office/drawing/2014/main" id="{A1673B9C-DDC3-73CF-8F25-9C6F6241E6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8548" y="1684718"/>
            <a:ext cx="4533900" cy="471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3863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D4018A-DB9F-6E26-0C85-3C34CBF63355}"/>
              </a:ext>
            </a:extLst>
          </p:cNvPr>
          <p:cNvSpPr txBox="1"/>
          <p:nvPr/>
        </p:nvSpPr>
        <p:spPr>
          <a:xfrm>
            <a:off x="344605" y="268490"/>
            <a:ext cx="10682785" cy="1384995"/>
          </a:xfrm>
          <a:prstGeom prst="rect">
            <a:avLst/>
          </a:prstGeom>
          <a:noFill/>
        </p:spPr>
        <p:txBody>
          <a:bodyPr wrap="square">
            <a:spAutoFit/>
          </a:bodyPr>
          <a:lstStyle/>
          <a:p>
            <a:pPr algn="just"/>
            <a:r>
              <a:rPr lang="ru-RU" sz="2800" b="1" i="0" u="none" strike="noStrike" dirty="0">
                <a:solidFill>
                  <a:srgbClr val="000000"/>
                </a:solidFill>
                <a:effectLst/>
                <a:latin typeface="Times New Roman" panose="02020603050405020304" pitchFamily="18" charset="0"/>
                <a:cs typeface="Times New Roman" panose="02020603050405020304" pitchFamily="18" charset="0"/>
              </a:rPr>
              <a:t>Удаление таблиц</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Для удаления таблиц используется команда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DROP TABLE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которая имеет следующий синтаксис:      </a:t>
            </a:r>
          </a:p>
        </p:txBody>
      </p:sp>
      <p:graphicFrame>
        <p:nvGraphicFramePr>
          <p:cNvPr id="6" name="Таблица 5">
            <a:extLst>
              <a:ext uri="{FF2B5EF4-FFF2-40B4-BE49-F238E27FC236}">
                <a16:creationId xmlns:a16="http://schemas.microsoft.com/office/drawing/2014/main" id="{CD8B8BDC-0EAB-C2B9-1C85-56E57BA2A40B}"/>
              </a:ext>
            </a:extLst>
          </p:cNvPr>
          <p:cNvGraphicFramePr>
            <a:graphicFrameLocks noGrp="1"/>
          </p:cNvGraphicFramePr>
          <p:nvPr>
            <p:extLst>
              <p:ext uri="{D42A27DB-BD31-4B8C-83A1-F6EECF244321}">
                <p14:modId xmlns:p14="http://schemas.microsoft.com/office/powerpoint/2010/main" val="884749586"/>
              </p:ext>
            </p:extLst>
          </p:nvPr>
        </p:nvGraphicFramePr>
        <p:xfrm>
          <a:off x="344605" y="1871561"/>
          <a:ext cx="7747540" cy="365760"/>
        </p:xfrm>
        <a:graphic>
          <a:graphicData uri="http://schemas.openxmlformats.org/drawingml/2006/table">
            <a:tbl>
              <a:tblPr/>
              <a:tblGrid>
                <a:gridCol w="308667">
                  <a:extLst>
                    <a:ext uri="{9D8B030D-6E8A-4147-A177-3AD203B41FA5}">
                      <a16:colId xmlns:a16="http://schemas.microsoft.com/office/drawing/2014/main" val="2792315431"/>
                    </a:ext>
                  </a:extLst>
                </a:gridCol>
                <a:gridCol w="7438873">
                  <a:extLst>
                    <a:ext uri="{9D8B030D-6E8A-4147-A177-3AD203B41FA5}">
                      <a16:colId xmlns:a16="http://schemas.microsoft.com/office/drawing/2014/main" val="99620260"/>
                    </a:ext>
                  </a:extLst>
                </a:gridCol>
              </a:tblGrid>
              <a:tr h="0">
                <a:tc>
                  <a:txBody>
                    <a:bodyPr/>
                    <a:lstStyle/>
                    <a:p>
                      <a:pPr algn="r" fontAlgn="base"/>
                      <a:r>
                        <a:rPr lang="ru-RU" sz="2400" b="0" i="0">
                          <a:solidFill>
                            <a:srgbClr val="AFAFAF"/>
                          </a:solidFill>
                          <a:effectLst/>
                          <a:latin typeface="var(--code-font-family)"/>
                        </a:rPr>
                        <a:t>1</a:t>
                      </a:r>
                    </a:p>
                  </a:txBody>
                  <a:tcPr marL="0" marR="0" marT="0" marB="0" anchor="ctr">
                    <a:lnL>
                      <a:noFill/>
                    </a:lnL>
                    <a:lnR>
                      <a:noFill/>
                    </a:lnR>
                    <a:lnT>
                      <a:noFill/>
                    </a:lnT>
                    <a:lnB>
                      <a:noFill/>
                    </a:lnB>
                    <a:solidFill>
                      <a:srgbClr val="F7F7FA"/>
                    </a:solidFill>
                  </a:tcPr>
                </a:tc>
                <a:tc>
                  <a:txBody>
                    <a:bodyPr/>
                    <a:lstStyle/>
                    <a:p>
                      <a:pPr algn="l" fontAlgn="base"/>
                      <a:r>
                        <a:rPr lang="ru-RU" sz="2400" b="0" i="0" dirty="0">
                          <a:effectLst/>
                          <a:latin typeface="var(--code-font-family)"/>
                        </a:rPr>
                        <a:t>  </a:t>
                      </a:r>
                      <a:r>
                        <a:rPr lang="en" sz="2400" b="0" i="0" dirty="0">
                          <a:effectLst/>
                          <a:latin typeface="var(--code-font-family)"/>
                        </a:rPr>
                        <a:t>DROP TABLE table1 [, table2, ...]</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349647116"/>
                  </a:ext>
                </a:extLst>
              </a:tr>
            </a:tbl>
          </a:graphicData>
        </a:graphic>
      </p:graphicFrame>
      <p:sp>
        <p:nvSpPr>
          <p:cNvPr id="8" name="TextBox 7">
            <a:extLst>
              <a:ext uri="{FF2B5EF4-FFF2-40B4-BE49-F238E27FC236}">
                <a16:creationId xmlns:a16="http://schemas.microsoft.com/office/drawing/2014/main" id="{DEB14A6D-5038-BBBA-F7A8-41536B40E756}"/>
              </a:ext>
            </a:extLst>
          </p:cNvPr>
          <p:cNvSpPr txBox="1"/>
          <p:nvPr/>
        </p:nvSpPr>
        <p:spPr>
          <a:xfrm>
            <a:off x="344605" y="2592653"/>
            <a:ext cx="10000398" cy="523220"/>
          </a:xfrm>
          <a:prstGeom prst="rect">
            <a:avLst/>
          </a:prstGeom>
          <a:noFill/>
        </p:spPr>
        <p:txBody>
          <a:bodyPr wrap="square">
            <a:spAutoFit/>
          </a:bodyPr>
          <a:lstStyle/>
          <a:p>
            <a:r>
              <a:rPr lang="ru-RU" sz="2800" b="0" i="0" u="none" strike="noStrike" dirty="0">
                <a:solidFill>
                  <a:srgbClr val="000000"/>
                </a:solidFill>
                <a:effectLst/>
                <a:latin typeface="Times New Roman" panose="02020603050405020304" pitchFamily="18" charset="0"/>
                <a:cs typeface="Times New Roman" panose="02020603050405020304" pitchFamily="18" charset="0"/>
              </a:rPr>
              <a:t>Например, удаление таблицы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Customers:</a:t>
            </a:r>
            <a:endParaRPr lang="ru-RU" sz="2800" dirty="0">
              <a:latin typeface="Times New Roman" panose="02020603050405020304" pitchFamily="18" charset="0"/>
              <a:cs typeface="Times New Roman" panose="02020603050405020304" pitchFamily="18" charset="0"/>
            </a:endParaRPr>
          </a:p>
        </p:txBody>
      </p:sp>
      <p:graphicFrame>
        <p:nvGraphicFramePr>
          <p:cNvPr id="9" name="Таблица 8">
            <a:extLst>
              <a:ext uri="{FF2B5EF4-FFF2-40B4-BE49-F238E27FC236}">
                <a16:creationId xmlns:a16="http://schemas.microsoft.com/office/drawing/2014/main" id="{310A5450-B89D-02CF-4BA2-74EF956F2696}"/>
              </a:ext>
            </a:extLst>
          </p:cNvPr>
          <p:cNvGraphicFramePr>
            <a:graphicFrameLocks noGrp="1"/>
          </p:cNvGraphicFramePr>
          <p:nvPr>
            <p:extLst>
              <p:ext uri="{D42A27DB-BD31-4B8C-83A1-F6EECF244321}">
                <p14:modId xmlns:p14="http://schemas.microsoft.com/office/powerpoint/2010/main" val="3360194434"/>
              </p:ext>
            </p:extLst>
          </p:nvPr>
        </p:nvGraphicFramePr>
        <p:xfrm>
          <a:off x="344605" y="3176489"/>
          <a:ext cx="7747540" cy="365760"/>
        </p:xfrm>
        <a:graphic>
          <a:graphicData uri="http://schemas.openxmlformats.org/drawingml/2006/table">
            <a:tbl>
              <a:tblPr/>
              <a:tblGrid>
                <a:gridCol w="308667">
                  <a:extLst>
                    <a:ext uri="{9D8B030D-6E8A-4147-A177-3AD203B41FA5}">
                      <a16:colId xmlns:a16="http://schemas.microsoft.com/office/drawing/2014/main" val="482585300"/>
                    </a:ext>
                  </a:extLst>
                </a:gridCol>
                <a:gridCol w="7438873">
                  <a:extLst>
                    <a:ext uri="{9D8B030D-6E8A-4147-A177-3AD203B41FA5}">
                      <a16:colId xmlns:a16="http://schemas.microsoft.com/office/drawing/2014/main" val="3259272241"/>
                    </a:ext>
                  </a:extLst>
                </a:gridCol>
              </a:tblGrid>
              <a:tr h="0">
                <a:tc>
                  <a:txBody>
                    <a:bodyPr/>
                    <a:lstStyle/>
                    <a:p>
                      <a:pPr algn="r" fontAlgn="base"/>
                      <a:r>
                        <a:rPr lang="ru-RU" sz="2400" b="0" i="0" dirty="0">
                          <a:solidFill>
                            <a:srgbClr val="AFAFAF"/>
                          </a:solidFill>
                          <a:effectLst/>
                          <a:latin typeface="var(--code-font-family)"/>
                        </a:rPr>
                        <a:t>1</a:t>
                      </a:r>
                    </a:p>
                  </a:txBody>
                  <a:tcPr marL="0" marR="0" marT="0" marB="0" anchor="ctr">
                    <a:lnL>
                      <a:noFill/>
                    </a:lnL>
                    <a:lnR>
                      <a:noFill/>
                    </a:lnR>
                    <a:lnT>
                      <a:noFill/>
                    </a:lnT>
                    <a:lnB>
                      <a:noFill/>
                    </a:lnB>
                    <a:solidFill>
                      <a:srgbClr val="F7F7FA"/>
                    </a:solidFill>
                  </a:tcPr>
                </a:tc>
                <a:tc>
                  <a:txBody>
                    <a:bodyPr/>
                    <a:lstStyle/>
                    <a:p>
                      <a:pPr algn="l" fontAlgn="base"/>
                      <a:r>
                        <a:rPr lang="ru-RU" sz="2400" b="0" i="0" dirty="0">
                          <a:effectLst/>
                          <a:latin typeface="var(--code-font-family)"/>
                        </a:rPr>
                        <a:t>  </a:t>
                      </a:r>
                      <a:r>
                        <a:rPr lang="en" sz="2400" b="0" i="0" dirty="0">
                          <a:effectLst/>
                          <a:latin typeface="var(--code-font-family)"/>
                        </a:rPr>
                        <a:t>DROP TABLE Customers</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650196619"/>
                  </a:ext>
                </a:extLst>
              </a:tr>
            </a:tbl>
          </a:graphicData>
        </a:graphic>
      </p:graphicFrame>
      <p:sp>
        <p:nvSpPr>
          <p:cNvPr id="11" name="TextBox 10">
            <a:extLst>
              <a:ext uri="{FF2B5EF4-FFF2-40B4-BE49-F238E27FC236}">
                <a16:creationId xmlns:a16="http://schemas.microsoft.com/office/drawing/2014/main" id="{5EEFE8B4-7286-9DD9-D275-4DBEA7F73E59}"/>
              </a:ext>
            </a:extLst>
          </p:cNvPr>
          <p:cNvSpPr txBox="1"/>
          <p:nvPr/>
        </p:nvSpPr>
        <p:spPr>
          <a:xfrm>
            <a:off x="535674" y="3812864"/>
            <a:ext cx="10682785" cy="1569660"/>
          </a:xfrm>
          <a:prstGeom prst="rect">
            <a:avLst/>
          </a:prstGeom>
          <a:noFill/>
        </p:spPr>
        <p:txBody>
          <a:bodyPr wrap="square">
            <a:spAutoFit/>
          </a:bodyPr>
          <a:lstStyle/>
          <a:p>
            <a:pPr algn="l"/>
            <a:r>
              <a:rPr lang="ru-RU" sz="2400" b="1" i="0" u="none" strike="noStrike" dirty="0">
                <a:solidFill>
                  <a:srgbClr val="000000"/>
                </a:solidFill>
                <a:effectLst/>
                <a:latin typeface="Times New Roman" panose="02020603050405020304" pitchFamily="18" charset="0"/>
                <a:cs typeface="Times New Roman" panose="02020603050405020304" pitchFamily="18" charset="0"/>
              </a:rPr>
              <a:t>Переименование таблицы</a:t>
            </a:r>
          </a:p>
          <a:p>
            <a:pPr algn="l"/>
            <a:r>
              <a:rPr lang="ru-RU" sz="2400" b="0" i="0" u="none" strike="noStrike" dirty="0">
                <a:solidFill>
                  <a:srgbClr val="000000"/>
                </a:solidFill>
                <a:effectLst/>
                <a:latin typeface="Times New Roman" panose="02020603050405020304" pitchFamily="18" charset="0"/>
                <a:cs typeface="Times New Roman" panose="02020603050405020304" pitchFamily="18" charset="0"/>
              </a:rPr>
              <a:t>Для переименования таблиц применяется системная хранимая процедура "</a:t>
            </a:r>
            <a:r>
              <a:rPr lang="en" sz="2400" b="0" i="0" u="none" strike="noStrike" dirty="0" err="1">
                <a:solidFill>
                  <a:srgbClr val="000000"/>
                </a:solidFill>
                <a:effectLst/>
                <a:latin typeface="Times New Roman" panose="02020603050405020304" pitchFamily="18" charset="0"/>
                <a:cs typeface="Times New Roman" panose="02020603050405020304" pitchFamily="18" charset="0"/>
              </a:rPr>
              <a:t>sp_rename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Например, переименование таблицы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Users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в </a:t>
            </a:r>
            <a:r>
              <a:rPr lang="en" sz="2400" b="0" i="0" u="none" strike="noStrike" dirty="0" err="1">
                <a:solidFill>
                  <a:srgbClr val="000000"/>
                </a:solidFill>
                <a:effectLst/>
                <a:latin typeface="Times New Roman" panose="02020603050405020304" pitchFamily="18" charset="0"/>
                <a:cs typeface="Times New Roman" panose="02020603050405020304" pitchFamily="18" charset="0"/>
              </a:rPr>
              <a:t>UserAccounts</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в базе данных </a:t>
            </a:r>
            <a:r>
              <a:rPr lang="en" sz="2400" b="0" i="0" u="none" strike="noStrike" dirty="0" err="1">
                <a:solidFill>
                  <a:srgbClr val="000000"/>
                </a:solidFill>
                <a:effectLst/>
                <a:latin typeface="Times New Roman" panose="02020603050405020304" pitchFamily="18" charset="0"/>
                <a:cs typeface="Times New Roman" panose="02020603050405020304" pitchFamily="18" charset="0"/>
              </a:rPr>
              <a:t>usersdb</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a:t>
            </a:r>
          </a:p>
        </p:txBody>
      </p:sp>
      <p:graphicFrame>
        <p:nvGraphicFramePr>
          <p:cNvPr id="12" name="Таблица 11">
            <a:extLst>
              <a:ext uri="{FF2B5EF4-FFF2-40B4-BE49-F238E27FC236}">
                <a16:creationId xmlns:a16="http://schemas.microsoft.com/office/drawing/2014/main" id="{8C20CB2D-DCCF-101A-7848-A861CCFC617A}"/>
              </a:ext>
            </a:extLst>
          </p:cNvPr>
          <p:cNvGraphicFramePr>
            <a:graphicFrameLocks noGrp="1"/>
          </p:cNvGraphicFramePr>
          <p:nvPr>
            <p:extLst>
              <p:ext uri="{D42A27DB-BD31-4B8C-83A1-F6EECF244321}">
                <p14:modId xmlns:p14="http://schemas.microsoft.com/office/powerpoint/2010/main" val="3209450657"/>
              </p:ext>
            </p:extLst>
          </p:nvPr>
        </p:nvGraphicFramePr>
        <p:xfrm>
          <a:off x="707328" y="5577514"/>
          <a:ext cx="7747540" cy="731520"/>
        </p:xfrm>
        <a:graphic>
          <a:graphicData uri="http://schemas.openxmlformats.org/drawingml/2006/table">
            <a:tbl>
              <a:tblPr/>
              <a:tblGrid>
                <a:gridCol w="308667">
                  <a:extLst>
                    <a:ext uri="{9D8B030D-6E8A-4147-A177-3AD203B41FA5}">
                      <a16:colId xmlns:a16="http://schemas.microsoft.com/office/drawing/2014/main" val="3780973981"/>
                    </a:ext>
                  </a:extLst>
                </a:gridCol>
                <a:gridCol w="7438873">
                  <a:extLst>
                    <a:ext uri="{9D8B030D-6E8A-4147-A177-3AD203B41FA5}">
                      <a16:colId xmlns:a16="http://schemas.microsoft.com/office/drawing/2014/main" val="2971550556"/>
                    </a:ext>
                  </a:extLst>
                </a:gridCol>
              </a:tblGrid>
              <a:tr h="0">
                <a:tc>
                  <a:txBody>
                    <a:bodyPr/>
                    <a:lstStyle/>
                    <a:p>
                      <a:pPr algn="r" fontAlgn="base"/>
                      <a:r>
                        <a:rPr lang="ru-RU" b="0" i="0">
                          <a:solidFill>
                            <a:srgbClr val="AFAFAF"/>
                          </a:solidFill>
                          <a:effectLst/>
                          <a:latin typeface="var(--code-font-family)"/>
                        </a:rPr>
                        <a:t>1</a:t>
                      </a:r>
                    </a:p>
                    <a:p>
                      <a:pPr algn="r" fontAlgn="base"/>
                      <a:r>
                        <a:rPr lang="ru-RU" b="0" i="0">
                          <a:solidFill>
                            <a:srgbClr val="AFAFAF"/>
                          </a:solidFill>
                          <a:effectLst/>
                          <a:latin typeface="var(--code-font-family)"/>
                        </a:rPr>
                        <a:t>2</a:t>
                      </a:r>
                    </a:p>
                  </a:txBody>
                  <a:tcPr marL="0" marR="0" marT="0" marB="0" anchor="ctr">
                    <a:lnL>
                      <a:noFill/>
                    </a:lnL>
                    <a:lnR>
                      <a:noFill/>
                    </a:lnR>
                    <a:lnT>
                      <a:noFill/>
                    </a:lnT>
                    <a:lnB>
                      <a:noFill/>
                    </a:lnB>
                    <a:solidFill>
                      <a:srgbClr val="F7F7FA"/>
                    </a:solidFill>
                  </a:tcPr>
                </a:tc>
                <a:tc>
                  <a:txBody>
                    <a:bodyPr/>
                    <a:lstStyle/>
                    <a:p>
                      <a:pPr algn="l" fontAlgn="base"/>
                      <a:r>
                        <a:rPr lang="ru-RU" b="0" i="0" dirty="0">
                          <a:effectLst/>
                          <a:latin typeface="var(--code-font-family)"/>
                        </a:rPr>
                        <a:t>  </a:t>
                      </a:r>
                      <a:r>
                        <a:rPr lang="en" sz="2400" b="0" i="0" dirty="0">
                          <a:effectLst/>
                          <a:latin typeface="var(--code-font-family)"/>
                        </a:rPr>
                        <a:t>USE </a:t>
                      </a:r>
                      <a:r>
                        <a:rPr lang="en" sz="2400" b="0" i="0" dirty="0" err="1">
                          <a:effectLst/>
                          <a:latin typeface="var(--code-font-family)"/>
                        </a:rPr>
                        <a:t>usersdb</a:t>
                      </a:r>
                      <a:r>
                        <a:rPr lang="en" sz="2400" b="0" i="0" dirty="0">
                          <a:effectLst/>
                          <a:latin typeface="var(--code-font-family)"/>
                        </a:rPr>
                        <a:t>;</a:t>
                      </a:r>
                    </a:p>
                    <a:p>
                      <a:pPr algn="l" fontAlgn="base"/>
                      <a:r>
                        <a:rPr lang="ru-RU" sz="2400" b="0" i="0" dirty="0">
                          <a:effectLst/>
                          <a:latin typeface="var(--code-font-family)"/>
                        </a:rPr>
                        <a:t>  </a:t>
                      </a:r>
                      <a:r>
                        <a:rPr lang="en" sz="2400" b="0" i="0" dirty="0">
                          <a:effectLst/>
                          <a:latin typeface="var(--code-font-family)"/>
                        </a:rPr>
                        <a:t>EXEC </a:t>
                      </a:r>
                      <a:r>
                        <a:rPr lang="en" sz="2400" b="0" i="0" dirty="0" err="1">
                          <a:effectLst/>
                          <a:latin typeface="var(--code-font-family)"/>
                        </a:rPr>
                        <a:t>sp_rename</a:t>
                      </a:r>
                      <a:r>
                        <a:rPr lang="en" sz="2400" b="0" i="0" dirty="0">
                          <a:effectLst/>
                          <a:latin typeface="var(--code-font-family)"/>
                        </a:rPr>
                        <a:t> 'Users', '</a:t>
                      </a:r>
                      <a:r>
                        <a:rPr lang="en" sz="2400" b="0" i="0" dirty="0" err="1">
                          <a:effectLst/>
                          <a:latin typeface="var(--code-font-family)"/>
                        </a:rPr>
                        <a:t>UserAccounts</a:t>
                      </a:r>
                      <a:r>
                        <a:rPr lang="en" sz="2400" b="0" i="0" dirty="0">
                          <a:effectLst/>
                          <a:latin typeface="var(--code-font-family)"/>
                        </a:rPr>
                        <a:t>';</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837478432"/>
                  </a:ext>
                </a:extLst>
              </a:tr>
            </a:tbl>
          </a:graphicData>
        </a:graphic>
      </p:graphicFrame>
    </p:spTree>
    <p:extLst>
      <p:ext uri="{BB962C8B-B14F-4D97-AF65-F5344CB8AC3E}">
        <p14:creationId xmlns:p14="http://schemas.microsoft.com/office/powerpoint/2010/main" val="2832899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A14FBA-FAD2-3C60-F07F-41A918F2C4D0}"/>
              </a:ext>
            </a:extLst>
          </p:cNvPr>
          <p:cNvSpPr txBox="1"/>
          <p:nvPr/>
        </p:nvSpPr>
        <p:spPr>
          <a:xfrm>
            <a:off x="3565477" y="217943"/>
            <a:ext cx="6093724" cy="523220"/>
          </a:xfrm>
          <a:prstGeom prst="rect">
            <a:avLst/>
          </a:prstGeom>
          <a:noFill/>
        </p:spPr>
        <p:txBody>
          <a:bodyPr wrap="square">
            <a:spAutoFit/>
          </a:bodyPr>
          <a:lstStyle/>
          <a:p>
            <a:pPr algn="l"/>
            <a:r>
              <a:rPr lang="ru-RU" sz="2800" b="1" i="0" u="none" strike="noStrike" dirty="0">
                <a:solidFill>
                  <a:srgbClr val="000000"/>
                </a:solidFill>
                <a:effectLst/>
                <a:latin typeface="Times New Roman" panose="02020603050405020304" pitchFamily="18" charset="0"/>
                <a:cs typeface="Times New Roman" panose="02020603050405020304" pitchFamily="18" charset="0"/>
              </a:rPr>
              <a:t>Типы данных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T-SQL</a:t>
            </a:r>
          </a:p>
        </p:txBody>
      </p:sp>
      <p:sp>
        <p:nvSpPr>
          <p:cNvPr id="7" name="TextBox 6">
            <a:extLst>
              <a:ext uri="{FF2B5EF4-FFF2-40B4-BE49-F238E27FC236}">
                <a16:creationId xmlns:a16="http://schemas.microsoft.com/office/drawing/2014/main" id="{68ADF9AF-06DF-AB9C-35B6-F0C97AC68879}"/>
              </a:ext>
            </a:extLst>
          </p:cNvPr>
          <p:cNvSpPr txBox="1"/>
          <p:nvPr/>
        </p:nvSpPr>
        <p:spPr>
          <a:xfrm>
            <a:off x="327546" y="754756"/>
            <a:ext cx="11559654" cy="6124754"/>
          </a:xfrm>
          <a:prstGeom prst="rect">
            <a:avLst/>
          </a:prstGeom>
          <a:noFill/>
        </p:spPr>
        <p:txBody>
          <a:bodyPr wrap="square">
            <a:spAutoFit/>
          </a:bodyPr>
          <a:lstStyle/>
          <a:p>
            <a:pPr algn="just"/>
            <a:r>
              <a:rPr lang="ru-RU" sz="2800" b="1" i="0" u="none" strike="noStrike" dirty="0">
                <a:solidFill>
                  <a:srgbClr val="000000"/>
                </a:solidFill>
                <a:effectLst/>
                <a:latin typeface="Times New Roman" panose="02020603050405020304" pitchFamily="18" charset="0"/>
                <a:cs typeface="Times New Roman" panose="02020603050405020304" pitchFamily="18" charset="0"/>
              </a:rPr>
              <a:t>Числовые типы данных</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BIT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хранит значение от 0 до 16. Может выступать аналогом </a:t>
            </a:r>
            <a:r>
              <a:rPr lang="ru-RU" sz="2800" b="0" i="0" u="none" strike="noStrike" dirty="0" err="1">
                <a:solidFill>
                  <a:srgbClr val="000000"/>
                </a:solidFill>
                <a:effectLst/>
                <a:latin typeface="Times New Roman" panose="02020603050405020304" pitchFamily="18" charset="0"/>
                <a:cs typeface="Times New Roman" panose="02020603050405020304" pitchFamily="18" charset="0"/>
              </a:rPr>
              <a:t>булевого</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 типа в языках программирования (в этом случае значению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true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соответствует 1, а значению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false - 0).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При значениях до 8 (включительно) занимает 1 байт, при значениях от 9 до 16 - 2 байта.</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TINYINT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хранит числа от 0 до 255. Занимает 1 байт. Хорошо подходит для хранения небольших чисел.</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SMALLINT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хранит числа от –32 768 до 32 767. Занимает 2 байта</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INT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хранит числа от –2 147 483 648 до 2 147 483 647. Занимает 4 байта. Наиболее используемый тип для хранения чисел.</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BIGINT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хранит очень большие числа от -9 223 372 036 854 775 808 до 9 223 372 036 854 775 807, которые занимают в памяти 8 байт.</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DECIMAL</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хранит числа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c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фиксированной точностью. Занимает от 5 до 17 байт в зависимости от количества чисел после запятой.</a:t>
            </a:r>
          </a:p>
        </p:txBody>
      </p:sp>
    </p:spTree>
    <p:extLst>
      <p:ext uri="{BB962C8B-B14F-4D97-AF65-F5344CB8AC3E}">
        <p14:creationId xmlns:p14="http://schemas.microsoft.com/office/powerpoint/2010/main" val="34243884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AC5A01-BCC2-16E3-1FD9-D4A5D2BA0445}"/>
              </a:ext>
            </a:extLst>
          </p:cNvPr>
          <p:cNvSpPr txBox="1"/>
          <p:nvPr/>
        </p:nvSpPr>
        <p:spPr>
          <a:xfrm>
            <a:off x="268406" y="302359"/>
            <a:ext cx="11655188" cy="6555641"/>
          </a:xfrm>
          <a:prstGeom prst="rect">
            <a:avLst/>
          </a:prstGeom>
          <a:noFill/>
        </p:spPr>
        <p:txBody>
          <a:bodyPr wrap="square">
            <a:spAutoFit/>
          </a:bodyPr>
          <a:lstStyle/>
          <a:p>
            <a:pPr algn="just">
              <a:buFont typeface="Arial" panose="020B0604020202020204" pitchFamily="34" charset="0"/>
              <a:buChar char="•"/>
            </a:pPr>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Данный тип может принимать два параметра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precision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scale: DECIMAL(precision, scale).</a:t>
            </a:r>
          </a:p>
          <a:p>
            <a:pPr algn="just">
              <a:buFont typeface="Arial" panose="020B0604020202020204" pitchFamily="34" charset="0"/>
              <a:buChar char="•"/>
            </a:pP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Параметр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precision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представляет максимальное количество цифр, которые может хранить число. Это значение должно находиться в диапазоне от 1 до 38. По умолчанию оно равно 18.</a:t>
            </a:r>
          </a:p>
          <a:p>
            <a:pPr algn="just">
              <a:buFont typeface="Arial" panose="020B0604020202020204" pitchFamily="34" charset="0"/>
              <a:buChar char="•"/>
            </a:pP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Параметр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scale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представляет макс. Кол-во цифр, которые может содержать число после запятой. Это значение должно находиться в диапазоне от 0 до значения параметра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precision.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 умолчанию оно равно 0.</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NUMERIC</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данный тип аналогичен типу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DECIMAL.</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SMALLMONEY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хранит дробные значения от -214 748.3648 до 214 748.3647. Предназначено для хранения денежных величин. </a:t>
            </a:r>
            <a:endParaRPr lang="en" sz="28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MONEY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хранит дробные значения Представляет денежные величины и занимает 8 байт. Эквивалентен типу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DECIMAL(19,4).</a:t>
            </a:r>
          </a:p>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FLOAT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хранит числа от –1.79</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E+308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до 1.79</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E+308.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Занимает от 4 до 8 байт в зависимости от дробной части.</a:t>
            </a:r>
          </a:p>
        </p:txBody>
      </p:sp>
    </p:spTree>
    <p:extLst>
      <p:ext uri="{BB962C8B-B14F-4D97-AF65-F5344CB8AC3E}">
        <p14:creationId xmlns:p14="http://schemas.microsoft.com/office/powerpoint/2010/main" val="23947208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7A077F-CE7F-CD63-5C6D-38467F95D042}"/>
              </a:ext>
            </a:extLst>
          </p:cNvPr>
          <p:cNvSpPr txBox="1"/>
          <p:nvPr/>
        </p:nvSpPr>
        <p:spPr>
          <a:xfrm>
            <a:off x="385550" y="396882"/>
            <a:ext cx="11365172" cy="2308324"/>
          </a:xfrm>
          <a:prstGeom prst="rect">
            <a:avLst/>
          </a:prstGeom>
          <a:noFill/>
        </p:spPr>
        <p:txBody>
          <a:bodyPr wrap="square">
            <a:spAutoFit/>
          </a:bodyPr>
          <a:lstStyle/>
          <a:p>
            <a:pPr algn="just">
              <a:buFont typeface="Arial" panose="020B0604020202020204" pitchFamily="34" charset="0"/>
              <a:buChar char="•"/>
            </a:pPr>
            <a:r>
              <a:rPr lang="ru-RU" sz="2400" b="0" i="0" u="none" strike="noStrike" dirty="0">
                <a:solidFill>
                  <a:srgbClr val="000000"/>
                </a:solidFill>
                <a:effectLst/>
                <a:latin typeface="Times New Roman" panose="02020603050405020304" pitchFamily="18" charset="0"/>
                <a:cs typeface="Times New Roman" panose="02020603050405020304" pitchFamily="18" charset="0"/>
              </a:rPr>
              <a:t>Может иметь форму </a:t>
            </a:r>
            <a:r>
              <a:rPr lang="ru-RU" sz="2400" b="0" i="0" u="none" strike="noStrike" dirty="0" err="1">
                <a:solidFill>
                  <a:srgbClr val="000000"/>
                </a:solidFill>
                <a:effectLst/>
                <a:latin typeface="Times New Roman" panose="02020603050405020304" pitchFamily="18" charset="0"/>
                <a:cs typeface="Times New Roman" panose="02020603050405020304" pitchFamily="18" charset="0"/>
              </a:rPr>
              <a:t>опредеения</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 в виде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FLOAT(n),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где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n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представляет число бит, которые используются для хранения десятичной части числа (мантиссы). По умолчанию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n = 53.</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REAL</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числа от –340</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E+38 to 3.40E+38.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Занимает 4 байта. Эквивалентен типу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FLOAT(24).</a:t>
            </a:r>
          </a:p>
          <a:p>
            <a:pPr algn="just"/>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Примеры числовых столбцов:</a:t>
            </a:r>
            <a:endParaRPr lang="ru-RU" sz="2400" dirty="0">
              <a:latin typeface="Times New Roman" panose="02020603050405020304" pitchFamily="18" charset="0"/>
              <a:cs typeface="Times New Roman" panose="02020603050405020304" pitchFamily="18" charset="0"/>
            </a:endParaRPr>
          </a:p>
        </p:txBody>
      </p:sp>
      <p:graphicFrame>
        <p:nvGraphicFramePr>
          <p:cNvPr id="6" name="Таблица 5">
            <a:extLst>
              <a:ext uri="{FF2B5EF4-FFF2-40B4-BE49-F238E27FC236}">
                <a16:creationId xmlns:a16="http://schemas.microsoft.com/office/drawing/2014/main" id="{F291780A-C879-20E7-D614-208551B6E6FA}"/>
              </a:ext>
            </a:extLst>
          </p:cNvPr>
          <p:cNvGraphicFramePr>
            <a:graphicFrameLocks noGrp="1"/>
          </p:cNvGraphicFramePr>
          <p:nvPr>
            <p:extLst>
              <p:ext uri="{D42A27DB-BD31-4B8C-83A1-F6EECF244321}">
                <p14:modId xmlns:p14="http://schemas.microsoft.com/office/powerpoint/2010/main" val="3254987378"/>
              </p:ext>
            </p:extLst>
          </p:nvPr>
        </p:nvGraphicFramePr>
        <p:xfrm>
          <a:off x="639089" y="2880360"/>
          <a:ext cx="7747540" cy="1463040"/>
        </p:xfrm>
        <a:graphic>
          <a:graphicData uri="http://schemas.openxmlformats.org/drawingml/2006/table">
            <a:tbl>
              <a:tblPr/>
              <a:tblGrid>
                <a:gridCol w="308667">
                  <a:extLst>
                    <a:ext uri="{9D8B030D-6E8A-4147-A177-3AD203B41FA5}">
                      <a16:colId xmlns:a16="http://schemas.microsoft.com/office/drawing/2014/main" val="1265244674"/>
                    </a:ext>
                  </a:extLst>
                </a:gridCol>
                <a:gridCol w="7438873">
                  <a:extLst>
                    <a:ext uri="{9D8B030D-6E8A-4147-A177-3AD203B41FA5}">
                      <a16:colId xmlns:a16="http://schemas.microsoft.com/office/drawing/2014/main" val="2607952011"/>
                    </a:ext>
                  </a:extLst>
                </a:gridCol>
              </a:tblGrid>
              <a:tr h="0">
                <a:tc>
                  <a:txBody>
                    <a:bodyPr/>
                    <a:lstStyle/>
                    <a:p>
                      <a:pPr algn="r" fontAlgn="base"/>
                      <a:r>
                        <a:rPr lang="ru-RU" sz="2400" b="0" i="0">
                          <a:solidFill>
                            <a:srgbClr val="AFAFAF"/>
                          </a:solidFill>
                          <a:effectLst/>
                          <a:latin typeface="var(--code-font-family)"/>
                        </a:rPr>
                        <a:t>1</a:t>
                      </a:r>
                    </a:p>
                    <a:p>
                      <a:pPr algn="r" fontAlgn="base"/>
                      <a:r>
                        <a:rPr lang="ru-RU" sz="2400" b="0" i="0">
                          <a:solidFill>
                            <a:srgbClr val="AFAFAF"/>
                          </a:solidFill>
                          <a:effectLst/>
                          <a:latin typeface="var(--code-font-family)"/>
                        </a:rPr>
                        <a:t>2</a:t>
                      </a:r>
                    </a:p>
                    <a:p>
                      <a:pPr algn="r" fontAlgn="base"/>
                      <a:r>
                        <a:rPr lang="ru-RU" sz="2400" b="0" i="0">
                          <a:solidFill>
                            <a:srgbClr val="AFAFAF"/>
                          </a:solidFill>
                          <a:effectLst/>
                          <a:latin typeface="var(--code-font-family)"/>
                        </a:rPr>
                        <a:t>3</a:t>
                      </a:r>
                    </a:p>
                    <a:p>
                      <a:pPr algn="r" fontAlgn="base"/>
                      <a:r>
                        <a:rPr lang="ru-RU" sz="2400" b="0" i="0">
                          <a:solidFill>
                            <a:srgbClr val="AFAFAF"/>
                          </a:solidFill>
                          <a:effectLst/>
                          <a:latin typeface="var(--code-font-family)"/>
                        </a:rPr>
                        <a:t>4</a:t>
                      </a:r>
                    </a:p>
                  </a:txBody>
                  <a:tcPr marL="0" marR="0" marT="0" marB="0" anchor="ctr">
                    <a:lnL>
                      <a:noFill/>
                    </a:lnL>
                    <a:lnR>
                      <a:noFill/>
                    </a:lnR>
                    <a:lnT>
                      <a:noFill/>
                    </a:lnT>
                    <a:lnB>
                      <a:noFill/>
                    </a:lnB>
                    <a:solidFill>
                      <a:srgbClr val="F7F7FA"/>
                    </a:solidFill>
                  </a:tcPr>
                </a:tc>
                <a:tc>
                  <a:txBody>
                    <a:bodyPr/>
                    <a:lstStyle/>
                    <a:p>
                      <a:pPr algn="l" fontAlgn="base"/>
                      <a:r>
                        <a:rPr lang="en" sz="2400" b="0" i="0" dirty="0">
                          <a:effectLst/>
                          <a:latin typeface="var(--code-font-family)"/>
                        </a:rPr>
                        <a:t>Salary MONEY,</a:t>
                      </a:r>
                    </a:p>
                    <a:p>
                      <a:pPr algn="l" fontAlgn="base"/>
                      <a:r>
                        <a:rPr lang="en" sz="2400" b="0" i="0" dirty="0" err="1">
                          <a:effectLst/>
                          <a:latin typeface="var(--code-font-family)"/>
                        </a:rPr>
                        <a:t>TotalWeight</a:t>
                      </a:r>
                      <a:r>
                        <a:rPr lang="en" sz="2400" b="0" i="0" dirty="0">
                          <a:effectLst/>
                          <a:latin typeface="var(--code-font-family)"/>
                        </a:rPr>
                        <a:t> DECIMAL(9,2),</a:t>
                      </a:r>
                    </a:p>
                    <a:p>
                      <a:pPr algn="l" fontAlgn="base"/>
                      <a:r>
                        <a:rPr lang="en" sz="2400" b="0" i="0" dirty="0">
                          <a:effectLst/>
                          <a:latin typeface="var(--code-font-family)"/>
                        </a:rPr>
                        <a:t>Age INT,</a:t>
                      </a:r>
                    </a:p>
                    <a:p>
                      <a:pPr algn="l" fontAlgn="base"/>
                      <a:r>
                        <a:rPr lang="en" sz="2400" b="0" i="0" dirty="0">
                          <a:effectLst/>
                          <a:latin typeface="var(--code-font-family)"/>
                        </a:rPr>
                        <a:t>Surplus FLOAT</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804904204"/>
                  </a:ext>
                </a:extLst>
              </a:tr>
            </a:tbl>
          </a:graphicData>
        </a:graphic>
      </p:graphicFrame>
    </p:spTree>
    <p:extLst>
      <p:ext uri="{BB962C8B-B14F-4D97-AF65-F5344CB8AC3E}">
        <p14:creationId xmlns:p14="http://schemas.microsoft.com/office/powerpoint/2010/main" val="40855333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C2BE84-8959-F0C6-04FD-3C891F325F47}"/>
              </a:ext>
            </a:extLst>
          </p:cNvPr>
          <p:cNvSpPr txBox="1"/>
          <p:nvPr/>
        </p:nvSpPr>
        <p:spPr>
          <a:xfrm>
            <a:off x="2208094" y="9268"/>
            <a:ext cx="7775812" cy="1384995"/>
          </a:xfrm>
          <a:prstGeom prst="rect">
            <a:avLst/>
          </a:prstGeom>
          <a:noFill/>
        </p:spPr>
        <p:txBody>
          <a:bodyPr wrap="square">
            <a:spAutoFit/>
          </a:bodyPr>
          <a:lstStyle/>
          <a:p>
            <a:r>
              <a:rPr lang="ru-RU" sz="2800" b="1" dirty="0">
                <a:effectLst/>
                <a:latin typeface="Times New Roman" panose="02020603050405020304" pitchFamily="18" charset="0"/>
                <a:cs typeface="Times New Roman" panose="02020603050405020304" pitchFamily="18" charset="0"/>
              </a:rPr>
              <a:t>Типы данных, представляющие дату и время</a:t>
            </a:r>
          </a:p>
          <a:p>
            <a:r>
              <a:rPr lang="ru-RU" sz="2800" dirty="0">
                <a:latin typeface="Times New Roman" panose="02020603050405020304" pitchFamily="18" charset="0"/>
                <a:cs typeface="Times New Roman" panose="02020603050405020304" pitchFamily="18" charset="0"/>
              </a:rPr>
              <a:t/>
            </a:r>
            <a:br>
              <a:rPr lang="ru-RU" sz="2800" dirty="0">
                <a:latin typeface="Times New Roman" panose="02020603050405020304" pitchFamily="18" charset="0"/>
                <a:cs typeface="Times New Roman" panose="02020603050405020304" pitchFamily="18" charset="0"/>
              </a:rPr>
            </a:br>
            <a:endParaRPr lang="ru-RU"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0B049BB-7440-3492-9A6B-B2EC0196BCA7}"/>
              </a:ext>
            </a:extLst>
          </p:cNvPr>
          <p:cNvSpPr txBox="1"/>
          <p:nvPr/>
        </p:nvSpPr>
        <p:spPr>
          <a:xfrm>
            <a:off x="295701" y="477757"/>
            <a:ext cx="11600597" cy="6370975"/>
          </a:xfrm>
          <a:prstGeom prst="rect">
            <a:avLst/>
          </a:prstGeom>
          <a:noFill/>
        </p:spPr>
        <p:txBody>
          <a:bodyPr wrap="square">
            <a:spAutoFit/>
          </a:bodyPr>
          <a:lstStyle/>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DATE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даты от 0001-01-01 (1 января 0001 года) до 9999-12-31 (31 декабря 9999 года). Занимает 3 байта.</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TIME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время в диапазоне от 00:00:00.0000000 до 23:59:59.9999999. Занимает от 3 до 5 байт.</a:t>
            </a:r>
          </a:p>
          <a:p>
            <a:pPr algn="just">
              <a:buFont typeface="Arial" panose="020B0604020202020204" pitchFamily="34" charset="0"/>
              <a:buChar char="•"/>
            </a:pPr>
            <a:r>
              <a:rPr lang="ru-RU" sz="2400" b="0" i="0" u="none" strike="noStrike" dirty="0">
                <a:solidFill>
                  <a:srgbClr val="000000"/>
                </a:solidFill>
                <a:effectLst/>
                <a:latin typeface="Times New Roman" panose="02020603050405020304" pitchFamily="18" charset="0"/>
                <a:cs typeface="Times New Roman" panose="02020603050405020304" pitchFamily="18" charset="0"/>
              </a:rPr>
              <a:t>Может иметь форму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TIME(n),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где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n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представляет количество цифр от 0 до 7 в дробной части секунд.</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DATETIME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даты и время от 01/01/1753 до 31/12/9999. Занимает 8 байт.</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DATETIME2</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даты и время в диапазоне от 01/01/0001 00:00:00.0000000 до 31/12/9999 23:59:59.9999999. Занимает от 6 до 8 байт в зависимости от точности времени.</a:t>
            </a:r>
          </a:p>
          <a:p>
            <a:pPr algn="just">
              <a:buFont typeface="Arial" panose="020B0604020202020204" pitchFamily="34" charset="0"/>
              <a:buChar char="•"/>
            </a:pPr>
            <a:r>
              <a:rPr lang="ru-RU" sz="2400" b="0" i="0" u="none" strike="noStrike" dirty="0">
                <a:solidFill>
                  <a:srgbClr val="000000"/>
                </a:solidFill>
                <a:effectLst/>
                <a:latin typeface="Times New Roman" panose="02020603050405020304" pitchFamily="18" charset="0"/>
                <a:cs typeface="Times New Roman" panose="02020603050405020304" pitchFamily="18" charset="0"/>
              </a:rPr>
              <a:t>Может иметь форму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DATETIME2(n),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где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n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представляет количество цифр от 0 до 7 в дробной части секунд.</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SMALLDATETIME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даты и время в диапазоне от 01/01/1900 до 06/06/2079, то есть ближайшие даты. Занимает от 4 байта.</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DATETIMEOFFSET</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даты и время в диапазоне от 0001-01-01 до 9999-12-31. Сохраняет детальную информацию о времени с точностью до 100 наносекунд. Занимает 10 байт.</a:t>
            </a:r>
          </a:p>
        </p:txBody>
      </p:sp>
    </p:spTree>
    <p:extLst>
      <p:ext uri="{BB962C8B-B14F-4D97-AF65-F5344CB8AC3E}">
        <p14:creationId xmlns:p14="http://schemas.microsoft.com/office/powerpoint/2010/main" val="39571776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62F221-D622-998E-CF47-3C4296C7A031}"/>
              </a:ext>
            </a:extLst>
          </p:cNvPr>
          <p:cNvSpPr txBox="1"/>
          <p:nvPr/>
        </p:nvSpPr>
        <p:spPr>
          <a:xfrm>
            <a:off x="467436" y="300841"/>
            <a:ext cx="11724564" cy="5693866"/>
          </a:xfrm>
          <a:prstGeom prst="rect">
            <a:avLst/>
          </a:prstGeom>
          <a:noFill/>
        </p:spPr>
        <p:txBody>
          <a:bodyPr wrap="square">
            <a:spAutoFit/>
          </a:bodyPr>
          <a:lstStyle/>
          <a:p>
            <a:pPr algn="l"/>
            <a:r>
              <a:rPr lang="ru-RU" sz="2800" b="0" i="0" u="none" strike="noStrike" dirty="0">
                <a:solidFill>
                  <a:srgbClr val="000000"/>
                </a:solidFill>
                <a:effectLst/>
                <a:latin typeface="Times New Roman" panose="02020603050405020304" pitchFamily="18" charset="0"/>
                <a:cs typeface="Times New Roman" panose="02020603050405020304" pitchFamily="18" charset="0"/>
              </a:rPr>
              <a:t>Распространенные форматы дат:</a:t>
            </a:r>
          </a:p>
          <a:p>
            <a:pPr algn="l">
              <a:buFont typeface="Arial" panose="020B0604020202020204" pitchFamily="34" charset="0"/>
              <a:buChar char="•"/>
            </a:pP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yyyy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-mm-dd - 2017-07-12</a:t>
            </a:r>
          </a:p>
          <a:p>
            <a:pPr algn="l">
              <a:buFont typeface="Arial" panose="020B0604020202020204" pitchFamily="34" charset="0"/>
              <a:buChar char="•"/>
            </a:pPr>
            <a:r>
              <a:rPr lang="en" sz="2800" b="0" i="0" u="none" strike="noStrike" dirty="0">
                <a:solidFill>
                  <a:srgbClr val="000000"/>
                </a:solidFill>
                <a:effectLst/>
                <a:latin typeface="Times New Roman" panose="02020603050405020304" pitchFamily="18" charset="0"/>
                <a:cs typeface="Times New Roman" panose="02020603050405020304" pitchFamily="18" charset="0"/>
              </a:rPr>
              <a:t>dd/mm/</a:t>
            </a: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yyyy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- 12/07/2017</a:t>
            </a:r>
          </a:p>
          <a:p>
            <a:pPr algn="l">
              <a:buFont typeface="Arial" panose="020B0604020202020204" pitchFamily="34" charset="0"/>
              <a:buChar char="•"/>
            </a:pPr>
            <a:r>
              <a:rPr lang="en" sz="2800" b="0" i="0" u="none" strike="noStrike" dirty="0">
                <a:solidFill>
                  <a:srgbClr val="000000"/>
                </a:solidFill>
                <a:effectLst/>
                <a:latin typeface="Times New Roman" panose="02020603050405020304" pitchFamily="18" charset="0"/>
                <a:cs typeface="Times New Roman" panose="02020603050405020304" pitchFamily="18" charset="0"/>
              </a:rPr>
              <a:t>mm-dd-</a:t>
            </a: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yy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- 07-12-17</a:t>
            </a:r>
          </a:p>
          <a:p>
            <a:pPr algn="l">
              <a:buFont typeface="Arial" panose="020B0604020202020204" pitchFamily="34" charset="0"/>
              <a:buChar char="•"/>
            </a:pPr>
            <a:r>
              <a:rPr lang="ru-RU" sz="2800" b="0" i="0" u="none" strike="noStrike" dirty="0">
                <a:solidFill>
                  <a:srgbClr val="000000"/>
                </a:solidFill>
                <a:effectLst/>
                <a:latin typeface="Times New Roman" panose="02020603050405020304" pitchFamily="18" charset="0"/>
                <a:cs typeface="Times New Roman" panose="02020603050405020304" pitchFamily="18" charset="0"/>
              </a:rPr>
              <a:t>В таком формате двузначные числа от 00 до 49 воспринимаются как даты в диапазоне 2000-2049. А числа от 50 до 99 как диапазон чисел 1950 - 1999.</a:t>
            </a:r>
          </a:p>
          <a:p>
            <a:pPr algn="l">
              <a:buFont typeface="Arial" panose="020B0604020202020204" pitchFamily="34" charset="0"/>
              <a:buChar char="•"/>
            </a:pPr>
            <a:r>
              <a:rPr lang="en" sz="2800" b="0" i="0" u="none" strike="noStrike" dirty="0">
                <a:solidFill>
                  <a:srgbClr val="000000"/>
                </a:solidFill>
                <a:effectLst/>
                <a:latin typeface="Times New Roman" panose="02020603050405020304" pitchFamily="18" charset="0"/>
                <a:cs typeface="Times New Roman" panose="02020603050405020304" pitchFamily="18" charset="0"/>
              </a:rPr>
              <a:t>Month dd, </a:t>
            </a: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yyyy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 July 12, 2017</a:t>
            </a:r>
          </a:p>
          <a:p>
            <a:pPr algn="l"/>
            <a:r>
              <a:rPr lang="ru-RU" sz="2800" b="0" i="0" u="none" strike="noStrike" dirty="0">
                <a:solidFill>
                  <a:srgbClr val="000000"/>
                </a:solidFill>
                <a:effectLst/>
                <a:latin typeface="Times New Roman" panose="02020603050405020304" pitchFamily="18" charset="0"/>
                <a:cs typeface="Times New Roman" panose="02020603050405020304" pitchFamily="18" charset="0"/>
              </a:rPr>
              <a:t>Распространенные форматы времени:</a:t>
            </a:r>
          </a:p>
          <a:p>
            <a:pPr algn="l">
              <a:buFont typeface="Arial" panose="020B0604020202020204" pitchFamily="34" charset="0"/>
              <a:buChar char="•"/>
            </a:pP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hh:mi</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- 13:21</a:t>
            </a:r>
          </a:p>
          <a:p>
            <a:pPr algn="l">
              <a:buFont typeface="Arial" panose="020B0604020202020204" pitchFamily="34" charset="0"/>
              <a:buChar char="•"/>
            </a:pP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hh:mi</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am/pm - 1:21 pm</a:t>
            </a:r>
          </a:p>
          <a:p>
            <a:pPr algn="l">
              <a:buFont typeface="Arial" panose="020B0604020202020204" pitchFamily="34" charset="0"/>
              <a:buChar char="•"/>
            </a:pP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hh:mi:ss</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- 1:21:34</a:t>
            </a:r>
          </a:p>
          <a:p>
            <a:pPr algn="l">
              <a:buFont typeface="Arial" panose="020B0604020202020204" pitchFamily="34" charset="0"/>
              <a:buChar char="•"/>
            </a:pP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hh:mi:ss:mmm</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- 1:21:34:12</a:t>
            </a:r>
          </a:p>
          <a:p>
            <a:pPr algn="l">
              <a:buFont typeface="Arial" panose="020B0604020202020204" pitchFamily="34" charset="0"/>
              <a:buChar char="•"/>
            </a:pPr>
            <a:r>
              <a:rPr lang="en" sz="2800" b="0" i="0" u="none" strike="noStrike" dirty="0" err="1">
                <a:solidFill>
                  <a:srgbClr val="000000"/>
                </a:solidFill>
                <a:effectLst/>
                <a:latin typeface="Times New Roman" panose="02020603050405020304" pitchFamily="18" charset="0"/>
                <a:cs typeface="Times New Roman" panose="02020603050405020304" pitchFamily="18" charset="0"/>
              </a:rPr>
              <a:t>hh:mi:ss:nnnnnnn</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- 1:21:34:1234567</a:t>
            </a:r>
          </a:p>
        </p:txBody>
      </p:sp>
    </p:spTree>
    <p:extLst>
      <p:ext uri="{BB962C8B-B14F-4D97-AF65-F5344CB8AC3E}">
        <p14:creationId xmlns:p14="http://schemas.microsoft.com/office/powerpoint/2010/main" val="35119631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E77B1A-24F2-7136-C896-595E599E6E58}"/>
              </a:ext>
            </a:extLst>
          </p:cNvPr>
          <p:cNvSpPr txBox="1"/>
          <p:nvPr/>
        </p:nvSpPr>
        <p:spPr>
          <a:xfrm>
            <a:off x="3674660" y="258886"/>
            <a:ext cx="6093724" cy="523220"/>
          </a:xfrm>
          <a:prstGeom prst="rect">
            <a:avLst/>
          </a:prstGeom>
          <a:noFill/>
        </p:spPr>
        <p:txBody>
          <a:bodyPr wrap="square">
            <a:spAutoFit/>
          </a:bodyPr>
          <a:lstStyle/>
          <a:p>
            <a:pPr algn="l"/>
            <a:r>
              <a:rPr lang="ru-RU" sz="2800" b="1" i="0" u="none" strike="noStrike" dirty="0">
                <a:solidFill>
                  <a:srgbClr val="000000"/>
                </a:solidFill>
                <a:effectLst/>
                <a:latin typeface="Times New Roman" panose="02020603050405020304" pitchFamily="18" charset="0"/>
                <a:cs typeface="Times New Roman" panose="02020603050405020304" pitchFamily="18" charset="0"/>
              </a:rPr>
              <a:t>Строковые типы данных</a:t>
            </a:r>
          </a:p>
        </p:txBody>
      </p:sp>
      <p:sp>
        <p:nvSpPr>
          <p:cNvPr id="7" name="TextBox 6">
            <a:extLst>
              <a:ext uri="{FF2B5EF4-FFF2-40B4-BE49-F238E27FC236}">
                <a16:creationId xmlns:a16="http://schemas.microsoft.com/office/drawing/2014/main" id="{6A7B2971-6E21-BB6E-B56B-2DEA8A1F869B}"/>
              </a:ext>
            </a:extLst>
          </p:cNvPr>
          <p:cNvSpPr txBox="1"/>
          <p:nvPr/>
        </p:nvSpPr>
        <p:spPr>
          <a:xfrm>
            <a:off x="302525" y="889843"/>
            <a:ext cx="11586949" cy="5632311"/>
          </a:xfrm>
          <a:prstGeom prst="rect">
            <a:avLst/>
          </a:prstGeom>
          <a:noFill/>
        </p:spPr>
        <p:txBody>
          <a:bodyPr wrap="square">
            <a:spAutoFit/>
          </a:bodyPr>
          <a:lstStyle/>
          <a:p>
            <a:pPr algn="just">
              <a:buFont typeface="Arial" panose="020B0604020202020204" pitchFamily="34" charset="0"/>
              <a:buChar char="•"/>
            </a:pPr>
            <a:r>
              <a:rPr lang="en" sz="2400" b="1" i="0" u="none" strike="noStrike" dirty="0">
                <a:solidFill>
                  <a:srgbClr val="000000"/>
                </a:solidFill>
                <a:effectLst/>
                <a:latin typeface="-apple-system"/>
              </a:rPr>
              <a:t>CHAR</a:t>
            </a:r>
            <a:r>
              <a:rPr lang="en" sz="2400" b="0" i="0" u="none" strike="noStrike" dirty="0">
                <a:solidFill>
                  <a:srgbClr val="000000"/>
                </a:solidFill>
                <a:effectLst/>
                <a:latin typeface="-apple-system"/>
              </a:rPr>
              <a:t>: </a:t>
            </a:r>
            <a:r>
              <a:rPr lang="ru-RU" sz="2400" b="0" i="0" u="none" strike="noStrike" dirty="0">
                <a:solidFill>
                  <a:srgbClr val="000000"/>
                </a:solidFill>
                <a:effectLst/>
                <a:latin typeface="-apple-system"/>
              </a:rPr>
              <a:t>хранит строку длиной от 1 до 8 000 символов. На каждый символ выделяет по 1 байту. Не подходит для многих языков, так как хранит символы не в кодировке </a:t>
            </a:r>
            <a:r>
              <a:rPr lang="en" sz="2400" b="0" i="0" u="none" strike="noStrike" dirty="0">
                <a:solidFill>
                  <a:srgbClr val="000000"/>
                </a:solidFill>
                <a:effectLst/>
                <a:latin typeface="-apple-system"/>
              </a:rPr>
              <a:t>Unicode.</a:t>
            </a:r>
          </a:p>
          <a:p>
            <a:pPr algn="just">
              <a:buFont typeface="Arial" panose="020B0604020202020204" pitchFamily="34" charset="0"/>
              <a:buChar char="•"/>
            </a:pPr>
            <a:r>
              <a:rPr lang="ru-RU" sz="2400" b="0" i="0" u="none" strike="noStrike" dirty="0">
                <a:solidFill>
                  <a:srgbClr val="000000"/>
                </a:solidFill>
                <a:effectLst/>
                <a:latin typeface="-apple-system"/>
              </a:rPr>
              <a:t>Количество символов, которое может хранить столбец, передается в скобках. Например, для столбца с типом </a:t>
            </a:r>
            <a:r>
              <a:rPr lang="en" sz="2400" b="0" i="0" u="none" strike="noStrike" dirty="0">
                <a:solidFill>
                  <a:srgbClr val="000000"/>
                </a:solidFill>
                <a:effectLst/>
                <a:latin typeface="-apple-system"/>
              </a:rPr>
              <a:t>CHAR(10) </a:t>
            </a:r>
            <a:r>
              <a:rPr lang="ru-RU" sz="2400" b="0" i="0" u="none" strike="noStrike" dirty="0">
                <a:solidFill>
                  <a:srgbClr val="000000"/>
                </a:solidFill>
                <a:effectLst/>
                <a:latin typeface="-apple-system"/>
              </a:rPr>
              <a:t>будет выделено 10 байт. И если мы сохраним в столбце строку менее 10 символов, то она будет дополнена пробелами.</a:t>
            </a:r>
          </a:p>
          <a:p>
            <a:pPr algn="just">
              <a:buFont typeface="Arial" panose="020B0604020202020204" pitchFamily="34" charset="0"/>
              <a:buChar char="•"/>
            </a:pPr>
            <a:r>
              <a:rPr lang="en" sz="2400" b="1" i="0" u="none" strike="noStrike" dirty="0">
                <a:solidFill>
                  <a:srgbClr val="000000"/>
                </a:solidFill>
                <a:effectLst/>
                <a:latin typeface="-apple-system"/>
              </a:rPr>
              <a:t>VARCHAR</a:t>
            </a:r>
            <a:r>
              <a:rPr lang="en" sz="2400" b="0" i="0" u="none" strike="noStrike" dirty="0">
                <a:solidFill>
                  <a:srgbClr val="000000"/>
                </a:solidFill>
                <a:effectLst/>
                <a:latin typeface="-apple-system"/>
              </a:rPr>
              <a:t>: </a:t>
            </a:r>
            <a:r>
              <a:rPr lang="ru-RU" sz="2400" b="0" i="0" u="none" strike="noStrike" dirty="0">
                <a:solidFill>
                  <a:srgbClr val="000000"/>
                </a:solidFill>
                <a:effectLst/>
                <a:latin typeface="-apple-system"/>
              </a:rPr>
              <a:t>хранит строку. На каждый символ выделяется 1 байт. Можно указать конкретную длину для столбца - от 1 до 8 000 символов, например, </a:t>
            </a:r>
            <a:r>
              <a:rPr lang="en" sz="2400" b="0" i="0" u="none" strike="noStrike" dirty="0">
                <a:solidFill>
                  <a:srgbClr val="000000"/>
                </a:solidFill>
                <a:effectLst/>
                <a:latin typeface="-apple-system"/>
              </a:rPr>
              <a:t>VARCHAR(10). </a:t>
            </a:r>
            <a:r>
              <a:rPr lang="ru-RU" sz="2400" b="0" i="0" u="none" strike="noStrike" dirty="0">
                <a:solidFill>
                  <a:srgbClr val="000000"/>
                </a:solidFill>
                <a:effectLst/>
                <a:latin typeface="-apple-system"/>
              </a:rPr>
              <a:t>Если строка должна иметь больше 8000 символов, то задается размер </a:t>
            </a:r>
            <a:r>
              <a:rPr lang="en" sz="2400" b="0" i="0" u="none" strike="noStrike" dirty="0">
                <a:solidFill>
                  <a:srgbClr val="000000"/>
                </a:solidFill>
                <a:effectLst/>
                <a:latin typeface="-apple-system"/>
              </a:rPr>
              <a:t>MAX, </a:t>
            </a:r>
            <a:r>
              <a:rPr lang="ru-RU" sz="2400" b="0" i="0" u="none" strike="noStrike" dirty="0">
                <a:solidFill>
                  <a:srgbClr val="000000"/>
                </a:solidFill>
                <a:effectLst/>
                <a:latin typeface="-apple-system"/>
              </a:rPr>
              <a:t>а на хранение строки может выделяться до 2 Гб: </a:t>
            </a:r>
            <a:r>
              <a:rPr lang="en" sz="2400" b="0" i="0" u="none" strike="noStrike" dirty="0">
                <a:solidFill>
                  <a:srgbClr val="000000"/>
                </a:solidFill>
                <a:effectLst/>
                <a:latin typeface="-apple-system"/>
              </a:rPr>
              <a:t>VARCHAR(MAX).</a:t>
            </a:r>
          </a:p>
          <a:p>
            <a:pPr algn="just">
              <a:buFont typeface="Arial" panose="020B0604020202020204" pitchFamily="34" charset="0"/>
              <a:buChar char="•"/>
            </a:pPr>
            <a:r>
              <a:rPr lang="ru-RU" sz="2400" b="0" i="0" u="none" strike="noStrike" dirty="0">
                <a:solidFill>
                  <a:srgbClr val="000000"/>
                </a:solidFill>
                <a:effectLst/>
                <a:latin typeface="-apple-system"/>
              </a:rPr>
              <a:t>Не подходит для многих языков, так как хранит символы не в кодировке </a:t>
            </a:r>
            <a:r>
              <a:rPr lang="en" sz="2400" b="0" i="0" u="none" strike="noStrike" dirty="0">
                <a:solidFill>
                  <a:srgbClr val="000000"/>
                </a:solidFill>
                <a:effectLst/>
                <a:latin typeface="-apple-system"/>
              </a:rPr>
              <a:t>Unicode.</a:t>
            </a:r>
          </a:p>
          <a:p>
            <a:pPr algn="just">
              <a:buFont typeface="Arial" panose="020B0604020202020204" pitchFamily="34" charset="0"/>
              <a:buChar char="•"/>
            </a:pPr>
            <a:r>
              <a:rPr lang="ru-RU" sz="2400" b="0" i="0" u="none" strike="noStrike" dirty="0">
                <a:solidFill>
                  <a:srgbClr val="000000"/>
                </a:solidFill>
                <a:effectLst/>
                <a:latin typeface="-apple-system"/>
              </a:rPr>
              <a:t>В отличие от типа </a:t>
            </a:r>
            <a:r>
              <a:rPr lang="en" sz="2400" b="0" i="0" u="none" strike="noStrike" dirty="0">
                <a:solidFill>
                  <a:srgbClr val="000000"/>
                </a:solidFill>
                <a:effectLst/>
                <a:latin typeface="-apple-system"/>
              </a:rPr>
              <a:t>CHAR </a:t>
            </a:r>
            <a:r>
              <a:rPr lang="ru-RU" sz="2400" b="0" i="0" u="none" strike="noStrike" dirty="0">
                <a:solidFill>
                  <a:srgbClr val="000000"/>
                </a:solidFill>
                <a:effectLst/>
                <a:latin typeface="-apple-system"/>
              </a:rPr>
              <a:t>если в столбец с типом </a:t>
            </a:r>
            <a:r>
              <a:rPr lang="en" sz="2400" b="0" i="0" u="none" strike="noStrike" dirty="0">
                <a:solidFill>
                  <a:srgbClr val="000000"/>
                </a:solidFill>
                <a:effectLst/>
                <a:latin typeface="-apple-system"/>
              </a:rPr>
              <a:t>VARCHAR(10) </a:t>
            </a:r>
            <a:r>
              <a:rPr lang="ru-RU" sz="2400" b="0" i="0" u="none" strike="noStrike" dirty="0">
                <a:solidFill>
                  <a:srgbClr val="000000"/>
                </a:solidFill>
                <a:effectLst/>
                <a:latin typeface="-apple-system"/>
              </a:rPr>
              <a:t>будет сохранена строка в 5 символов, то в </a:t>
            </a:r>
            <a:r>
              <a:rPr lang="ru-RU" sz="2400" b="0" i="0" u="none" strike="noStrike" dirty="0" err="1">
                <a:solidFill>
                  <a:srgbClr val="000000"/>
                </a:solidFill>
                <a:effectLst/>
                <a:latin typeface="-apple-system"/>
              </a:rPr>
              <a:t>столце</a:t>
            </a:r>
            <a:r>
              <a:rPr lang="ru-RU" sz="2400" b="0" i="0" u="none" strike="noStrike" dirty="0">
                <a:solidFill>
                  <a:srgbClr val="000000"/>
                </a:solidFill>
                <a:effectLst/>
                <a:latin typeface="-apple-system"/>
              </a:rPr>
              <a:t> будет сохранено именно пять символов.</a:t>
            </a:r>
          </a:p>
          <a:p>
            <a:pPr algn="just">
              <a:buFont typeface="Arial" panose="020B0604020202020204" pitchFamily="34" charset="0"/>
              <a:buChar char="•"/>
            </a:pPr>
            <a:r>
              <a:rPr lang="en" sz="2400" b="1" i="0" u="none" strike="noStrike" dirty="0">
                <a:solidFill>
                  <a:srgbClr val="000000"/>
                </a:solidFill>
                <a:effectLst/>
                <a:latin typeface="-apple-system"/>
              </a:rPr>
              <a:t>NCHAR</a:t>
            </a:r>
            <a:r>
              <a:rPr lang="en" sz="2400" b="0" i="0" u="none" strike="noStrike" dirty="0">
                <a:solidFill>
                  <a:srgbClr val="000000"/>
                </a:solidFill>
                <a:effectLst/>
                <a:latin typeface="-apple-system"/>
              </a:rPr>
              <a:t>: </a:t>
            </a:r>
            <a:r>
              <a:rPr lang="ru-RU" sz="2400" b="0" i="0" u="none" strike="noStrike" dirty="0">
                <a:solidFill>
                  <a:srgbClr val="000000"/>
                </a:solidFill>
                <a:effectLst/>
                <a:latin typeface="-apple-system"/>
              </a:rPr>
              <a:t>хранит строку в кодировке </a:t>
            </a:r>
            <a:r>
              <a:rPr lang="en" sz="2400" b="0" i="0" u="none" strike="noStrike" dirty="0">
                <a:solidFill>
                  <a:srgbClr val="000000"/>
                </a:solidFill>
                <a:effectLst/>
                <a:latin typeface="-apple-system"/>
              </a:rPr>
              <a:t>Unicode </a:t>
            </a:r>
            <a:r>
              <a:rPr lang="ru-RU" sz="2400" b="0" i="0" u="none" strike="noStrike" dirty="0">
                <a:solidFill>
                  <a:srgbClr val="000000"/>
                </a:solidFill>
                <a:effectLst/>
                <a:latin typeface="-apple-system"/>
              </a:rPr>
              <a:t>длиной от 1 до 4 000 символов. На каждый символ выделяется 2 байта. Например, </a:t>
            </a:r>
            <a:r>
              <a:rPr lang="en" sz="2400" b="0" i="0" u="none" strike="noStrike" dirty="0">
                <a:solidFill>
                  <a:srgbClr val="000000"/>
                </a:solidFill>
                <a:effectLst/>
                <a:latin typeface="-apple-system"/>
              </a:rPr>
              <a:t>NCHAR(15)</a:t>
            </a:r>
          </a:p>
        </p:txBody>
      </p:sp>
    </p:spTree>
    <p:extLst>
      <p:ext uri="{BB962C8B-B14F-4D97-AF65-F5344CB8AC3E}">
        <p14:creationId xmlns:p14="http://schemas.microsoft.com/office/powerpoint/2010/main" val="40388701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B8A69D-14F0-6937-0630-F4DE8E28BF78}"/>
              </a:ext>
            </a:extLst>
          </p:cNvPr>
          <p:cNvSpPr txBox="1"/>
          <p:nvPr/>
        </p:nvSpPr>
        <p:spPr>
          <a:xfrm>
            <a:off x="177421" y="353916"/>
            <a:ext cx="11532358" cy="3108543"/>
          </a:xfrm>
          <a:prstGeom prst="rect">
            <a:avLst/>
          </a:prstGeom>
          <a:noFill/>
        </p:spPr>
        <p:txBody>
          <a:bodyPr wrap="square">
            <a:spAutoFit/>
          </a:bodyPr>
          <a:lstStyle/>
          <a:p>
            <a:pPr algn="just">
              <a:buFont typeface="Arial" panose="020B0604020202020204" pitchFamily="34" charset="0"/>
              <a:buChar char="•"/>
            </a:pPr>
            <a:r>
              <a:rPr lang="en" sz="2800" b="1" i="0" u="none" strike="noStrike" dirty="0">
                <a:solidFill>
                  <a:srgbClr val="000000"/>
                </a:solidFill>
                <a:effectLst/>
                <a:latin typeface="Times New Roman" panose="02020603050405020304" pitchFamily="18" charset="0"/>
                <a:cs typeface="Times New Roman" panose="02020603050405020304" pitchFamily="18" charset="0"/>
              </a:rPr>
              <a:t>NVARCHAR</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хранит строку в кодировке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Unicode.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На каждый символ выделяется 2 </a:t>
            </a:r>
            <a:r>
              <a:rPr lang="ru-RU" sz="2800" b="0" i="0" u="none" strike="noStrike" dirty="0" err="1">
                <a:solidFill>
                  <a:srgbClr val="000000"/>
                </a:solidFill>
                <a:effectLst/>
                <a:latin typeface="Times New Roman" panose="02020603050405020304" pitchFamily="18" charset="0"/>
                <a:cs typeface="Times New Roman" panose="02020603050405020304" pitchFamily="18" charset="0"/>
              </a:rPr>
              <a:t>байта.Можно</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 задать конкретный размер от 1 до 4 000 символов: . Если строка должна иметь больше 4000 символов, то задается размер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MAX,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а на хранение строки может выделяться до 2 Гб.</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Еще два типа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TEXT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NTEXT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являются устаревшими и поэтому их не рекомендуется использовать. Вместо них применяются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VARCHAR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NVARCHAR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соответственно.</a:t>
            </a:r>
          </a:p>
        </p:txBody>
      </p:sp>
      <p:graphicFrame>
        <p:nvGraphicFramePr>
          <p:cNvPr id="6" name="Таблица 5">
            <a:extLst>
              <a:ext uri="{FF2B5EF4-FFF2-40B4-BE49-F238E27FC236}">
                <a16:creationId xmlns:a16="http://schemas.microsoft.com/office/drawing/2014/main" id="{8F87AA0C-E65A-77BC-1193-8C6A62C711E7}"/>
              </a:ext>
            </a:extLst>
          </p:cNvPr>
          <p:cNvGraphicFramePr>
            <a:graphicFrameLocks noGrp="1"/>
          </p:cNvGraphicFramePr>
          <p:nvPr>
            <p:extLst>
              <p:ext uri="{D42A27DB-BD31-4B8C-83A1-F6EECF244321}">
                <p14:modId xmlns:p14="http://schemas.microsoft.com/office/powerpoint/2010/main" val="3334559161"/>
              </p:ext>
            </p:extLst>
          </p:nvPr>
        </p:nvGraphicFramePr>
        <p:xfrm>
          <a:off x="366135" y="3945338"/>
          <a:ext cx="7747540" cy="731520"/>
        </p:xfrm>
        <a:graphic>
          <a:graphicData uri="http://schemas.openxmlformats.org/drawingml/2006/table">
            <a:tbl>
              <a:tblPr/>
              <a:tblGrid>
                <a:gridCol w="308667">
                  <a:extLst>
                    <a:ext uri="{9D8B030D-6E8A-4147-A177-3AD203B41FA5}">
                      <a16:colId xmlns:a16="http://schemas.microsoft.com/office/drawing/2014/main" val="3564956844"/>
                    </a:ext>
                  </a:extLst>
                </a:gridCol>
                <a:gridCol w="7438873">
                  <a:extLst>
                    <a:ext uri="{9D8B030D-6E8A-4147-A177-3AD203B41FA5}">
                      <a16:colId xmlns:a16="http://schemas.microsoft.com/office/drawing/2014/main" val="2307659839"/>
                    </a:ext>
                  </a:extLst>
                </a:gridCol>
              </a:tblGrid>
              <a:tr h="0">
                <a:tc>
                  <a:txBody>
                    <a:bodyPr/>
                    <a:lstStyle/>
                    <a:p>
                      <a:pPr algn="r" fontAlgn="base"/>
                      <a:r>
                        <a:rPr lang="ru-RU" sz="2400" b="0" i="0">
                          <a:solidFill>
                            <a:srgbClr val="AFAFAF"/>
                          </a:solidFill>
                          <a:effectLst/>
                          <a:latin typeface="var(--code-font-family)"/>
                        </a:rPr>
                        <a:t>1</a:t>
                      </a:r>
                    </a:p>
                    <a:p>
                      <a:pPr algn="r" fontAlgn="base"/>
                      <a:r>
                        <a:rPr lang="ru-RU" sz="2400" b="0" i="0">
                          <a:solidFill>
                            <a:srgbClr val="AFAFAF"/>
                          </a:solidFill>
                          <a:effectLst/>
                          <a:latin typeface="var(--code-font-family)"/>
                        </a:rPr>
                        <a:t>2</a:t>
                      </a:r>
                    </a:p>
                  </a:txBody>
                  <a:tcPr marL="0" marR="0" marT="0" marB="0" anchor="ctr">
                    <a:lnL>
                      <a:noFill/>
                    </a:lnL>
                    <a:lnR>
                      <a:noFill/>
                    </a:lnR>
                    <a:lnT>
                      <a:noFill/>
                    </a:lnT>
                    <a:lnB>
                      <a:noFill/>
                    </a:lnB>
                    <a:solidFill>
                      <a:srgbClr val="F7F7FA"/>
                    </a:solidFill>
                  </a:tcPr>
                </a:tc>
                <a:tc>
                  <a:txBody>
                    <a:bodyPr/>
                    <a:lstStyle/>
                    <a:p>
                      <a:pPr algn="l" fontAlgn="base"/>
                      <a:r>
                        <a:rPr lang="en" sz="2400" b="0" i="0" dirty="0">
                          <a:effectLst/>
                          <a:latin typeface="var(--code-font-family)"/>
                        </a:rPr>
                        <a:t>Email VARCHAR(30),</a:t>
                      </a:r>
                    </a:p>
                    <a:p>
                      <a:pPr algn="l" fontAlgn="base"/>
                      <a:r>
                        <a:rPr lang="en" sz="2400" b="0" i="0" dirty="0">
                          <a:effectLst/>
                          <a:latin typeface="var(--code-font-family)"/>
                        </a:rPr>
                        <a:t>Comment NVARCHAR(MAX)</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880940875"/>
                  </a:ext>
                </a:extLst>
              </a:tr>
            </a:tbl>
          </a:graphicData>
        </a:graphic>
      </p:graphicFrame>
    </p:spTree>
    <p:extLst>
      <p:ext uri="{BB962C8B-B14F-4D97-AF65-F5344CB8AC3E}">
        <p14:creationId xmlns:p14="http://schemas.microsoft.com/office/powerpoint/2010/main" val="24411484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322662-7607-AE66-7B19-047B01FB9B47}"/>
              </a:ext>
            </a:extLst>
          </p:cNvPr>
          <p:cNvSpPr txBox="1"/>
          <p:nvPr/>
        </p:nvSpPr>
        <p:spPr>
          <a:xfrm>
            <a:off x="302525" y="-125820"/>
            <a:ext cx="11586949" cy="6740307"/>
          </a:xfrm>
          <a:prstGeom prst="rect">
            <a:avLst/>
          </a:prstGeom>
          <a:noFill/>
        </p:spPr>
        <p:txBody>
          <a:bodyPr wrap="square">
            <a:spAutoFit/>
          </a:bodyPr>
          <a:lstStyle/>
          <a:p>
            <a:pPr algn="just"/>
            <a:r>
              <a:rPr lang="ru-RU" sz="2400" b="1" i="0" u="none" strike="noStrike" dirty="0">
                <a:solidFill>
                  <a:srgbClr val="000000"/>
                </a:solidFill>
                <a:effectLst/>
                <a:latin typeface="Times New Roman" panose="02020603050405020304" pitchFamily="18" charset="0"/>
                <a:cs typeface="Times New Roman" panose="02020603050405020304" pitchFamily="18" charset="0"/>
              </a:rPr>
              <a:t>Бинарные типы данных</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BINARY</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бинарные данные в виде последовательности от 1 до 8 000 байт.</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VARBINARY</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бинарные данные в виде последовательности от 1 до 8 000 байт. Еще один бинарный тип - тип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IMAGE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является устаревшим, и вместо него рекомендуется применять тип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VARBINARY.</a:t>
            </a:r>
          </a:p>
          <a:p>
            <a:pPr algn="just"/>
            <a:r>
              <a:rPr lang="ru-RU" sz="2400" b="1" i="0" u="none" strike="noStrike" dirty="0">
                <a:solidFill>
                  <a:srgbClr val="000000"/>
                </a:solidFill>
                <a:effectLst/>
                <a:latin typeface="Times New Roman" panose="02020603050405020304" pitchFamily="18" charset="0"/>
                <a:cs typeface="Times New Roman" panose="02020603050405020304" pitchFamily="18" charset="0"/>
              </a:rPr>
              <a:t>Остальные типы данных</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UNIQUEIDENTIFIER</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уникальный идентификатор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GUID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по сути строка с уникальным значением), который занимает 16 байт.</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TIMESTAMP</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некоторое число, которое хранит номер версии строки в таблице. Занимает 8 байт.</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CURSOR</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представляет набор строк.</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HIERARCHYID</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представляет позицию в иерархии.</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SQL_VARIANT</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может хранить данные любого другого типа данных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T-SQL.</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XML</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документы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XML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или фрагменты документов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XML.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Занимает в памяти до 2 Гб.</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TABLE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представляет определение таблицы.</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GEOGRAPHY</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географические данные, такие как широта и долгота.</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GEOMETRY</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хранит координаты местонахождения на плоскости.</a:t>
            </a:r>
          </a:p>
        </p:txBody>
      </p:sp>
    </p:spTree>
    <p:extLst>
      <p:ext uri="{BB962C8B-B14F-4D97-AF65-F5344CB8AC3E}">
        <p14:creationId xmlns:p14="http://schemas.microsoft.com/office/powerpoint/2010/main" val="19458409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013EC4-6915-49B8-7473-54DEF704A322}"/>
              </a:ext>
            </a:extLst>
          </p:cNvPr>
          <p:cNvSpPr txBox="1"/>
          <p:nvPr/>
        </p:nvSpPr>
        <p:spPr>
          <a:xfrm>
            <a:off x="371902" y="377672"/>
            <a:ext cx="11146808" cy="1384995"/>
          </a:xfrm>
          <a:prstGeom prst="rect">
            <a:avLst/>
          </a:prstGeom>
          <a:noFill/>
        </p:spPr>
        <p:txBody>
          <a:bodyPr wrap="square">
            <a:spAutoFit/>
          </a:bodyPr>
          <a:lstStyle/>
          <a:p>
            <a:pPr algn="just"/>
            <a:r>
              <a:rPr lang="en" sz="2800" b="1" i="0" u="none" strike="noStrike" dirty="0">
                <a:solidFill>
                  <a:srgbClr val="000000"/>
                </a:solidFill>
                <a:effectLst/>
                <a:latin typeface="Times New Roman" panose="02020603050405020304" pitchFamily="18" charset="0"/>
                <a:cs typeface="Times New Roman" panose="02020603050405020304" pitchFamily="18" charset="0"/>
              </a:rPr>
              <a:t>PRIMARY KEY</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С помощью выражения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PRIMARY KEY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столбец можно сделать первичным ключом.</a:t>
            </a:r>
          </a:p>
        </p:txBody>
      </p:sp>
      <p:graphicFrame>
        <p:nvGraphicFramePr>
          <p:cNvPr id="6" name="Таблица 5">
            <a:extLst>
              <a:ext uri="{FF2B5EF4-FFF2-40B4-BE49-F238E27FC236}">
                <a16:creationId xmlns:a16="http://schemas.microsoft.com/office/drawing/2014/main" id="{FA5C96DE-737E-C844-C43C-7D3CF6DBFED4}"/>
              </a:ext>
            </a:extLst>
          </p:cNvPr>
          <p:cNvGraphicFramePr>
            <a:graphicFrameLocks noGrp="1"/>
          </p:cNvGraphicFramePr>
          <p:nvPr>
            <p:extLst>
              <p:ext uri="{D42A27DB-BD31-4B8C-83A1-F6EECF244321}">
                <p14:modId xmlns:p14="http://schemas.microsoft.com/office/powerpoint/2010/main" val="3960407292"/>
              </p:ext>
            </p:extLst>
          </p:nvPr>
        </p:nvGraphicFramePr>
        <p:xfrm>
          <a:off x="611794" y="2098114"/>
          <a:ext cx="7747540" cy="3291840"/>
        </p:xfrm>
        <a:graphic>
          <a:graphicData uri="http://schemas.openxmlformats.org/drawingml/2006/table">
            <a:tbl>
              <a:tblPr/>
              <a:tblGrid>
                <a:gridCol w="308667">
                  <a:extLst>
                    <a:ext uri="{9D8B030D-6E8A-4147-A177-3AD203B41FA5}">
                      <a16:colId xmlns:a16="http://schemas.microsoft.com/office/drawing/2014/main" val="616762174"/>
                    </a:ext>
                  </a:extLst>
                </a:gridCol>
                <a:gridCol w="7438873">
                  <a:extLst>
                    <a:ext uri="{9D8B030D-6E8A-4147-A177-3AD203B41FA5}">
                      <a16:colId xmlns:a16="http://schemas.microsoft.com/office/drawing/2014/main" val="3149385002"/>
                    </a:ext>
                  </a:extLst>
                </a:gridCol>
              </a:tblGrid>
              <a:tr h="0">
                <a:tc>
                  <a:txBody>
                    <a:bodyPr/>
                    <a:lstStyle/>
                    <a:p>
                      <a:pPr algn="r" fontAlgn="base"/>
                      <a:r>
                        <a:rPr lang="ru-RU" sz="2400" b="0" i="0">
                          <a:solidFill>
                            <a:srgbClr val="AFAFAF"/>
                          </a:solidFill>
                          <a:effectLst/>
                          <a:latin typeface="var(--code-font-family)"/>
                        </a:rPr>
                        <a:t>1</a:t>
                      </a:r>
                    </a:p>
                    <a:p>
                      <a:pPr algn="r" fontAlgn="base"/>
                      <a:r>
                        <a:rPr lang="ru-RU" sz="2400" b="0" i="0">
                          <a:solidFill>
                            <a:srgbClr val="AFAFAF"/>
                          </a:solidFill>
                          <a:effectLst/>
                          <a:latin typeface="var(--code-font-family)"/>
                        </a:rPr>
                        <a:t>2</a:t>
                      </a:r>
                    </a:p>
                    <a:p>
                      <a:pPr algn="r" fontAlgn="base"/>
                      <a:r>
                        <a:rPr lang="ru-RU" sz="2400" b="0" i="0">
                          <a:solidFill>
                            <a:srgbClr val="AFAFAF"/>
                          </a:solidFill>
                          <a:effectLst/>
                          <a:latin typeface="var(--code-font-family)"/>
                        </a:rPr>
                        <a:t>3</a:t>
                      </a:r>
                    </a:p>
                    <a:p>
                      <a:pPr algn="r" fontAlgn="base"/>
                      <a:r>
                        <a:rPr lang="ru-RU" sz="2400" b="0" i="0">
                          <a:solidFill>
                            <a:srgbClr val="AFAFAF"/>
                          </a:solidFill>
                          <a:effectLst/>
                          <a:latin typeface="var(--code-font-family)"/>
                        </a:rPr>
                        <a:t>4</a:t>
                      </a:r>
                    </a:p>
                    <a:p>
                      <a:pPr algn="r" fontAlgn="base"/>
                      <a:r>
                        <a:rPr lang="ru-RU" sz="2400" b="0" i="0">
                          <a:solidFill>
                            <a:srgbClr val="AFAFAF"/>
                          </a:solidFill>
                          <a:effectLst/>
                          <a:latin typeface="var(--code-font-family)"/>
                        </a:rPr>
                        <a:t>5</a:t>
                      </a:r>
                    </a:p>
                    <a:p>
                      <a:pPr algn="r" fontAlgn="base"/>
                      <a:r>
                        <a:rPr lang="ru-RU" sz="2400" b="0" i="0">
                          <a:solidFill>
                            <a:srgbClr val="AFAFAF"/>
                          </a:solidFill>
                          <a:effectLst/>
                          <a:latin typeface="var(--code-font-family)"/>
                        </a:rPr>
                        <a:t>6</a:t>
                      </a:r>
                    </a:p>
                    <a:p>
                      <a:pPr algn="r" fontAlgn="base"/>
                      <a:r>
                        <a:rPr lang="ru-RU" sz="2400" b="0" i="0">
                          <a:solidFill>
                            <a:srgbClr val="AFAFAF"/>
                          </a:solidFill>
                          <a:effectLst/>
                          <a:latin typeface="var(--code-font-family)"/>
                        </a:rPr>
                        <a:t>7</a:t>
                      </a:r>
                    </a:p>
                    <a:p>
                      <a:pPr algn="r" fontAlgn="base"/>
                      <a:r>
                        <a:rPr lang="ru-RU" sz="2400" b="0" i="0">
                          <a:solidFill>
                            <a:srgbClr val="AFAFAF"/>
                          </a:solidFill>
                          <a:effectLst/>
                          <a:latin typeface="var(--code-font-family)"/>
                        </a:rPr>
                        <a:t>8</a:t>
                      </a:r>
                    </a:p>
                    <a:p>
                      <a:pPr algn="r" fontAlgn="base"/>
                      <a:r>
                        <a:rPr lang="ru-RU" sz="2400" b="0" i="0">
                          <a:solidFill>
                            <a:srgbClr val="AFAFAF"/>
                          </a:solidFill>
                          <a:effectLst/>
                          <a:latin typeface="var(--code-font-family)"/>
                        </a:rPr>
                        <a:t>9</a:t>
                      </a:r>
                    </a:p>
                  </a:txBody>
                  <a:tcPr marL="0" marR="0" marT="0" marB="0" anchor="ctr">
                    <a:lnL>
                      <a:noFill/>
                    </a:lnL>
                    <a:lnR>
                      <a:noFill/>
                    </a:lnR>
                    <a:lnT>
                      <a:noFill/>
                    </a:lnT>
                    <a:lnB>
                      <a:noFill/>
                    </a:lnB>
                    <a:solidFill>
                      <a:srgbClr val="F7F7FA"/>
                    </a:solidFill>
                  </a:tcPr>
                </a:tc>
                <a:tc>
                  <a:txBody>
                    <a:bodyPr/>
                    <a:lstStyle/>
                    <a:p>
                      <a:pPr algn="l" fontAlgn="base"/>
                      <a:r>
                        <a:rPr lang="en" sz="2400" b="0" i="0" dirty="0">
                          <a:effectLst/>
                          <a:latin typeface="var(--code-font-family)"/>
                        </a:rPr>
                        <a:t>CREATE TABLE Customers</a:t>
                      </a:r>
                    </a:p>
                    <a:p>
                      <a:pPr algn="l" fontAlgn="base"/>
                      <a:r>
                        <a:rPr lang="en" sz="2400" b="0" i="0" dirty="0">
                          <a:effectLst/>
                          <a:latin typeface="var(--code-font-family)"/>
                        </a:rPr>
                        <a:t>(</a:t>
                      </a:r>
                    </a:p>
                    <a:p>
                      <a:pPr algn="l" fontAlgn="base"/>
                      <a:r>
                        <a:rPr lang="en" sz="2400" b="0" i="0" dirty="0">
                          <a:effectLst/>
                          <a:latin typeface="var(--code-font-family)"/>
                        </a:rPr>
                        <a:t>    Id INT PRIMARY KEY,</a:t>
                      </a:r>
                    </a:p>
                    <a:p>
                      <a:pPr algn="l" fontAlgn="base"/>
                      <a:r>
                        <a:rPr lang="en" sz="2400" b="0" i="0" dirty="0">
                          <a:effectLst/>
                          <a:latin typeface="var(--code-font-family)"/>
                        </a:rPr>
                        <a:t>    Age INT,</a:t>
                      </a:r>
                    </a:p>
                    <a:p>
                      <a:pPr algn="l" fontAlgn="base"/>
                      <a:r>
                        <a:rPr lang="en" sz="2400" b="0" i="0" dirty="0">
                          <a:effectLst/>
                          <a:latin typeface="var(--code-font-family)"/>
                        </a:rPr>
                        <a:t>    FirstName NVARCHAR(20),</a:t>
                      </a:r>
                    </a:p>
                    <a:p>
                      <a:pPr algn="l" fontAlgn="base"/>
                      <a:r>
                        <a:rPr lang="en" sz="2400" b="0" i="0" dirty="0">
                          <a:effectLst/>
                          <a:latin typeface="var(--code-font-family)"/>
                        </a:rPr>
                        <a:t>    </a:t>
                      </a:r>
                      <a:r>
                        <a:rPr lang="en" sz="2400" b="0" i="0" dirty="0" err="1">
                          <a:effectLst/>
                          <a:latin typeface="var(--code-font-family)"/>
                        </a:rPr>
                        <a:t>LastName</a:t>
                      </a:r>
                      <a:r>
                        <a:rPr lang="en" sz="2400" b="0" i="0" dirty="0">
                          <a:effectLst/>
                          <a:latin typeface="var(--code-font-family)"/>
                        </a:rPr>
                        <a:t> NVARCHAR(20),</a:t>
                      </a:r>
                    </a:p>
                    <a:p>
                      <a:pPr algn="l" fontAlgn="base"/>
                      <a:r>
                        <a:rPr lang="en" sz="2400" b="0" i="0" dirty="0">
                          <a:effectLst/>
                          <a:latin typeface="var(--code-font-family)"/>
                        </a:rPr>
                        <a:t>    Email VARCHAR(30),</a:t>
                      </a:r>
                    </a:p>
                    <a:p>
                      <a:pPr algn="l" fontAlgn="base"/>
                      <a:r>
                        <a:rPr lang="en" sz="2400" b="0" i="0" dirty="0">
                          <a:effectLst/>
                          <a:latin typeface="var(--code-font-family)"/>
                        </a:rPr>
                        <a:t>    Phone VARCHAR(20)</a:t>
                      </a:r>
                    </a:p>
                    <a:p>
                      <a:pPr algn="l" fontAlgn="base"/>
                      <a:r>
                        <a:rPr lang="en" sz="2400" b="0" i="0" dirty="0">
                          <a:effectLst/>
                          <a:latin typeface="var(--code-font-family)"/>
                        </a:rPr>
                        <a:t>)</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3449177004"/>
                  </a:ext>
                </a:extLst>
              </a:tr>
            </a:tbl>
          </a:graphicData>
        </a:graphic>
      </p:graphicFrame>
    </p:spTree>
    <p:extLst>
      <p:ext uri="{BB962C8B-B14F-4D97-AF65-F5344CB8AC3E}">
        <p14:creationId xmlns:p14="http://schemas.microsoft.com/office/powerpoint/2010/main" val="28533455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BD3282-B11B-1AFD-75FC-82FF08482664}"/>
              </a:ext>
            </a:extLst>
          </p:cNvPr>
          <p:cNvSpPr txBox="1"/>
          <p:nvPr/>
        </p:nvSpPr>
        <p:spPr>
          <a:xfrm>
            <a:off x="330957" y="0"/>
            <a:ext cx="10914797" cy="1815882"/>
          </a:xfrm>
          <a:prstGeom prst="rect">
            <a:avLst/>
          </a:prstGeom>
          <a:noFill/>
        </p:spPr>
        <p:txBody>
          <a:bodyPr wrap="square">
            <a:spAutoFit/>
          </a:bodyPr>
          <a:lstStyle/>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Первичный ключ уникально идентифицирует строку в таблице. В качестве первичного ключа необязательно должны выступать столбцы с типом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int,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они могут представлять любой другой тип.</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Установка первичного ключа на уровне таблицы:</a:t>
            </a:r>
          </a:p>
        </p:txBody>
      </p:sp>
      <p:graphicFrame>
        <p:nvGraphicFramePr>
          <p:cNvPr id="6" name="Таблица 5">
            <a:extLst>
              <a:ext uri="{FF2B5EF4-FFF2-40B4-BE49-F238E27FC236}">
                <a16:creationId xmlns:a16="http://schemas.microsoft.com/office/drawing/2014/main" id="{21EB1C40-888B-059F-F85F-DD54FFF2D37D}"/>
              </a:ext>
            </a:extLst>
          </p:cNvPr>
          <p:cNvGraphicFramePr>
            <a:graphicFrameLocks noGrp="1"/>
          </p:cNvGraphicFramePr>
          <p:nvPr>
            <p:extLst>
              <p:ext uri="{D42A27DB-BD31-4B8C-83A1-F6EECF244321}">
                <p14:modId xmlns:p14="http://schemas.microsoft.com/office/powerpoint/2010/main" val="2385771267"/>
              </p:ext>
            </p:extLst>
          </p:nvPr>
        </p:nvGraphicFramePr>
        <p:xfrm>
          <a:off x="330957" y="2057400"/>
          <a:ext cx="7747539" cy="3657600"/>
        </p:xfrm>
        <a:graphic>
          <a:graphicData uri="http://schemas.openxmlformats.org/drawingml/2006/table">
            <a:tbl>
              <a:tblPr/>
              <a:tblGrid>
                <a:gridCol w="388734">
                  <a:extLst>
                    <a:ext uri="{9D8B030D-6E8A-4147-A177-3AD203B41FA5}">
                      <a16:colId xmlns:a16="http://schemas.microsoft.com/office/drawing/2014/main" val="4188574409"/>
                    </a:ext>
                  </a:extLst>
                </a:gridCol>
                <a:gridCol w="7358805">
                  <a:extLst>
                    <a:ext uri="{9D8B030D-6E8A-4147-A177-3AD203B41FA5}">
                      <a16:colId xmlns:a16="http://schemas.microsoft.com/office/drawing/2014/main" val="2249434417"/>
                    </a:ext>
                  </a:extLst>
                </a:gridCol>
              </a:tblGrid>
              <a:tr h="0">
                <a:tc>
                  <a:txBody>
                    <a:bodyPr/>
                    <a:lstStyle/>
                    <a:p>
                      <a:pPr algn="r" fontAlgn="base"/>
                      <a:r>
                        <a:rPr lang="ru-RU" b="0" i="0">
                          <a:solidFill>
                            <a:srgbClr val="AFAFAF"/>
                          </a:solidFill>
                          <a:effectLst/>
                          <a:latin typeface="var(--code-font-family)"/>
                        </a:rPr>
                        <a:t>1</a:t>
                      </a:r>
                    </a:p>
                    <a:p>
                      <a:pPr algn="r" fontAlgn="base"/>
                      <a:r>
                        <a:rPr lang="ru-RU" b="0" i="0">
                          <a:solidFill>
                            <a:srgbClr val="AFAFAF"/>
                          </a:solidFill>
                          <a:effectLst/>
                          <a:latin typeface="var(--code-font-family)"/>
                        </a:rPr>
                        <a:t>2</a:t>
                      </a:r>
                    </a:p>
                    <a:p>
                      <a:pPr algn="r" fontAlgn="base"/>
                      <a:r>
                        <a:rPr lang="ru-RU" b="0" i="0">
                          <a:solidFill>
                            <a:srgbClr val="AFAFAF"/>
                          </a:solidFill>
                          <a:effectLst/>
                          <a:latin typeface="var(--code-font-family)"/>
                        </a:rPr>
                        <a:t>3</a:t>
                      </a:r>
                    </a:p>
                    <a:p>
                      <a:pPr algn="r" fontAlgn="base"/>
                      <a:r>
                        <a:rPr lang="ru-RU" b="0" i="0">
                          <a:solidFill>
                            <a:srgbClr val="AFAFAF"/>
                          </a:solidFill>
                          <a:effectLst/>
                          <a:latin typeface="var(--code-font-family)"/>
                        </a:rPr>
                        <a:t>4</a:t>
                      </a:r>
                    </a:p>
                    <a:p>
                      <a:pPr algn="r" fontAlgn="base"/>
                      <a:r>
                        <a:rPr lang="ru-RU" b="0" i="0">
                          <a:solidFill>
                            <a:srgbClr val="AFAFAF"/>
                          </a:solidFill>
                          <a:effectLst/>
                          <a:latin typeface="var(--code-font-family)"/>
                        </a:rPr>
                        <a:t>5</a:t>
                      </a:r>
                    </a:p>
                    <a:p>
                      <a:pPr algn="r" fontAlgn="base"/>
                      <a:r>
                        <a:rPr lang="ru-RU" b="0" i="0">
                          <a:solidFill>
                            <a:srgbClr val="AFAFAF"/>
                          </a:solidFill>
                          <a:effectLst/>
                          <a:latin typeface="var(--code-font-family)"/>
                        </a:rPr>
                        <a:t>6</a:t>
                      </a:r>
                    </a:p>
                    <a:p>
                      <a:pPr algn="r" fontAlgn="base"/>
                      <a:r>
                        <a:rPr lang="ru-RU" b="0" i="0">
                          <a:solidFill>
                            <a:srgbClr val="AFAFAF"/>
                          </a:solidFill>
                          <a:effectLst/>
                          <a:latin typeface="var(--code-font-family)"/>
                        </a:rPr>
                        <a:t>7</a:t>
                      </a:r>
                    </a:p>
                    <a:p>
                      <a:pPr algn="r" fontAlgn="base"/>
                      <a:r>
                        <a:rPr lang="ru-RU" b="0" i="0">
                          <a:solidFill>
                            <a:srgbClr val="AFAFAF"/>
                          </a:solidFill>
                          <a:effectLst/>
                          <a:latin typeface="var(--code-font-family)"/>
                        </a:rPr>
                        <a:t>8</a:t>
                      </a:r>
                    </a:p>
                    <a:p>
                      <a:pPr algn="r" fontAlgn="base"/>
                      <a:r>
                        <a:rPr lang="ru-RU" b="0" i="0">
                          <a:solidFill>
                            <a:srgbClr val="AFAFAF"/>
                          </a:solidFill>
                          <a:effectLst/>
                          <a:latin typeface="var(--code-font-family)"/>
                        </a:rPr>
                        <a:t>9</a:t>
                      </a:r>
                    </a:p>
                    <a:p>
                      <a:pPr algn="r" fontAlgn="base"/>
                      <a:r>
                        <a:rPr lang="ru-RU" b="0" i="0">
                          <a:solidFill>
                            <a:srgbClr val="AFAFAF"/>
                          </a:solidFill>
                          <a:effectLst/>
                          <a:latin typeface="var(--code-font-family)"/>
                        </a:rPr>
                        <a:t>10</a:t>
                      </a:r>
                    </a:p>
                  </a:txBody>
                  <a:tcPr marL="0" marR="0" marT="0" marB="0" anchor="ctr">
                    <a:lnL>
                      <a:noFill/>
                    </a:lnL>
                    <a:lnR>
                      <a:noFill/>
                    </a:lnR>
                    <a:lnT>
                      <a:noFill/>
                    </a:lnT>
                    <a:lnB>
                      <a:noFill/>
                    </a:lnB>
                    <a:solidFill>
                      <a:srgbClr val="F7F7FA"/>
                    </a:solidFill>
                  </a:tcPr>
                </a:tc>
                <a:tc>
                  <a:txBody>
                    <a:bodyPr/>
                    <a:lstStyle/>
                    <a:p>
                      <a:pPr algn="l" fontAlgn="base"/>
                      <a:r>
                        <a:rPr lang="en" sz="2400" b="0" i="0" dirty="0">
                          <a:effectLst/>
                          <a:latin typeface="var(--code-font-family)"/>
                        </a:rPr>
                        <a:t>CREATE TABLE Customers</a:t>
                      </a:r>
                    </a:p>
                    <a:p>
                      <a:pPr algn="l" fontAlgn="base"/>
                      <a:r>
                        <a:rPr lang="en" sz="2400" b="0" i="0" dirty="0">
                          <a:effectLst/>
                          <a:latin typeface="var(--code-font-family)"/>
                        </a:rPr>
                        <a:t>(</a:t>
                      </a:r>
                    </a:p>
                    <a:p>
                      <a:pPr algn="l" fontAlgn="base"/>
                      <a:r>
                        <a:rPr lang="en" sz="2400" b="0" i="0" dirty="0">
                          <a:effectLst/>
                          <a:latin typeface="var(--code-font-family)"/>
                        </a:rPr>
                        <a:t>    Id INT,</a:t>
                      </a:r>
                    </a:p>
                    <a:p>
                      <a:pPr algn="l" fontAlgn="base"/>
                      <a:r>
                        <a:rPr lang="en" sz="2400" b="0" i="0" dirty="0">
                          <a:effectLst/>
                          <a:latin typeface="var(--code-font-family)"/>
                        </a:rPr>
                        <a:t>    Age INT,</a:t>
                      </a:r>
                    </a:p>
                    <a:p>
                      <a:pPr algn="l" fontAlgn="base"/>
                      <a:r>
                        <a:rPr lang="en" sz="2400" b="0" i="0" dirty="0">
                          <a:effectLst/>
                          <a:latin typeface="var(--code-font-family)"/>
                        </a:rPr>
                        <a:t>    FirstName NVARCHAR(20),</a:t>
                      </a:r>
                    </a:p>
                    <a:p>
                      <a:pPr algn="l" fontAlgn="base"/>
                      <a:r>
                        <a:rPr lang="en" sz="2400" b="0" i="0" dirty="0">
                          <a:effectLst/>
                          <a:latin typeface="var(--code-font-family)"/>
                        </a:rPr>
                        <a:t>    </a:t>
                      </a:r>
                      <a:r>
                        <a:rPr lang="en" sz="2400" b="0" i="0" dirty="0" err="1">
                          <a:effectLst/>
                          <a:latin typeface="var(--code-font-family)"/>
                        </a:rPr>
                        <a:t>LastName</a:t>
                      </a:r>
                      <a:r>
                        <a:rPr lang="en" sz="2400" b="0" i="0" dirty="0">
                          <a:effectLst/>
                          <a:latin typeface="var(--code-font-family)"/>
                        </a:rPr>
                        <a:t> NVARCHAR(20),</a:t>
                      </a:r>
                    </a:p>
                    <a:p>
                      <a:pPr algn="l" fontAlgn="base"/>
                      <a:r>
                        <a:rPr lang="en" sz="2400" b="0" i="0" dirty="0">
                          <a:effectLst/>
                          <a:latin typeface="var(--code-font-family)"/>
                        </a:rPr>
                        <a:t>    Email VARCHAR(30),</a:t>
                      </a:r>
                    </a:p>
                    <a:p>
                      <a:pPr algn="l" fontAlgn="base"/>
                      <a:r>
                        <a:rPr lang="en" sz="2400" b="0" i="0" dirty="0">
                          <a:effectLst/>
                          <a:latin typeface="var(--code-font-family)"/>
                        </a:rPr>
                        <a:t>    Phone VARCHAR(20),</a:t>
                      </a:r>
                    </a:p>
                    <a:p>
                      <a:pPr algn="l" fontAlgn="base"/>
                      <a:r>
                        <a:rPr lang="en" sz="2400" b="0" i="0" dirty="0">
                          <a:effectLst/>
                          <a:latin typeface="var(--code-font-family)"/>
                        </a:rPr>
                        <a:t>    PRIMARY KEY(Id)</a:t>
                      </a:r>
                    </a:p>
                    <a:p>
                      <a:pPr algn="l" fontAlgn="base"/>
                      <a:r>
                        <a:rPr lang="en" sz="2400" b="0" i="0" dirty="0">
                          <a:effectLst/>
                          <a:latin typeface="var(--code-font-family)"/>
                        </a:rPr>
                        <a:t>)</a:t>
                      </a:r>
                    </a:p>
                  </a:txBody>
                  <a:tcPr marL="0" marR="0" marT="0" marB="0" anchor="ctr">
                    <a:lnL>
                      <a:noFill/>
                    </a:lnL>
                    <a:lnR>
                      <a:noFill/>
                    </a:lnR>
                    <a:lnT>
                      <a:noFill/>
                    </a:lnT>
                    <a:lnB>
                      <a:noFill/>
                    </a:lnB>
                    <a:solidFill>
                      <a:srgbClr val="F7F7FA"/>
                    </a:solidFill>
                  </a:tcPr>
                </a:tc>
                <a:extLst>
                  <a:ext uri="{0D108BD9-81ED-4DB2-BD59-A6C34878D82A}">
                    <a16:rowId xmlns:a16="http://schemas.microsoft.com/office/drawing/2014/main" val="1961079361"/>
                  </a:ext>
                </a:extLst>
              </a:tr>
            </a:tbl>
          </a:graphicData>
        </a:graphic>
      </p:graphicFrame>
    </p:spTree>
    <p:extLst>
      <p:ext uri="{BB962C8B-B14F-4D97-AF65-F5344CB8AC3E}">
        <p14:creationId xmlns:p14="http://schemas.microsoft.com/office/powerpoint/2010/main" val="9865125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F5A37C-791C-9894-D472-99661399E74A}"/>
              </a:ext>
            </a:extLst>
          </p:cNvPr>
          <p:cNvSpPr txBox="1"/>
          <p:nvPr/>
        </p:nvSpPr>
        <p:spPr>
          <a:xfrm>
            <a:off x="249072" y="308929"/>
            <a:ext cx="11610832" cy="3539430"/>
          </a:xfrm>
          <a:prstGeom prst="rect">
            <a:avLst/>
          </a:prstGeom>
          <a:noFill/>
        </p:spPr>
        <p:txBody>
          <a:bodyPr wrap="square">
            <a:spAutoFit/>
          </a:bodyPr>
          <a:lstStyle/>
          <a:p>
            <a:pPr algn="just"/>
            <a:r>
              <a:rPr lang="en" sz="2800" b="1" i="0" u="none" strike="noStrike" dirty="0">
                <a:solidFill>
                  <a:srgbClr val="000000"/>
                </a:solidFill>
                <a:effectLst/>
                <a:latin typeface="Times New Roman" panose="02020603050405020304" pitchFamily="18" charset="0"/>
                <a:cs typeface="Times New Roman" panose="02020603050405020304" pitchFamily="18" charset="0"/>
              </a:rPr>
              <a:t>IDENTITY</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Атрибут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IDENTITY</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позволяет сделать столбец идентификатором. Этот атрибут может назначаться для столбцов числовых типов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INT, SMALLINT, BIGINT, TYNIINT, DECIMAL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NUMERIC.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При добавлении новых данных в таблицу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SQL Server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будет инкрементировать на единицу значение этого столбца у последней записи. Как правило, в роли идентификатора выступает тот же столбец, который является первичным ключом, хотя в принципе это необязательно.</a:t>
            </a:r>
          </a:p>
        </p:txBody>
      </p:sp>
      <p:sp>
        <p:nvSpPr>
          <p:cNvPr id="7" name="TextBox 6">
            <a:extLst>
              <a:ext uri="{FF2B5EF4-FFF2-40B4-BE49-F238E27FC236}">
                <a16:creationId xmlns:a16="http://schemas.microsoft.com/office/drawing/2014/main" id="{D98FFB9E-8898-8295-EF18-D2FC07A2A0CB}"/>
              </a:ext>
            </a:extLst>
          </p:cNvPr>
          <p:cNvSpPr txBox="1"/>
          <p:nvPr/>
        </p:nvSpPr>
        <p:spPr>
          <a:xfrm>
            <a:off x="1941394" y="3963748"/>
            <a:ext cx="6093724" cy="2585323"/>
          </a:xfrm>
          <a:prstGeom prst="rect">
            <a:avLst/>
          </a:prstGeom>
          <a:noFill/>
        </p:spPr>
        <p:txBody>
          <a:bodyPr wrap="square">
            <a:spAutoFit/>
          </a:bodyPr>
          <a:lstStyle/>
          <a:p>
            <a:pPr algn="l" fontAlgn="base"/>
            <a:r>
              <a:rPr lang="en" b="0" i="0" u="none" strike="noStrike" dirty="0">
                <a:solidFill>
                  <a:srgbClr val="000000"/>
                </a:solidFill>
                <a:effectLst/>
                <a:latin typeface="Consolas" panose="020B0609020204030204" pitchFamily="49" charset="0"/>
              </a:rPr>
              <a:t>CREATE TABLE Customers</a:t>
            </a:r>
          </a:p>
          <a:p>
            <a:pPr algn="l" fontAlgn="base"/>
            <a:r>
              <a:rPr lang="en" b="0" i="0" u="none" strike="noStrike" dirty="0">
                <a:solidFill>
                  <a:srgbClr val="000000"/>
                </a:solidFill>
                <a:effectLst/>
                <a:latin typeface="Consolas" panose="020B0609020204030204" pitchFamily="49" charset="0"/>
              </a:rPr>
              <a:t>(</a:t>
            </a:r>
          </a:p>
          <a:p>
            <a:pPr algn="l" fontAlgn="base"/>
            <a:r>
              <a:rPr lang="en" b="0" i="0" u="none" strike="noStrike" dirty="0">
                <a:solidFill>
                  <a:srgbClr val="000000"/>
                </a:solidFill>
                <a:effectLst/>
                <a:latin typeface="Consolas" panose="020B0609020204030204" pitchFamily="49" charset="0"/>
              </a:rPr>
              <a:t>    Id INT PRIMARY KEY IDENTITY,</a:t>
            </a:r>
          </a:p>
          <a:p>
            <a:pPr algn="l" fontAlgn="base"/>
            <a:r>
              <a:rPr lang="en" b="0" i="0" u="none" strike="noStrike" dirty="0">
                <a:solidFill>
                  <a:srgbClr val="000000"/>
                </a:solidFill>
                <a:effectLst/>
                <a:latin typeface="Consolas" panose="020B0609020204030204" pitchFamily="49" charset="0"/>
              </a:rPr>
              <a:t>    Age INT,</a:t>
            </a:r>
          </a:p>
          <a:p>
            <a:pPr algn="l" fontAlgn="base"/>
            <a:r>
              <a:rPr lang="en" b="0" i="0" u="none" strike="noStrike" dirty="0">
                <a:solidFill>
                  <a:srgbClr val="000000"/>
                </a:solidFill>
                <a:effectLst/>
                <a:latin typeface="Consolas" panose="020B0609020204030204" pitchFamily="49" charset="0"/>
              </a:rPr>
              <a:t>    FirstName NVARCHAR(20),</a:t>
            </a:r>
          </a:p>
          <a:p>
            <a:pPr algn="l" fontAlgn="base"/>
            <a:r>
              <a:rPr lang="en" b="0" i="0" u="none" strike="noStrike" dirty="0">
                <a:solidFill>
                  <a:srgbClr val="000000"/>
                </a:solidFill>
                <a:effectLst/>
                <a:latin typeface="Consolas" panose="020B0609020204030204" pitchFamily="49" charset="0"/>
              </a:rPr>
              <a:t>    </a:t>
            </a:r>
            <a:r>
              <a:rPr lang="en" b="0" i="0" u="none" strike="noStrike" dirty="0" err="1">
                <a:solidFill>
                  <a:srgbClr val="000000"/>
                </a:solidFill>
                <a:effectLst/>
                <a:latin typeface="Consolas" panose="020B0609020204030204" pitchFamily="49" charset="0"/>
              </a:rPr>
              <a:t>LastName</a:t>
            </a:r>
            <a:r>
              <a:rPr lang="en" b="0" i="0" u="none" strike="noStrike" dirty="0">
                <a:solidFill>
                  <a:srgbClr val="000000"/>
                </a:solidFill>
                <a:effectLst/>
                <a:latin typeface="Consolas" panose="020B0609020204030204" pitchFamily="49" charset="0"/>
              </a:rPr>
              <a:t> NVARCHAR(20),</a:t>
            </a:r>
          </a:p>
          <a:p>
            <a:pPr algn="l" fontAlgn="base"/>
            <a:r>
              <a:rPr lang="en" b="0" i="0" u="none" strike="noStrike" dirty="0">
                <a:solidFill>
                  <a:srgbClr val="000000"/>
                </a:solidFill>
                <a:effectLst/>
                <a:latin typeface="Consolas" panose="020B0609020204030204" pitchFamily="49" charset="0"/>
              </a:rPr>
              <a:t>    Email VARCHAR(30),</a:t>
            </a:r>
          </a:p>
          <a:p>
            <a:pPr algn="l" fontAlgn="base"/>
            <a:r>
              <a:rPr lang="en" b="0" i="0" u="none" strike="noStrike" dirty="0">
                <a:solidFill>
                  <a:srgbClr val="000000"/>
                </a:solidFill>
                <a:effectLst/>
                <a:latin typeface="Consolas" panose="020B0609020204030204" pitchFamily="49" charset="0"/>
              </a:rPr>
              <a:t>    Phone VARCHAR(20)</a:t>
            </a:r>
          </a:p>
          <a:p>
            <a:pPr algn="l" fontAlgn="base"/>
            <a:r>
              <a:rPr lang="en" b="0" i="0" u="none" strike="noStrike"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776991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8C5A046-9C0B-5CF2-B437-D7CF9118075B}"/>
              </a:ext>
            </a:extLst>
          </p:cNvPr>
          <p:cNvSpPr txBox="1"/>
          <p:nvPr/>
        </p:nvSpPr>
        <p:spPr>
          <a:xfrm>
            <a:off x="276367" y="254843"/>
            <a:ext cx="11542594" cy="1384995"/>
          </a:xfrm>
          <a:prstGeom prst="rect">
            <a:avLst/>
          </a:prstGeom>
          <a:noFill/>
        </p:spPr>
        <p:txBody>
          <a:bodyPr wrap="square">
            <a:spAutoFit/>
          </a:bodyPr>
          <a:lstStyle/>
          <a:p>
            <a:pPr algn="l"/>
            <a:r>
              <a:rPr lang="en" sz="2800" b="1" i="0" u="none" strike="noStrike" dirty="0">
                <a:solidFill>
                  <a:srgbClr val="000000"/>
                </a:solidFill>
                <a:effectLst/>
                <a:latin typeface="Times New Roman" panose="02020603050405020304" pitchFamily="18" charset="0"/>
                <a:cs typeface="Times New Roman" panose="02020603050405020304" pitchFamily="18" charset="0"/>
              </a:rPr>
              <a:t>UNIQUE</a:t>
            </a:r>
          </a:p>
          <a:p>
            <a:pPr algn="l"/>
            <a:r>
              <a:rPr lang="ru-RU" sz="2800" b="0" i="0" u="none" strike="noStrike" dirty="0">
                <a:solidFill>
                  <a:srgbClr val="000000"/>
                </a:solidFill>
                <a:effectLst/>
                <a:latin typeface="Times New Roman" panose="02020603050405020304" pitchFamily="18" charset="0"/>
                <a:cs typeface="Times New Roman" panose="02020603050405020304" pitchFamily="18" charset="0"/>
              </a:rPr>
              <a:t>Если мы хотим, чтобы столбец имел только уникальные значения, то для него можно определить атрибут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UNIQUE</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695C2680-D79D-CE0C-DD26-C6DA97773222}"/>
              </a:ext>
            </a:extLst>
          </p:cNvPr>
          <p:cNvSpPr txBox="1"/>
          <p:nvPr/>
        </p:nvSpPr>
        <p:spPr>
          <a:xfrm>
            <a:off x="590266" y="1812204"/>
            <a:ext cx="6093724" cy="3416320"/>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CREATE TABLE Customers</a:t>
            </a:r>
          </a:p>
          <a:p>
            <a:pPr algn="l" fontAlgn="base"/>
            <a:r>
              <a:rPr lang="en" sz="2400" b="0" i="0" u="none" strike="noStrike" dirty="0">
                <a:solidFill>
                  <a:srgbClr val="000000"/>
                </a:solidFill>
                <a:effectLst/>
                <a:latin typeface="Consolas" panose="020B0609020204030204" pitchFamily="49" charset="0"/>
              </a:rPr>
              <a:t>(</a:t>
            </a:r>
          </a:p>
          <a:p>
            <a:pPr algn="l" fontAlgn="base"/>
            <a:r>
              <a:rPr lang="en" sz="2400" b="0" i="0" u="none" strike="noStrike" dirty="0">
                <a:solidFill>
                  <a:srgbClr val="000000"/>
                </a:solidFill>
                <a:effectLst/>
                <a:latin typeface="Consolas" panose="020B0609020204030204" pitchFamily="49" charset="0"/>
              </a:rPr>
              <a:t>    Id INT PRIMARY KEY IDENTITY,</a:t>
            </a:r>
          </a:p>
          <a:p>
            <a:pPr algn="l" fontAlgn="base"/>
            <a:r>
              <a:rPr lang="en" sz="2400" b="0" i="0" u="none" strike="noStrike" dirty="0">
                <a:solidFill>
                  <a:srgbClr val="000000"/>
                </a:solidFill>
                <a:effectLst/>
                <a:latin typeface="Consolas" panose="020B0609020204030204" pitchFamily="49" charset="0"/>
              </a:rPr>
              <a:t>    Age INT,</a:t>
            </a:r>
          </a:p>
          <a:p>
            <a:pPr algn="l" fontAlgn="base"/>
            <a:r>
              <a:rPr lang="en" sz="2400" b="0" i="0" u="none" strike="noStrike" dirty="0">
                <a:solidFill>
                  <a:srgbClr val="000000"/>
                </a:solidFill>
                <a:effectLst/>
                <a:latin typeface="Consolas" panose="020B0609020204030204" pitchFamily="49" charset="0"/>
              </a:rPr>
              <a:t>    FirstName NVARCHAR(20),</a:t>
            </a:r>
          </a:p>
          <a:p>
            <a:pPr algn="l" fontAlgn="base"/>
            <a:r>
              <a:rPr lang="en" sz="2400" b="0" i="0" u="none" strike="noStrike" dirty="0">
                <a:solidFill>
                  <a:srgbClr val="000000"/>
                </a:solidFill>
                <a:effectLst/>
                <a:latin typeface="Consolas" panose="020B0609020204030204" pitchFamily="49" charset="0"/>
              </a:rPr>
              <a:t>    </a:t>
            </a:r>
            <a:r>
              <a:rPr lang="en" sz="2400" b="0" i="0" u="none" strike="noStrike" dirty="0" err="1">
                <a:solidFill>
                  <a:srgbClr val="000000"/>
                </a:solidFill>
                <a:effectLst/>
                <a:latin typeface="Consolas" panose="020B0609020204030204" pitchFamily="49" charset="0"/>
              </a:rPr>
              <a:t>LastName</a:t>
            </a:r>
            <a:r>
              <a:rPr lang="en" sz="2400" b="0" i="0" u="none" strike="noStrike" dirty="0">
                <a:solidFill>
                  <a:srgbClr val="000000"/>
                </a:solidFill>
                <a:effectLst/>
                <a:latin typeface="Consolas" panose="020B0609020204030204" pitchFamily="49" charset="0"/>
              </a:rPr>
              <a:t> NVARCHAR(20),</a:t>
            </a:r>
          </a:p>
          <a:p>
            <a:pPr algn="l" fontAlgn="base"/>
            <a:r>
              <a:rPr lang="en" sz="2400" b="0" i="0" u="none" strike="noStrike" dirty="0">
                <a:solidFill>
                  <a:srgbClr val="000000"/>
                </a:solidFill>
                <a:effectLst/>
                <a:latin typeface="Consolas" panose="020B0609020204030204" pitchFamily="49" charset="0"/>
              </a:rPr>
              <a:t>    Email VARCHAR(30) UNIQUE,</a:t>
            </a:r>
          </a:p>
          <a:p>
            <a:pPr algn="l" fontAlgn="base"/>
            <a:r>
              <a:rPr lang="en" sz="2400" b="0" i="0" u="none" strike="noStrike" dirty="0">
                <a:solidFill>
                  <a:srgbClr val="000000"/>
                </a:solidFill>
                <a:effectLst/>
                <a:latin typeface="Consolas" panose="020B0609020204030204" pitchFamily="49" charset="0"/>
              </a:rPr>
              <a:t>    Phone VARCHAR(20) UNIQUE</a:t>
            </a:r>
          </a:p>
          <a:p>
            <a:pPr algn="l" fontAlgn="base"/>
            <a:r>
              <a:rPr lang="en" sz="2400" b="0" i="0" u="none" strike="noStrike"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4942469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EBBDDD-8511-002C-B810-416D8A6ACE40}"/>
              </a:ext>
            </a:extLst>
          </p:cNvPr>
          <p:cNvSpPr txBox="1"/>
          <p:nvPr/>
        </p:nvSpPr>
        <p:spPr>
          <a:xfrm>
            <a:off x="399197" y="324599"/>
            <a:ext cx="11542593" cy="3108543"/>
          </a:xfrm>
          <a:prstGeom prst="rect">
            <a:avLst/>
          </a:prstGeom>
          <a:noFill/>
        </p:spPr>
        <p:txBody>
          <a:bodyPr wrap="square">
            <a:spAutoFit/>
          </a:bodyPr>
          <a:lstStyle/>
          <a:p>
            <a:pPr algn="just"/>
            <a:r>
              <a:rPr lang="en" sz="2800" b="1" i="0" u="none" strike="noStrike" dirty="0">
                <a:solidFill>
                  <a:srgbClr val="000000"/>
                </a:solidFill>
                <a:effectLst/>
                <a:latin typeface="Times New Roman" panose="02020603050405020304" pitchFamily="18" charset="0"/>
                <a:cs typeface="Times New Roman" panose="02020603050405020304" pitchFamily="18" charset="0"/>
              </a:rPr>
              <a:t>NULL </a:t>
            </a:r>
            <a:r>
              <a:rPr lang="ru-RU" sz="2800" b="1" i="0" u="none" strike="noStrike" dirty="0">
                <a:solidFill>
                  <a:srgbClr val="000000"/>
                </a:solidFill>
                <a:effectLst/>
                <a:latin typeface="Times New Roman" panose="02020603050405020304" pitchFamily="18" charset="0"/>
                <a:cs typeface="Times New Roman" panose="02020603050405020304" pitchFamily="18" charset="0"/>
              </a:rPr>
              <a:t>и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NOT NULL</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Чтобы указать, может ли столбец принимать значение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NULL,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при определении столбца ему можно задать атрибут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NULL</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или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NOT NULL</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Если этот атрибут явным образом не будет использован, то по умолчанию столбец будет допускать значение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NULL.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Исключением является тот случай, когда столбец выступает в роли первичного ключа - в этом случае по умолчанию столбец имеет значение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NOT NULL.</a:t>
            </a:r>
          </a:p>
        </p:txBody>
      </p:sp>
      <p:sp>
        <p:nvSpPr>
          <p:cNvPr id="7" name="TextBox 6">
            <a:extLst>
              <a:ext uri="{FF2B5EF4-FFF2-40B4-BE49-F238E27FC236}">
                <a16:creationId xmlns:a16="http://schemas.microsoft.com/office/drawing/2014/main" id="{C106122C-E696-78DB-2F5A-CE9826FE4310}"/>
              </a:ext>
            </a:extLst>
          </p:cNvPr>
          <p:cNvSpPr txBox="1"/>
          <p:nvPr/>
        </p:nvSpPr>
        <p:spPr>
          <a:xfrm>
            <a:off x="3246460" y="3429000"/>
            <a:ext cx="6457097" cy="3416320"/>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CREATE TABLE Customers</a:t>
            </a:r>
          </a:p>
          <a:p>
            <a:pPr algn="l" fontAlgn="base"/>
            <a:r>
              <a:rPr lang="en" sz="2400" b="0" i="0" u="none" strike="noStrike" dirty="0">
                <a:solidFill>
                  <a:srgbClr val="000000"/>
                </a:solidFill>
                <a:effectLst/>
                <a:latin typeface="Consolas" panose="020B0609020204030204" pitchFamily="49" charset="0"/>
              </a:rPr>
              <a:t>(</a:t>
            </a:r>
          </a:p>
          <a:p>
            <a:pPr algn="l" fontAlgn="base"/>
            <a:r>
              <a:rPr lang="en" sz="2400" b="0" i="0" u="none" strike="noStrike" dirty="0">
                <a:solidFill>
                  <a:srgbClr val="000000"/>
                </a:solidFill>
                <a:effectLst/>
                <a:latin typeface="Consolas" panose="020B0609020204030204" pitchFamily="49" charset="0"/>
              </a:rPr>
              <a:t>    Id INT PRIMARY KEY IDENTITY,</a:t>
            </a:r>
          </a:p>
          <a:p>
            <a:pPr algn="l" fontAlgn="base"/>
            <a:r>
              <a:rPr lang="en" sz="2400" b="0" i="0" u="none" strike="noStrike" dirty="0">
                <a:solidFill>
                  <a:srgbClr val="000000"/>
                </a:solidFill>
                <a:effectLst/>
                <a:latin typeface="Consolas" panose="020B0609020204030204" pitchFamily="49" charset="0"/>
              </a:rPr>
              <a:t>    Age INT,</a:t>
            </a:r>
          </a:p>
          <a:p>
            <a:pPr algn="l" fontAlgn="base"/>
            <a:r>
              <a:rPr lang="en" sz="2400" b="0" i="0" u="none" strike="noStrike" dirty="0">
                <a:solidFill>
                  <a:srgbClr val="000000"/>
                </a:solidFill>
                <a:effectLst/>
                <a:latin typeface="Consolas" panose="020B0609020204030204" pitchFamily="49" charset="0"/>
              </a:rPr>
              <a:t>    FirstName NVARCHAR(20) NOT NULL,</a:t>
            </a:r>
          </a:p>
          <a:p>
            <a:pPr algn="l" fontAlgn="base"/>
            <a:r>
              <a:rPr lang="en" sz="2400" b="0" i="0" u="none" strike="noStrike" dirty="0">
                <a:solidFill>
                  <a:srgbClr val="000000"/>
                </a:solidFill>
                <a:effectLst/>
                <a:latin typeface="Consolas" panose="020B0609020204030204" pitchFamily="49" charset="0"/>
              </a:rPr>
              <a:t>    </a:t>
            </a:r>
            <a:r>
              <a:rPr lang="en" sz="2400" b="0" i="0" u="none" strike="noStrike" dirty="0" err="1">
                <a:solidFill>
                  <a:srgbClr val="000000"/>
                </a:solidFill>
                <a:effectLst/>
                <a:latin typeface="Consolas" panose="020B0609020204030204" pitchFamily="49" charset="0"/>
              </a:rPr>
              <a:t>LastName</a:t>
            </a:r>
            <a:r>
              <a:rPr lang="en" sz="2400" b="0" i="0" u="none" strike="noStrike" dirty="0">
                <a:solidFill>
                  <a:srgbClr val="000000"/>
                </a:solidFill>
                <a:effectLst/>
                <a:latin typeface="Consolas" panose="020B0609020204030204" pitchFamily="49" charset="0"/>
              </a:rPr>
              <a:t> NVARCHAR(20) NOT NULL,</a:t>
            </a:r>
          </a:p>
          <a:p>
            <a:pPr algn="l" fontAlgn="base"/>
            <a:r>
              <a:rPr lang="en" sz="2400" b="0" i="0" u="none" strike="noStrike" dirty="0">
                <a:solidFill>
                  <a:srgbClr val="000000"/>
                </a:solidFill>
                <a:effectLst/>
                <a:latin typeface="Consolas" panose="020B0609020204030204" pitchFamily="49" charset="0"/>
              </a:rPr>
              <a:t>    Email VARCHAR(30) UNIQUE,</a:t>
            </a:r>
          </a:p>
          <a:p>
            <a:pPr algn="l" fontAlgn="base"/>
            <a:r>
              <a:rPr lang="en" sz="2400" b="0" i="0" u="none" strike="noStrike" dirty="0">
                <a:solidFill>
                  <a:srgbClr val="000000"/>
                </a:solidFill>
                <a:effectLst/>
                <a:latin typeface="Consolas" panose="020B0609020204030204" pitchFamily="49" charset="0"/>
              </a:rPr>
              <a:t>    Phone VARCHAR(20) UNIQUE</a:t>
            </a:r>
          </a:p>
          <a:p>
            <a:pPr algn="l" fontAlgn="base"/>
            <a:r>
              <a:rPr lang="en" sz="2400" b="0" i="0" u="none" strike="noStrike"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6038833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A35A76-F62A-7825-2791-DA39210E873A}"/>
              </a:ext>
            </a:extLst>
          </p:cNvPr>
          <p:cNvSpPr txBox="1"/>
          <p:nvPr/>
        </p:nvSpPr>
        <p:spPr>
          <a:xfrm>
            <a:off x="453788" y="250799"/>
            <a:ext cx="11433411" cy="1815882"/>
          </a:xfrm>
          <a:prstGeom prst="rect">
            <a:avLst/>
          </a:prstGeom>
          <a:noFill/>
        </p:spPr>
        <p:txBody>
          <a:bodyPr wrap="square">
            <a:spAutoFit/>
          </a:bodyPr>
          <a:lstStyle/>
          <a:p>
            <a:pPr algn="just"/>
            <a:r>
              <a:rPr lang="en" sz="2800" b="1" i="0" u="none" strike="noStrike" dirty="0">
                <a:solidFill>
                  <a:srgbClr val="000000"/>
                </a:solidFill>
                <a:effectLst/>
                <a:latin typeface="Times New Roman" panose="02020603050405020304" pitchFamily="18" charset="0"/>
                <a:cs typeface="Times New Roman" panose="02020603050405020304" pitchFamily="18" charset="0"/>
              </a:rPr>
              <a:t>DEFAULT</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Атрибут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DEFAULT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определяет значение по умолчанию для столбца. Если при добавлении данных для столбца не будет предусмотрено значение, то для него будет использоваться значение по умолчанию.</a:t>
            </a:r>
          </a:p>
        </p:txBody>
      </p:sp>
      <p:sp>
        <p:nvSpPr>
          <p:cNvPr id="7" name="TextBox 6">
            <a:extLst>
              <a:ext uri="{FF2B5EF4-FFF2-40B4-BE49-F238E27FC236}">
                <a16:creationId xmlns:a16="http://schemas.microsoft.com/office/drawing/2014/main" id="{62A8F61A-3905-7E8D-0671-D30CD09750C3}"/>
              </a:ext>
            </a:extLst>
          </p:cNvPr>
          <p:cNvSpPr txBox="1"/>
          <p:nvPr/>
        </p:nvSpPr>
        <p:spPr>
          <a:xfrm>
            <a:off x="726744" y="2330820"/>
            <a:ext cx="6093724" cy="3416320"/>
          </a:xfrm>
          <a:prstGeom prst="rect">
            <a:avLst/>
          </a:prstGeom>
          <a:noFill/>
        </p:spPr>
        <p:txBody>
          <a:bodyPr wrap="square">
            <a:spAutoFit/>
          </a:bodyPr>
          <a:lstStyle/>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CREATE TABLE Customers</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    Id INT PRIMARY KEY IDENTITY,</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    Age INT DEFAULT 18,</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    FirstName NVARCHAR(20) NOT NULL,</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en" sz="2400" b="0" i="0" u="none" strike="noStrike" dirty="0" err="1">
                <a:solidFill>
                  <a:srgbClr val="000000"/>
                </a:solidFill>
                <a:effectLst/>
                <a:latin typeface="Times New Roman" panose="02020603050405020304" pitchFamily="18" charset="0"/>
                <a:cs typeface="Times New Roman" panose="02020603050405020304" pitchFamily="18" charset="0"/>
              </a:rPr>
              <a:t>LastName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NVARCHAR(20) NOT NULL,</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    Email VARCHAR(30) UNIQUE,</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    Phone VARCHAR(20) UNIQUE</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11376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43A7C5-A414-C9BC-AB0E-C1034D2C490E}"/>
              </a:ext>
            </a:extLst>
          </p:cNvPr>
          <p:cNvSpPr txBox="1"/>
          <p:nvPr/>
        </p:nvSpPr>
        <p:spPr>
          <a:xfrm>
            <a:off x="358253" y="328643"/>
            <a:ext cx="11488003" cy="1938992"/>
          </a:xfrm>
          <a:prstGeom prst="rect">
            <a:avLst/>
          </a:prstGeom>
          <a:noFill/>
        </p:spPr>
        <p:txBody>
          <a:bodyPr wrap="square">
            <a:spAutoFit/>
          </a:bodyPr>
          <a:lstStyle/>
          <a:p>
            <a:pPr algn="l"/>
            <a:r>
              <a:rPr lang="en" sz="2400" b="1" i="0" u="none" strike="noStrike" dirty="0">
                <a:solidFill>
                  <a:srgbClr val="000000"/>
                </a:solidFill>
                <a:effectLst/>
                <a:latin typeface="Times New Roman" panose="02020603050405020304" pitchFamily="18" charset="0"/>
                <a:cs typeface="Times New Roman" panose="02020603050405020304" pitchFamily="18" charset="0"/>
              </a:rPr>
              <a:t>CHECK</a:t>
            </a:r>
          </a:p>
          <a:p>
            <a:pPr algn="l"/>
            <a:r>
              <a:rPr lang="ru-RU" sz="2400" b="0" i="0" u="none" strike="noStrike" dirty="0">
                <a:solidFill>
                  <a:srgbClr val="000000"/>
                </a:solidFill>
                <a:effectLst/>
                <a:latin typeface="Times New Roman" panose="02020603050405020304" pitchFamily="18" charset="0"/>
                <a:cs typeface="Times New Roman" panose="02020603050405020304" pitchFamily="18" charset="0"/>
              </a:rPr>
              <a:t>Ключевое слово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CHECK</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задает ограничение для диапазона значений, которые могут храниться в столбце. Для этого после слова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CHECK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указывается в скобках условие, которому должен соответствовать столбец или несколько столбцов. Например, возраст клиентов не может быть меньше 0 или больше 100:</a:t>
            </a:r>
          </a:p>
        </p:txBody>
      </p:sp>
      <p:sp>
        <p:nvSpPr>
          <p:cNvPr id="7" name="TextBox 6">
            <a:extLst>
              <a:ext uri="{FF2B5EF4-FFF2-40B4-BE49-F238E27FC236}">
                <a16:creationId xmlns:a16="http://schemas.microsoft.com/office/drawing/2014/main" id="{009AE5F0-78E4-8DFF-6D67-7AAA16056E25}"/>
              </a:ext>
            </a:extLst>
          </p:cNvPr>
          <p:cNvSpPr txBox="1"/>
          <p:nvPr/>
        </p:nvSpPr>
        <p:spPr>
          <a:xfrm>
            <a:off x="658505" y="2267635"/>
            <a:ext cx="9017757" cy="3416320"/>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CREATE TABLE Customers</a:t>
            </a:r>
          </a:p>
          <a:p>
            <a:pPr algn="l" fontAlgn="base"/>
            <a:r>
              <a:rPr lang="en" sz="2400" b="0" i="0" u="none" strike="noStrike" dirty="0">
                <a:solidFill>
                  <a:srgbClr val="000000"/>
                </a:solidFill>
                <a:effectLst/>
                <a:latin typeface="Consolas" panose="020B0609020204030204" pitchFamily="49" charset="0"/>
              </a:rPr>
              <a:t>(</a:t>
            </a:r>
          </a:p>
          <a:p>
            <a:pPr algn="l" fontAlgn="base"/>
            <a:r>
              <a:rPr lang="en" sz="2400" b="0" i="0" u="none" strike="noStrike" dirty="0">
                <a:solidFill>
                  <a:srgbClr val="000000"/>
                </a:solidFill>
                <a:effectLst/>
                <a:latin typeface="Consolas" panose="020B0609020204030204" pitchFamily="49" charset="0"/>
              </a:rPr>
              <a:t>    Id INT PRIMARY KEY IDENTITY,</a:t>
            </a:r>
          </a:p>
          <a:p>
            <a:pPr algn="l" fontAlgn="base"/>
            <a:r>
              <a:rPr lang="en" sz="2400" b="0" i="0" u="none" strike="noStrike" dirty="0">
                <a:solidFill>
                  <a:srgbClr val="000000"/>
                </a:solidFill>
                <a:effectLst/>
                <a:latin typeface="Consolas" panose="020B0609020204030204" pitchFamily="49" charset="0"/>
              </a:rPr>
              <a:t>    Age INT DEFAULT 18 CHECK(Age &gt;0 AND Age &lt; 100),</a:t>
            </a:r>
          </a:p>
          <a:p>
            <a:pPr algn="l" fontAlgn="base"/>
            <a:r>
              <a:rPr lang="en" sz="2400" b="0" i="0" u="none" strike="noStrike" dirty="0">
                <a:solidFill>
                  <a:srgbClr val="000000"/>
                </a:solidFill>
                <a:effectLst/>
                <a:latin typeface="Consolas" panose="020B0609020204030204" pitchFamily="49" charset="0"/>
              </a:rPr>
              <a:t>    FirstName NVARCHAR(20) NOT NULL,</a:t>
            </a:r>
          </a:p>
          <a:p>
            <a:pPr algn="l" fontAlgn="base"/>
            <a:r>
              <a:rPr lang="en" sz="2400" b="0" i="0" u="none" strike="noStrike" dirty="0">
                <a:solidFill>
                  <a:srgbClr val="000000"/>
                </a:solidFill>
                <a:effectLst/>
                <a:latin typeface="Consolas" panose="020B0609020204030204" pitchFamily="49" charset="0"/>
              </a:rPr>
              <a:t>    </a:t>
            </a:r>
            <a:r>
              <a:rPr lang="en" sz="2400" b="0" i="0" u="none" strike="noStrike" dirty="0" err="1">
                <a:solidFill>
                  <a:srgbClr val="000000"/>
                </a:solidFill>
                <a:effectLst/>
                <a:latin typeface="Consolas" panose="020B0609020204030204" pitchFamily="49" charset="0"/>
              </a:rPr>
              <a:t>LastName</a:t>
            </a:r>
            <a:r>
              <a:rPr lang="en" sz="2400" b="0" i="0" u="none" strike="noStrike" dirty="0">
                <a:solidFill>
                  <a:srgbClr val="000000"/>
                </a:solidFill>
                <a:effectLst/>
                <a:latin typeface="Consolas" panose="020B0609020204030204" pitchFamily="49" charset="0"/>
              </a:rPr>
              <a:t> NVARCHAR(20) NOT NULL,</a:t>
            </a:r>
          </a:p>
          <a:p>
            <a:pPr algn="l" fontAlgn="base"/>
            <a:r>
              <a:rPr lang="en" sz="2400" b="0" i="0" u="none" strike="noStrike" dirty="0">
                <a:solidFill>
                  <a:srgbClr val="000000"/>
                </a:solidFill>
                <a:effectLst/>
                <a:latin typeface="Consolas" panose="020B0609020204030204" pitchFamily="49" charset="0"/>
              </a:rPr>
              <a:t>    Email VARCHAR(30) UNIQUE CHECK(Email !=''),</a:t>
            </a:r>
          </a:p>
          <a:p>
            <a:pPr algn="l" fontAlgn="base"/>
            <a:r>
              <a:rPr lang="en" sz="2400" b="0" i="0" u="none" strike="noStrike" dirty="0">
                <a:solidFill>
                  <a:srgbClr val="000000"/>
                </a:solidFill>
                <a:effectLst/>
                <a:latin typeface="Consolas" panose="020B0609020204030204" pitchFamily="49" charset="0"/>
              </a:rPr>
              <a:t>    Phone VARCHAR(20) UNIQUE CHECK(Phone !='')</a:t>
            </a:r>
          </a:p>
          <a:p>
            <a:pPr algn="l" fontAlgn="base"/>
            <a:r>
              <a:rPr lang="en" sz="2400" b="0" i="0" u="none" strike="noStrike"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1122917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26299D-DF61-DC95-DFB0-F238B242057E}"/>
              </a:ext>
            </a:extLst>
          </p:cNvPr>
          <p:cNvSpPr txBox="1"/>
          <p:nvPr/>
        </p:nvSpPr>
        <p:spPr>
          <a:xfrm>
            <a:off x="136479" y="0"/>
            <a:ext cx="11300346" cy="3108543"/>
          </a:xfrm>
          <a:prstGeom prst="rect">
            <a:avLst/>
          </a:prstGeom>
          <a:noFill/>
        </p:spPr>
        <p:txBody>
          <a:bodyPr wrap="square">
            <a:spAutoFit/>
          </a:bodyPr>
          <a:lstStyle/>
          <a:p>
            <a:pPr algn="just"/>
            <a:r>
              <a:rPr lang="ru-RU" sz="2800" dirty="0">
                <a:solidFill>
                  <a:srgbClr val="000000"/>
                </a:solidFill>
                <a:latin typeface="Times New Roman" panose="02020603050405020304" pitchFamily="18" charset="0"/>
                <a:cs typeface="Times New Roman" panose="02020603050405020304" pitchFamily="18" charset="0"/>
              </a:rPr>
              <a:t>С</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толбцы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Email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Phone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не могут иметь пустую строку в качестве значения (пустая строка </a:t>
            </a:r>
            <a:r>
              <a:rPr lang="ru-RU" sz="2800" b="1" i="0" u="none" strike="noStrike" dirty="0">
                <a:solidFill>
                  <a:srgbClr val="000000"/>
                </a:solidFill>
                <a:effectLst/>
                <a:latin typeface="Times New Roman" panose="02020603050405020304" pitchFamily="18" charset="0"/>
                <a:cs typeface="Times New Roman" panose="02020603050405020304" pitchFamily="18" charset="0"/>
              </a:rPr>
              <a:t>не</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 эквивалентна значению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NULL).</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Для соединения условий используется ключевое слово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AND</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Условия можно задать в виде операций сравнения больше (&gt;), меньше (&lt;), не равно (!=).</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Также с помощью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CHECK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можно создать ограничение в целом для таблицы:</a:t>
            </a:r>
          </a:p>
        </p:txBody>
      </p:sp>
      <p:sp>
        <p:nvSpPr>
          <p:cNvPr id="7" name="TextBox 6">
            <a:extLst>
              <a:ext uri="{FF2B5EF4-FFF2-40B4-BE49-F238E27FC236}">
                <a16:creationId xmlns:a16="http://schemas.microsoft.com/office/drawing/2014/main" id="{C9924AB5-C628-1B76-E755-ACF7A3FA83B8}"/>
              </a:ext>
            </a:extLst>
          </p:cNvPr>
          <p:cNvSpPr txBox="1"/>
          <p:nvPr/>
        </p:nvSpPr>
        <p:spPr>
          <a:xfrm>
            <a:off x="573206" y="3070579"/>
            <a:ext cx="11482315" cy="3785652"/>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CREATE TABLE Customers</a:t>
            </a:r>
          </a:p>
          <a:p>
            <a:pPr algn="l" fontAlgn="base"/>
            <a:r>
              <a:rPr lang="en" sz="2400" b="0" i="0" u="none" strike="noStrike" dirty="0">
                <a:solidFill>
                  <a:srgbClr val="000000"/>
                </a:solidFill>
                <a:effectLst/>
                <a:latin typeface="Consolas" panose="020B0609020204030204" pitchFamily="49" charset="0"/>
              </a:rPr>
              <a:t>(</a:t>
            </a:r>
          </a:p>
          <a:p>
            <a:pPr algn="l" fontAlgn="base"/>
            <a:r>
              <a:rPr lang="en" sz="2400" b="0" i="0" u="none" strike="noStrike" dirty="0">
                <a:solidFill>
                  <a:srgbClr val="000000"/>
                </a:solidFill>
                <a:effectLst/>
                <a:latin typeface="Consolas" panose="020B0609020204030204" pitchFamily="49" charset="0"/>
              </a:rPr>
              <a:t>    Id INT PRIMARY KEY IDENTITY,</a:t>
            </a:r>
          </a:p>
          <a:p>
            <a:pPr algn="l" fontAlgn="base"/>
            <a:r>
              <a:rPr lang="en" sz="2400" b="0" i="0" u="none" strike="noStrike" dirty="0">
                <a:solidFill>
                  <a:srgbClr val="000000"/>
                </a:solidFill>
                <a:effectLst/>
                <a:latin typeface="Consolas" panose="020B0609020204030204" pitchFamily="49" charset="0"/>
              </a:rPr>
              <a:t>    Age INT DEFAULT 18,</a:t>
            </a:r>
          </a:p>
          <a:p>
            <a:pPr algn="l" fontAlgn="base"/>
            <a:r>
              <a:rPr lang="en" sz="2400" b="0" i="0" u="none" strike="noStrike" dirty="0">
                <a:solidFill>
                  <a:srgbClr val="000000"/>
                </a:solidFill>
                <a:effectLst/>
                <a:latin typeface="Consolas" panose="020B0609020204030204" pitchFamily="49" charset="0"/>
              </a:rPr>
              <a:t>    FirstName NVARCHAR(20) NOT NULL,</a:t>
            </a:r>
          </a:p>
          <a:p>
            <a:pPr algn="l" fontAlgn="base"/>
            <a:r>
              <a:rPr lang="en" sz="2400" b="0" i="0" u="none" strike="noStrike" dirty="0">
                <a:solidFill>
                  <a:srgbClr val="000000"/>
                </a:solidFill>
                <a:effectLst/>
                <a:latin typeface="Consolas" panose="020B0609020204030204" pitchFamily="49" charset="0"/>
              </a:rPr>
              <a:t>    </a:t>
            </a:r>
            <a:r>
              <a:rPr lang="en" sz="2400" b="0" i="0" u="none" strike="noStrike" dirty="0" err="1">
                <a:solidFill>
                  <a:srgbClr val="000000"/>
                </a:solidFill>
                <a:effectLst/>
                <a:latin typeface="Consolas" panose="020B0609020204030204" pitchFamily="49" charset="0"/>
              </a:rPr>
              <a:t>LastName</a:t>
            </a:r>
            <a:r>
              <a:rPr lang="en" sz="2400" b="0" i="0" u="none" strike="noStrike" dirty="0">
                <a:solidFill>
                  <a:srgbClr val="000000"/>
                </a:solidFill>
                <a:effectLst/>
                <a:latin typeface="Consolas" panose="020B0609020204030204" pitchFamily="49" charset="0"/>
              </a:rPr>
              <a:t> NVARCHAR(20) NOT NULL,</a:t>
            </a:r>
          </a:p>
          <a:p>
            <a:pPr algn="l" fontAlgn="base"/>
            <a:r>
              <a:rPr lang="en" sz="2400" b="0" i="0" u="none" strike="noStrike" dirty="0">
                <a:solidFill>
                  <a:srgbClr val="000000"/>
                </a:solidFill>
                <a:effectLst/>
                <a:latin typeface="Consolas" panose="020B0609020204030204" pitchFamily="49" charset="0"/>
              </a:rPr>
              <a:t>    Email VARCHAR(30) UNIQUE,</a:t>
            </a:r>
          </a:p>
          <a:p>
            <a:pPr algn="l" fontAlgn="base"/>
            <a:r>
              <a:rPr lang="en" sz="2400" b="0" i="0" u="none" strike="noStrike" dirty="0">
                <a:solidFill>
                  <a:srgbClr val="000000"/>
                </a:solidFill>
                <a:effectLst/>
                <a:latin typeface="Consolas" panose="020B0609020204030204" pitchFamily="49" charset="0"/>
              </a:rPr>
              <a:t>    Phone VARCHAR(20) UNIQUE,</a:t>
            </a:r>
          </a:p>
          <a:p>
            <a:pPr algn="l" fontAlgn="base"/>
            <a:r>
              <a:rPr lang="en" sz="2400" b="0" i="0" u="none" strike="noStrike" dirty="0">
                <a:solidFill>
                  <a:srgbClr val="000000"/>
                </a:solidFill>
                <a:effectLst/>
                <a:latin typeface="Consolas" panose="020B0609020204030204" pitchFamily="49" charset="0"/>
              </a:rPr>
              <a:t>    CHECK((Age &gt;0 AND Age&lt;100) AND (Email !='') AND (Phone !=''))</a:t>
            </a:r>
          </a:p>
          <a:p>
            <a:pPr algn="l" fontAlgn="base"/>
            <a:r>
              <a:rPr lang="en" sz="2400" b="0" i="0" u="none" strike="noStrike"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467439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F30703-5492-EA5A-DD05-45877E663D44}"/>
              </a:ext>
            </a:extLst>
          </p:cNvPr>
          <p:cNvSpPr txBox="1"/>
          <p:nvPr/>
        </p:nvSpPr>
        <p:spPr>
          <a:xfrm>
            <a:off x="150125" y="135552"/>
            <a:ext cx="11341290" cy="3539430"/>
          </a:xfrm>
          <a:prstGeom prst="rect">
            <a:avLst/>
          </a:prstGeom>
          <a:noFill/>
        </p:spPr>
        <p:txBody>
          <a:bodyPr wrap="square">
            <a:spAutoFit/>
          </a:bodyPr>
          <a:lstStyle/>
          <a:p>
            <a:pPr algn="just"/>
            <a:r>
              <a:rPr lang="ru-RU" sz="2800" b="1" i="0" u="none" strike="noStrike" dirty="0">
                <a:solidFill>
                  <a:srgbClr val="000000"/>
                </a:solidFill>
                <a:effectLst/>
                <a:latin typeface="Times New Roman" panose="02020603050405020304" pitchFamily="18" charset="0"/>
                <a:cs typeface="Times New Roman" panose="02020603050405020304" pitchFamily="18" charset="0"/>
              </a:rPr>
              <a:t>Оператор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CONSTRAINT. </a:t>
            </a:r>
            <a:r>
              <a:rPr lang="ru-RU" sz="2800" b="1" i="0" u="none" strike="noStrike" dirty="0">
                <a:solidFill>
                  <a:srgbClr val="000000"/>
                </a:solidFill>
                <a:effectLst/>
                <a:latin typeface="Times New Roman" panose="02020603050405020304" pitchFamily="18" charset="0"/>
                <a:cs typeface="Times New Roman" panose="02020603050405020304" pitchFamily="18" charset="0"/>
              </a:rPr>
              <a:t>Установка имени ограничений.</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С помощью ключевого слова </a:t>
            </a:r>
            <a:r>
              <a:rPr lang="en" sz="2800" b="1" i="0" u="none" strike="noStrike" dirty="0">
                <a:solidFill>
                  <a:srgbClr val="000000"/>
                </a:solidFill>
                <a:effectLst/>
                <a:latin typeface="Times New Roman" panose="02020603050405020304" pitchFamily="18" charset="0"/>
                <a:cs typeface="Times New Roman" panose="02020603050405020304" pitchFamily="18" charset="0"/>
              </a:rPr>
              <a:t>CONSTRAINT</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можно задать имя для ограничений. В качестве ограничений могут использоваться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PRIMARY KEY, UNIQUE, DEFAULT, CHECK.</a:t>
            </a:r>
          </a:p>
          <a:p>
            <a:pPr algn="just"/>
            <a:r>
              <a:rPr lang="ru-RU" sz="2800" b="0" i="0" u="none" strike="noStrike" dirty="0">
                <a:solidFill>
                  <a:srgbClr val="000000"/>
                </a:solidFill>
                <a:effectLst/>
                <a:latin typeface="Times New Roman" panose="02020603050405020304" pitchFamily="18" charset="0"/>
                <a:cs typeface="Times New Roman" panose="02020603050405020304" pitchFamily="18" charset="0"/>
              </a:rPr>
              <a:t>Имена ограничений можно задать на уровне столбцов. Они указываются после </a:t>
            </a:r>
            <a:r>
              <a:rPr lang="en" sz="2800" b="0" i="0" u="none" strike="noStrike" dirty="0">
                <a:solidFill>
                  <a:srgbClr val="000000"/>
                </a:solidFill>
                <a:effectLst/>
                <a:latin typeface="Times New Roman" panose="02020603050405020304" pitchFamily="18" charset="0"/>
                <a:cs typeface="Times New Roman" panose="02020603050405020304" pitchFamily="18" charset="0"/>
              </a:rPr>
              <a:t>CONSTRAINT </a:t>
            </a:r>
            <a:r>
              <a:rPr lang="ru-RU" sz="2800" b="0" i="0" u="none" strike="noStrike" dirty="0">
                <a:solidFill>
                  <a:srgbClr val="000000"/>
                </a:solidFill>
                <a:effectLst/>
                <a:latin typeface="Times New Roman" panose="02020603050405020304" pitchFamily="18" charset="0"/>
                <a:cs typeface="Times New Roman" panose="02020603050405020304" pitchFamily="18" charset="0"/>
              </a:rPr>
              <a:t>перед атрибутами:</a:t>
            </a:r>
          </a:p>
          <a:p>
            <a:pPr algn="just"/>
            <a:r>
              <a:rPr lang="ru-RU" sz="2800" dirty="0">
                <a:latin typeface="Times New Roman" panose="02020603050405020304" pitchFamily="18" charset="0"/>
                <a:cs typeface="Times New Roman" panose="02020603050405020304" pitchFamily="18" charset="0"/>
              </a:rPr>
              <a:t/>
            </a:r>
            <a:br>
              <a:rPr lang="ru-RU" sz="2800" dirty="0">
                <a:latin typeface="Times New Roman" panose="02020603050405020304" pitchFamily="18" charset="0"/>
                <a:cs typeface="Times New Roman" panose="02020603050405020304" pitchFamily="18" charset="0"/>
              </a:rPr>
            </a:br>
            <a:endParaRPr lang="ru-RU"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0CEAFD6-210E-B482-E6DD-7F5B5D7082A5}"/>
              </a:ext>
            </a:extLst>
          </p:cNvPr>
          <p:cNvSpPr txBox="1"/>
          <p:nvPr/>
        </p:nvSpPr>
        <p:spPr>
          <a:xfrm>
            <a:off x="1463720" y="2703016"/>
            <a:ext cx="11051276" cy="4154984"/>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CREATE TABLE Customers</a:t>
            </a:r>
          </a:p>
          <a:p>
            <a:pPr algn="l" fontAlgn="base"/>
            <a:r>
              <a:rPr lang="en" sz="2400" b="0" i="0" u="none" strike="noStrike" dirty="0">
                <a:solidFill>
                  <a:srgbClr val="000000"/>
                </a:solidFill>
                <a:effectLst/>
                <a:latin typeface="Consolas" panose="020B0609020204030204" pitchFamily="49" charset="0"/>
              </a:rPr>
              <a:t>(</a:t>
            </a:r>
          </a:p>
          <a:p>
            <a:pPr algn="l" fontAlgn="base"/>
            <a:r>
              <a:rPr lang="en" sz="2400" b="0" i="0" u="none" strike="noStrike" dirty="0">
                <a:solidFill>
                  <a:srgbClr val="000000"/>
                </a:solidFill>
                <a:effectLst/>
                <a:latin typeface="Consolas" panose="020B0609020204030204" pitchFamily="49" charset="0"/>
              </a:rPr>
              <a:t>    Id INT CONSTRAINT </a:t>
            </a:r>
            <a:r>
              <a:rPr lang="en" sz="2400" b="0" i="0" u="none" strike="noStrike" dirty="0" err="1">
                <a:solidFill>
                  <a:srgbClr val="000000"/>
                </a:solidFill>
                <a:effectLst/>
                <a:latin typeface="Consolas" panose="020B0609020204030204" pitchFamily="49" charset="0"/>
              </a:rPr>
              <a:t>PK_Customer_Id</a:t>
            </a:r>
            <a:r>
              <a:rPr lang="en" sz="2400" b="0" i="0" u="none" strike="noStrike" dirty="0">
                <a:solidFill>
                  <a:srgbClr val="000000"/>
                </a:solidFill>
                <a:effectLst/>
                <a:latin typeface="Consolas" panose="020B0609020204030204" pitchFamily="49" charset="0"/>
              </a:rPr>
              <a:t> PRIMARY KEY IDENTITY,</a:t>
            </a:r>
          </a:p>
          <a:p>
            <a:pPr algn="l" fontAlgn="base"/>
            <a:r>
              <a:rPr lang="en" sz="2400" b="0" i="0" u="none" strike="noStrike" dirty="0">
                <a:solidFill>
                  <a:srgbClr val="000000"/>
                </a:solidFill>
                <a:effectLst/>
                <a:latin typeface="Consolas" panose="020B0609020204030204" pitchFamily="49" charset="0"/>
              </a:rPr>
              <a:t>    Age INT</a:t>
            </a:r>
          </a:p>
          <a:p>
            <a:pPr algn="l" fontAlgn="base"/>
            <a:r>
              <a:rPr lang="en" sz="2400" b="0" i="0" u="none" strike="noStrike" dirty="0">
                <a:solidFill>
                  <a:srgbClr val="000000"/>
                </a:solidFill>
                <a:effectLst/>
                <a:latin typeface="Consolas" panose="020B0609020204030204" pitchFamily="49" charset="0"/>
              </a:rPr>
              <a:t>        CONSTRAINT </a:t>
            </a:r>
            <a:r>
              <a:rPr lang="en" sz="2400" b="0" i="0" u="none" strike="noStrike" dirty="0" err="1">
                <a:solidFill>
                  <a:srgbClr val="000000"/>
                </a:solidFill>
                <a:effectLst/>
                <a:latin typeface="Consolas" panose="020B0609020204030204" pitchFamily="49" charset="0"/>
              </a:rPr>
              <a:t>DF_Customer_Age</a:t>
            </a:r>
            <a:r>
              <a:rPr lang="en" sz="2400" b="0" i="0" u="none" strike="noStrike" dirty="0">
                <a:solidFill>
                  <a:srgbClr val="000000"/>
                </a:solidFill>
                <a:effectLst/>
                <a:latin typeface="Consolas" panose="020B0609020204030204" pitchFamily="49" charset="0"/>
              </a:rPr>
              <a:t> DEFAULT 18 </a:t>
            </a:r>
          </a:p>
          <a:p>
            <a:pPr algn="l" fontAlgn="base"/>
            <a:r>
              <a:rPr lang="en" sz="2400" b="0" i="0" u="none" strike="noStrike" dirty="0">
                <a:solidFill>
                  <a:srgbClr val="000000"/>
                </a:solidFill>
                <a:effectLst/>
                <a:latin typeface="Consolas" panose="020B0609020204030204" pitchFamily="49" charset="0"/>
              </a:rPr>
              <a:t>        CONSTRAINT </a:t>
            </a:r>
            <a:r>
              <a:rPr lang="en" sz="2400" b="0" i="0" u="none" strike="noStrike" dirty="0" err="1">
                <a:solidFill>
                  <a:srgbClr val="000000"/>
                </a:solidFill>
                <a:effectLst/>
                <a:latin typeface="Consolas" panose="020B0609020204030204" pitchFamily="49" charset="0"/>
              </a:rPr>
              <a:t>CK_Customer_Age</a:t>
            </a:r>
            <a:r>
              <a:rPr lang="en" sz="2400" b="0" i="0" u="none" strike="noStrike" dirty="0">
                <a:solidFill>
                  <a:srgbClr val="000000"/>
                </a:solidFill>
                <a:effectLst/>
                <a:latin typeface="Consolas" panose="020B0609020204030204" pitchFamily="49" charset="0"/>
              </a:rPr>
              <a:t> CHECK(Age &gt;0 AND Age &lt; 100),</a:t>
            </a:r>
          </a:p>
          <a:p>
            <a:pPr algn="l" fontAlgn="base"/>
            <a:r>
              <a:rPr lang="en" sz="2400" b="0" i="0" u="none" strike="noStrike" dirty="0">
                <a:solidFill>
                  <a:srgbClr val="000000"/>
                </a:solidFill>
                <a:effectLst/>
                <a:latin typeface="Consolas" panose="020B0609020204030204" pitchFamily="49" charset="0"/>
              </a:rPr>
              <a:t>    FirstName NVARCHAR(20) NOT NULL,</a:t>
            </a:r>
          </a:p>
          <a:p>
            <a:pPr algn="l" fontAlgn="base"/>
            <a:r>
              <a:rPr lang="en" sz="2400" b="0" i="0" u="none" strike="noStrike" dirty="0">
                <a:solidFill>
                  <a:srgbClr val="000000"/>
                </a:solidFill>
                <a:effectLst/>
                <a:latin typeface="Consolas" panose="020B0609020204030204" pitchFamily="49" charset="0"/>
              </a:rPr>
              <a:t>    </a:t>
            </a:r>
            <a:r>
              <a:rPr lang="en" sz="2400" b="0" i="0" u="none" strike="noStrike" dirty="0" err="1">
                <a:solidFill>
                  <a:srgbClr val="000000"/>
                </a:solidFill>
                <a:effectLst/>
                <a:latin typeface="Consolas" panose="020B0609020204030204" pitchFamily="49" charset="0"/>
              </a:rPr>
              <a:t>LastName</a:t>
            </a:r>
            <a:r>
              <a:rPr lang="en" sz="2400" b="0" i="0" u="none" strike="noStrike" dirty="0">
                <a:solidFill>
                  <a:srgbClr val="000000"/>
                </a:solidFill>
                <a:effectLst/>
                <a:latin typeface="Consolas" panose="020B0609020204030204" pitchFamily="49" charset="0"/>
              </a:rPr>
              <a:t> NVARCHAR(20) NOT NULL,</a:t>
            </a:r>
          </a:p>
          <a:p>
            <a:pPr algn="l" fontAlgn="base"/>
            <a:r>
              <a:rPr lang="en" sz="2400" b="0" i="0" u="none" strike="noStrike" dirty="0">
                <a:solidFill>
                  <a:srgbClr val="000000"/>
                </a:solidFill>
                <a:effectLst/>
                <a:latin typeface="Consolas" panose="020B0609020204030204" pitchFamily="49" charset="0"/>
              </a:rPr>
              <a:t>    Email VARCHAR(30) CONSTRAINT </a:t>
            </a:r>
            <a:r>
              <a:rPr lang="en" sz="2400" b="0" i="0" u="none" strike="noStrike" dirty="0" err="1">
                <a:solidFill>
                  <a:srgbClr val="000000"/>
                </a:solidFill>
                <a:effectLst/>
                <a:latin typeface="Consolas" panose="020B0609020204030204" pitchFamily="49" charset="0"/>
              </a:rPr>
              <a:t>UQ_Customer_Email</a:t>
            </a:r>
            <a:r>
              <a:rPr lang="en" sz="2400" b="0" i="0" u="none" strike="noStrike" dirty="0">
                <a:solidFill>
                  <a:srgbClr val="000000"/>
                </a:solidFill>
                <a:effectLst/>
                <a:latin typeface="Consolas" panose="020B0609020204030204" pitchFamily="49" charset="0"/>
              </a:rPr>
              <a:t> UNIQUE,</a:t>
            </a:r>
          </a:p>
          <a:p>
            <a:pPr algn="l" fontAlgn="base"/>
            <a:r>
              <a:rPr lang="en" sz="2400" b="0" i="0" u="none" strike="noStrike" dirty="0">
                <a:solidFill>
                  <a:srgbClr val="000000"/>
                </a:solidFill>
                <a:effectLst/>
                <a:latin typeface="Consolas" panose="020B0609020204030204" pitchFamily="49" charset="0"/>
              </a:rPr>
              <a:t>    Phone VARCHAR(20) CONSTRAINT </a:t>
            </a:r>
            <a:r>
              <a:rPr lang="en" sz="2400" b="0" i="0" u="none" strike="noStrike" dirty="0" err="1">
                <a:solidFill>
                  <a:srgbClr val="000000"/>
                </a:solidFill>
                <a:effectLst/>
                <a:latin typeface="Consolas" panose="020B0609020204030204" pitchFamily="49" charset="0"/>
              </a:rPr>
              <a:t>UQ_Customer_Phone</a:t>
            </a:r>
            <a:r>
              <a:rPr lang="en" sz="2400" b="0" i="0" u="none" strike="noStrike" dirty="0">
                <a:solidFill>
                  <a:srgbClr val="000000"/>
                </a:solidFill>
                <a:effectLst/>
                <a:latin typeface="Consolas" panose="020B0609020204030204" pitchFamily="49" charset="0"/>
              </a:rPr>
              <a:t> UNIQUE</a:t>
            </a:r>
          </a:p>
          <a:p>
            <a:pPr algn="l" fontAlgn="base"/>
            <a:r>
              <a:rPr lang="en" sz="2400" b="0" i="0" u="none" strike="noStrike"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6381720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77F94C-862B-A06A-0EE4-F5D51A43FC4D}"/>
              </a:ext>
            </a:extLst>
          </p:cNvPr>
          <p:cNvSpPr txBox="1"/>
          <p:nvPr/>
        </p:nvSpPr>
        <p:spPr>
          <a:xfrm>
            <a:off x="4070445" y="217943"/>
            <a:ext cx="6093724" cy="523220"/>
          </a:xfrm>
          <a:prstGeom prst="rect">
            <a:avLst/>
          </a:prstGeom>
          <a:noFill/>
        </p:spPr>
        <p:txBody>
          <a:bodyPr wrap="square">
            <a:spAutoFit/>
          </a:bodyPr>
          <a:lstStyle/>
          <a:p>
            <a:pPr algn="l"/>
            <a:r>
              <a:rPr lang="ru-RU" sz="2800" b="1" i="0" u="none" strike="noStrike" dirty="0">
                <a:solidFill>
                  <a:srgbClr val="000000"/>
                </a:solidFill>
                <a:effectLst/>
                <a:latin typeface="Times New Roman" panose="02020603050405020304" pitchFamily="18" charset="0"/>
                <a:cs typeface="Times New Roman" panose="02020603050405020304" pitchFamily="18" charset="0"/>
              </a:rPr>
              <a:t>Внешние ключи</a:t>
            </a:r>
          </a:p>
        </p:txBody>
      </p:sp>
      <p:sp>
        <p:nvSpPr>
          <p:cNvPr id="7" name="TextBox 6">
            <a:extLst>
              <a:ext uri="{FF2B5EF4-FFF2-40B4-BE49-F238E27FC236}">
                <a16:creationId xmlns:a16="http://schemas.microsoft.com/office/drawing/2014/main" id="{0010E360-0024-40FF-B8D4-E80C51A29B68}"/>
              </a:ext>
            </a:extLst>
          </p:cNvPr>
          <p:cNvSpPr txBox="1"/>
          <p:nvPr/>
        </p:nvSpPr>
        <p:spPr>
          <a:xfrm>
            <a:off x="208129" y="741163"/>
            <a:ext cx="11747310" cy="3539430"/>
          </a:xfrm>
          <a:prstGeom prst="rect">
            <a:avLst/>
          </a:prstGeom>
          <a:noFill/>
        </p:spPr>
        <p:txBody>
          <a:bodyPr wrap="square">
            <a:spAutoFit/>
          </a:bodyPr>
          <a:lstStyle/>
          <a:p>
            <a:pPr algn="l"/>
            <a:r>
              <a:rPr lang="ru-RU" sz="2800" b="0" i="0" u="none" strike="noStrike" dirty="0">
                <a:solidFill>
                  <a:srgbClr val="000000"/>
                </a:solidFill>
                <a:effectLst/>
                <a:latin typeface="Times New Roman" panose="02020603050405020304" pitchFamily="18" charset="0"/>
                <a:cs typeface="Times New Roman" panose="02020603050405020304" pitchFamily="18" charset="0"/>
              </a:rPr>
              <a:t>Внешние ключи применяются для установки связи между таблицами. Внешний ключ устанавливается для столбцов из зависимой, подчиненной таблицы, и указывает на один из столбцов из главной таблицы. Хотя, как правило, внешний ключ указывает на первичный ключ из связанной главной таблицы, но это необязательно должно быть непременным условием. Внешний ключ также может указывать на какой-то другой столбец, который имеет уникальное значение.</a:t>
            </a:r>
          </a:p>
          <a:p>
            <a:pPr algn="l"/>
            <a:r>
              <a:rPr lang="ru-RU" sz="2800" b="0" i="0" u="none" strike="noStrike" dirty="0">
                <a:solidFill>
                  <a:srgbClr val="000000"/>
                </a:solidFill>
                <a:effectLst/>
                <a:latin typeface="Times New Roman" panose="02020603050405020304" pitchFamily="18" charset="0"/>
                <a:cs typeface="Times New Roman" panose="02020603050405020304" pitchFamily="18" charset="0"/>
              </a:rPr>
              <a:t>Общий синтаксис установки внешнего ключа на уровне столбца:</a:t>
            </a:r>
          </a:p>
        </p:txBody>
      </p:sp>
      <p:sp>
        <p:nvSpPr>
          <p:cNvPr id="9" name="TextBox 8">
            <a:extLst>
              <a:ext uri="{FF2B5EF4-FFF2-40B4-BE49-F238E27FC236}">
                <a16:creationId xmlns:a16="http://schemas.microsoft.com/office/drawing/2014/main" id="{41F16D1D-8CF6-C695-7686-B4C50A8782A8}"/>
              </a:ext>
            </a:extLst>
          </p:cNvPr>
          <p:cNvSpPr txBox="1"/>
          <p:nvPr/>
        </p:nvSpPr>
        <p:spPr>
          <a:xfrm>
            <a:off x="412845" y="4429036"/>
            <a:ext cx="6093724" cy="1938992"/>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[FOREIGN KEY] REFERENCES </a:t>
            </a:r>
            <a:r>
              <a:rPr lang="ru-RU" sz="2400" b="0" i="0" u="none" strike="noStrike" dirty="0" err="1">
                <a:solidFill>
                  <a:srgbClr val="000000"/>
                </a:solidFill>
                <a:effectLst/>
                <a:latin typeface="Consolas" panose="020B0609020204030204" pitchFamily="49" charset="0"/>
              </a:rPr>
              <a:t>главная_таблица</a:t>
            </a:r>
            <a:r>
              <a:rPr lang="ru-RU" sz="2400" b="0" i="0" u="none" strike="noStrike" dirty="0">
                <a:solidFill>
                  <a:srgbClr val="000000"/>
                </a:solidFill>
                <a:effectLst/>
                <a:latin typeface="Consolas" panose="020B0609020204030204" pitchFamily="49" charset="0"/>
              </a:rPr>
              <a:t> (</a:t>
            </a:r>
            <a:r>
              <a:rPr lang="ru-RU" sz="2400" b="0" i="0" u="none" strike="noStrike" dirty="0" err="1">
                <a:solidFill>
                  <a:srgbClr val="000000"/>
                </a:solidFill>
                <a:effectLst/>
                <a:latin typeface="Consolas" panose="020B0609020204030204" pitchFamily="49" charset="0"/>
              </a:rPr>
              <a:t>столбец_главной_таблицы</a:t>
            </a:r>
            <a:r>
              <a:rPr lang="ru-RU" sz="2400" b="0" i="0" u="none" strike="noStrike" dirty="0">
                <a:solidFill>
                  <a:srgbClr val="000000"/>
                </a:solidFill>
                <a:effectLst/>
                <a:latin typeface="Consolas" panose="020B0609020204030204" pitchFamily="49" charset="0"/>
              </a:rPr>
              <a:t>)</a:t>
            </a:r>
          </a:p>
          <a:p>
            <a:pPr algn="l" fontAlgn="base"/>
            <a:r>
              <a:rPr lang="ru-RU" sz="2400" b="0" i="0" u="none" strike="noStrike" dirty="0">
                <a:solidFill>
                  <a:srgbClr val="000000"/>
                </a:solidFill>
                <a:effectLst/>
                <a:latin typeface="Consolas" panose="020B0609020204030204" pitchFamily="49" charset="0"/>
              </a:rPr>
              <a:t>    [</a:t>
            </a:r>
            <a:r>
              <a:rPr lang="en" sz="2400" b="0" i="0" u="none" strike="noStrike" dirty="0">
                <a:solidFill>
                  <a:srgbClr val="000000"/>
                </a:solidFill>
                <a:effectLst/>
                <a:latin typeface="Consolas" panose="020B0609020204030204" pitchFamily="49" charset="0"/>
              </a:rPr>
              <a:t>ON DELETE {CASCADE|NO ACTION}]</a:t>
            </a:r>
          </a:p>
          <a:p>
            <a:pPr algn="l" fontAlgn="base"/>
            <a:r>
              <a:rPr lang="en" sz="2400" b="0" i="0" u="none" strike="noStrike" dirty="0">
                <a:solidFill>
                  <a:srgbClr val="000000"/>
                </a:solidFill>
                <a:effectLst/>
                <a:latin typeface="Consolas" panose="020B0609020204030204" pitchFamily="49" charset="0"/>
              </a:rPr>
              <a:t>    [ON UPDATE {CASCADE|NO ACTION}]</a:t>
            </a:r>
          </a:p>
        </p:txBody>
      </p:sp>
    </p:spTree>
    <p:extLst>
      <p:ext uri="{BB962C8B-B14F-4D97-AF65-F5344CB8AC3E}">
        <p14:creationId xmlns:p14="http://schemas.microsoft.com/office/powerpoint/2010/main" val="11734155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13BE10-CDA9-0BD9-9C75-B1402B86286E}"/>
              </a:ext>
            </a:extLst>
          </p:cNvPr>
          <p:cNvSpPr txBox="1"/>
          <p:nvPr/>
        </p:nvSpPr>
        <p:spPr>
          <a:xfrm>
            <a:off x="194480" y="163773"/>
            <a:ext cx="11583537" cy="2677656"/>
          </a:xfrm>
          <a:prstGeom prst="rect">
            <a:avLst/>
          </a:prstGeom>
          <a:noFill/>
        </p:spPr>
        <p:txBody>
          <a:bodyPr wrap="square">
            <a:spAutoFit/>
          </a:bodyPr>
          <a:lstStyle/>
          <a:p>
            <a:pPr algn="l"/>
            <a:r>
              <a:rPr lang="ru-RU" sz="2400" b="0" i="0" u="none" strike="noStrike" dirty="0">
                <a:solidFill>
                  <a:srgbClr val="000000"/>
                </a:solidFill>
                <a:effectLst/>
                <a:latin typeface="Times New Roman" panose="02020603050405020304" pitchFamily="18" charset="0"/>
                <a:cs typeface="Times New Roman" panose="02020603050405020304" pitchFamily="18" charset="0"/>
              </a:rPr>
              <a:t>Для создания ограничения внешнего ключа на уровне столбца после ключевого слова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REFERENCES</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указывается имя связанной таблицы и в круглых скобках имя связанного столбца, на который будет указывать внешний ключ. Также обычно добавляются ключевые слова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FOREIGN KEY</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но в принципе их необязательно указывать. После выражения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REFERENCES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идет выражение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ON DELETE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ON UPDATE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a:t>
            </a:r>
          </a:p>
          <a:p>
            <a:pPr algn="l"/>
            <a:r>
              <a:rPr lang="ru-RU" sz="2400" b="0" i="0" u="none" strike="noStrike" dirty="0">
                <a:solidFill>
                  <a:srgbClr val="000000"/>
                </a:solidFill>
                <a:effectLst/>
                <a:latin typeface="Times New Roman" panose="02020603050405020304" pitchFamily="18" charset="0"/>
                <a:cs typeface="Times New Roman" panose="02020603050405020304" pitchFamily="18" charset="0"/>
              </a:rPr>
              <a:t>Общий синтаксис установки внешнего ключа на уровне таблицы:</a:t>
            </a:r>
          </a:p>
        </p:txBody>
      </p:sp>
      <p:sp>
        <p:nvSpPr>
          <p:cNvPr id="7" name="TextBox 6">
            <a:extLst>
              <a:ext uri="{FF2B5EF4-FFF2-40B4-BE49-F238E27FC236}">
                <a16:creationId xmlns:a16="http://schemas.microsoft.com/office/drawing/2014/main" id="{77BCC6F5-8F34-E958-6154-8355D28E9045}"/>
              </a:ext>
            </a:extLst>
          </p:cNvPr>
          <p:cNvSpPr txBox="1"/>
          <p:nvPr/>
        </p:nvSpPr>
        <p:spPr>
          <a:xfrm>
            <a:off x="481084" y="3126434"/>
            <a:ext cx="10368886" cy="1938992"/>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FOREIGN KEY (</a:t>
            </a:r>
            <a:r>
              <a:rPr lang="ru-RU" sz="2400" b="0" i="0" u="none" strike="noStrike" dirty="0">
                <a:solidFill>
                  <a:srgbClr val="000000"/>
                </a:solidFill>
                <a:effectLst/>
                <a:latin typeface="Consolas" panose="020B0609020204030204" pitchFamily="49" charset="0"/>
              </a:rPr>
              <a:t>стобец1, столбец2, ... столбец</a:t>
            </a:r>
            <a:r>
              <a:rPr lang="en" sz="2400" b="0" i="0" u="none" strike="noStrike" dirty="0">
                <a:solidFill>
                  <a:srgbClr val="000000"/>
                </a:solidFill>
                <a:effectLst/>
                <a:latin typeface="Consolas" panose="020B0609020204030204" pitchFamily="49" charset="0"/>
              </a:rPr>
              <a:t>N) </a:t>
            </a:r>
          </a:p>
          <a:p>
            <a:pPr algn="l" fontAlgn="base"/>
            <a:r>
              <a:rPr lang="en" sz="2400" b="0" i="0" u="none" strike="noStrike" dirty="0">
                <a:solidFill>
                  <a:srgbClr val="000000"/>
                </a:solidFill>
                <a:effectLst/>
                <a:latin typeface="Consolas" panose="020B0609020204030204" pitchFamily="49" charset="0"/>
              </a:rPr>
              <a:t>    REFERENCES </a:t>
            </a:r>
            <a:r>
              <a:rPr lang="ru-RU" sz="2400" b="0" i="0" u="none" strike="noStrike" dirty="0" err="1">
                <a:solidFill>
                  <a:srgbClr val="000000"/>
                </a:solidFill>
                <a:effectLst/>
                <a:latin typeface="Consolas" panose="020B0609020204030204" pitchFamily="49" charset="0"/>
              </a:rPr>
              <a:t>главная_таблица</a:t>
            </a:r>
            <a:r>
              <a:rPr lang="ru-RU" sz="2400" b="0" i="0" u="none" strike="noStrike" dirty="0">
                <a:solidFill>
                  <a:srgbClr val="000000"/>
                </a:solidFill>
                <a:effectLst/>
                <a:latin typeface="Consolas" panose="020B0609020204030204" pitchFamily="49" charset="0"/>
              </a:rPr>
              <a:t> (столбец_главной_таблицы1, столбец_главной_таблицы2, ... </a:t>
            </a:r>
            <a:r>
              <a:rPr lang="ru-RU" sz="2400" b="0" i="0" u="none" strike="noStrike" dirty="0" err="1">
                <a:solidFill>
                  <a:srgbClr val="000000"/>
                </a:solidFill>
                <a:effectLst/>
                <a:latin typeface="Consolas" panose="020B0609020204030204" pitchFamily="49" charset="0"/>
              </a:rPr>
              <a:t>столбец_главной_таблицы</a:t>
            </a:r>
            <a:r>
              <a:rPr lang="en" sz="2400" b="0" i="0" u="none" strike="noStrike" dirty="0">
                <a:solidFill>
                  <a:srgbClr val="000000"/>
                </a:solidFill>
                <a:effectLst/>
                <a:latin typeface="Consolas" panose="020B0609020204030204" pitchFamily="49" charset="0"/>
              </a:rPr>
              <a:t>N)</a:t>
            </a:r>
          </a:p>
          <a:p>
            <a:pPr algn="l" fontAlgn="base"/>
            <a:r>
              <a:rPr lang="en" sz="2400" b="0" i="0" u="none" strike="noStrike" dirty="0">
                <a:solidFill>
                  <a:srgbClr val="000000"/>
                </a:solidFill>
                <a:effectLst/>
                <a:latin typeface="Consolas" panose="020B0609020204030204" pitchFamily="49" charset="0"/>
              </a:rPr>
              <a:t>    [ON DELETE {CASCADE|NO ACTION}]</a:t>
            </a:r>
          </a:p>
          <a:p>
            <a:pPr algn="l" fontAlgn="base"/>
            <a:r>
              <a:rPr lang="en" sz="2400" b="0" i="0" u="none" strike="noStrike" dirty="0">
                <a:solidFill>
                  <a:srgbClr val="000000"/>
                </a:solidFill>
                <a:effectLst/>
                <a:latin typeface="Consolas" panose="020B0609020204030204" pitchFamily="49" charset="0"/>
              </a:rPr>
              <a:t>    [ON UPDATE {CASCADE|NO ACTION}]</a:t>
            </a:r>
          </a:p>
        </p:txBody>
      </p:sp>
    </p:spTree>
    <p:extLst>
      <p:ext uri="{BB962C8B-B14F-4D97-AF65-F5344CB8AC3E}">
        <p14:creationId xmlns:p14="http://schemas.microsoft.com/office/powerpoint/2010/main" val="27679177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A4688D-C744-6345-D8E5-A24A52B9AB60}"/>
              </a:ext>
            </a:extLst>
          </p:cNvPr>
          <p:cNvSpPr txBox="1"/>
          <p:nvPr/>
        </p:nvSpPr>
        <p:spPr>
          <a:xfrm>
            <a:off x="208129" y="215417"/>
            <a:ext cx="11733662" cy="2308324"/>
          </a:xfrm>
          <a:prstGeom prst="rect">
            <a:avLst/>
          </a:prstGeom>
          <a:noFill/>
        </p:spPr>
        <p:txBody>
          <a:bodyPr wrap="square">
            <a:spAutoFit/>
          </a:bodyPr>
          <a:lstStyle/>
          <a:p>
            <a:pPr algn="l"/>
            <a:r>
              <a:rPr lang="ru-RU" sz="2400" b="0" i="0" u="none" strike="noStrike" dirty="0">
                <a:solidFill>
                  <a:srgbClr val="000000"/>
                </a:solidFill>
                <a:effectLst/>
                <a:latin typeface="Times New Roman" panose="02020603050405020304" pitchFamily="18" charset="0"/>
                <a:cs typeface="Times New Roman" panose="02020603050405020304" pitchFamily="18" charset="0"/>
              </a:rPr>
              <a:t>Здесь определены таблицы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Customers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Orders. Customers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является главной и представляет клиента.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Orders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является зависимой и представляет заказ, сделанный клиентом. Эта таблица через столбец </a:t>
            </a:r>
            <a:r>
              <a:rPr lang="en" sz="2400" b="0" i="0" u="none" strike="noStrike" dirty="0" err="1">
                <a:solidFill>
                  <a:srgbClr val="000000"/>
                </a:solidFill>
                <a:effectLst/>
                <a:latin typeface="Times New Roman" panose="02020603050405020304" pitchFamily="18" charset="0"/>
                <a:cs typeface="Times New Roman" panose="02020603050405020304" pitchFamily="18" charset="0"/>
              </a:rPr>
              <a:t>CustomerId</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связана с таблицей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Customers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 ее столбцом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Id.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То есть столбец </a:t>
            </a:r>
            <a:r>
              <a:rPr lang="en" sz="2400" b="0" i="0" u="none" strike="noStrike" dirty="0" err="1">
                <a:solidFill>
                  <a:srgbClr val="000000"/>
                </a:solidFill>
                <a:effectLst/>
                <a:latin typeface="Times New Roman" panose="02020603050405020304" pitchFamily="18" charset="0"/>
                <a:cs typeface="Times New Roman" panose="02020603050405020304" pitchFamily="18" charset="0"/>
              </a:rPr>
              <a:t>CustomerId</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является внешним ключом, который указывает на столбец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Id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из таблицы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Customers.</a:t>
            </a:r>
          </a:p>
          <a:p>
            <a:pPr algn="l"/>
            <a:r>
              <a:rPr lang="ru-RU" sz="2400" b="0" i="0" u="none" strike="noStrike" dirty="0">
                <a:solidFill>
                  <a:srgbClr val="000000"/>
                </a:solidFill>
                <a:effectLst/>
                <a:latin typeface="Times New Roman" panose="02020603050405020304" pitchFamily="18" charset="0"/>
                <a:cs typeface="Times New Roman" panose="02020603050405020304" pitchFamily="18" charset="0"/>
              </a:rPr>
              <a:t>Определение внешнего ключа на уровне таблицы выглядело бы следующим образом:</a:t>
            </a:r>
          </a:p>
        </p:txBody>
      </p:sp>
      <p:graphicFrame>
        <p:nvGraphicFramePr>
          <p:cNvPr id="6" name="Таблица 5">
            <a:extLst>
              <a:ext uri="{FF2B5EF4-FFF2-40B4-BE49-F238E27FC236}">
                <a16:creationId xmlns:a16="http://schemas.microsoft.com/office/drawing/2014/main" id="{688FD514-DEE7-C69E-DB6A-114FFA7243F9}"/>
              </a:ext>
            </a:extLst>
          </p:cNvPr>
          <p:cNvGraphicFramePr>
            <a:graphicFrameLocks noGrp="1"/>
          </p:cNvGraphicFramePr>
          <p:nvPr>
            <p:extLst>
              <p:ext uri="{D42A27DB-BD31-4B8C-83A1-F6EECF244321}">
                <p14:modId xmlns:p14="http://schemas.microsoft.com/office/powerpoint/2010/main" val="1135837190"/>
              </p:ext>
            </p:extLst>
          </p:nvPr>
        </p:nvGraphicFramePr>
        <p:xfrm>
          <a:off x="1078173" y="2727275"/>
          <a:ext cx="7608707" cy="2926080"/>
        </p:xfrm>
        <a:graphic>
          <a:graphicData uri="http://schemas.openxmlformats.org/drawingml/2006/table">
            <a:tbl>
              <a:tblPr/>
              <a:tblGrid>
                <a:gridCol w="7608707">
                  <a:extLst>
                    <a:ext uri="{9D8B030D-6E8A-4147-A177-3AD203B41FA5}">
                      <a16:colId xmlns:a16="http://schemas.microsoft.com/office/drawing/2014/main" val="1222358075"/>
                    </a:ext>
                  </a:extLst>
                </a:gridCol>
              </a:tblGrid>
              <a:tr h="0">
                <a:tc>
                  <a:txBody>
                    <a:bodyPr/>
                    <a:lstStyle/>
                    <a:p>
                      <a:pPr algn="l" fontAlgn="base"/>
                      <a:r>
                        <a:rPr lang="en" sz="2400" b="0" i="0" dirty="0">
                          <a:effectLst/>
                          <a:latin typeface="var(--code-font-family)"/>
                        </a:rPr>
                        <a:t>CREATE TABLE Orders</a:t>
                      </a:r>
                    </a:p>
                    <a:p>
                      <a:pPr algn="l" fontAlgn="base"/>
                      <a:r>
                        <a:rPr lang="en" sz="2400" b="0" i="0" dirty="0">
                          <a:effectLst/>
                          <a:latin typeface="var(--code-font-family)"/>
                        </a:rPr>
                        <a:t>(</a:t>
                      </a:r>
                    </a:p>
                    <a:p>
                      <a:pPr algn="l" fontAlgn="base"/>
                      <a:r>
                        <a:rPr lang="en" sz="2400" b="0" i="0" dirty="0">
                          <a:effectLst/>
                          <a:latin typeface="var(--code-font-family)"/>
                        </a:rPr>
                        <a:t>    Id INT PRIMARY KEY IDENTITY,</a:t>
                      </a:r>
                    </a:p>
                    <a:p>
                      <a:pPr algn="l" fontAlgn="base"/>
                      <a:r>
                        <a:rPr lang="en" sz="2400" b="0" i="0" dirty="0">
                          <a:effectLst/>
                          <a:latin typeface="var(--code-font-family)"/>
                        </a:rPr>
                        <a:t>    </a:t>
                      </a:r>
                      <a:r>
                        <a:rPr lang="en" sz="2400" b="0" i="0" dirty="0" err="1">
                          <a:effectLst/>
                          <a:latin typeface="var(--code-font-family)"/>
                        </a:rPr>
                        <a:t>CustomerId</a:t>
                      </a:r>
                      <a:r>
                        <a:rPr lang="en" sz="2400" b="0" i="0" dirty="0">
                          <a:effectLst/>
                          <a:latin typeface="var(--code-font-family)"/>
                        </a:rPr>
                        <a:t> INT,</a:t>
                      </a:r>
                    </a:p>
                    <a:p>
                      <a:pPr algn="l" fontAlgn="base"/>
                      <a:r>
                        <a:rPr lang="en" sz="2400" b="0" i="0" dirty="0">
                          <a:effectLst/>
                          <a:latin typeface="var(--code-font-family)"/>
                        </a:rPr>
                        <a:t>    </a:t>
                      </a:r>
                      <a:r>
                        <a:rPr lang="en" sz="2400" b="0" i="0" dirty="0" err="1">
                          <a:effectLst/>
                          <a:latin typeface="var(--code-font-family)"/>
                        </a:rPr>
                        <a:t>CreatedAt</a:t>
                      </a:r>
                      <a:r>
                        <a:rPr lang="en" sz="2400" b="0" i="0" dirty="0">
                          <a:effectLst/>
                          <a:latin typeface="var(--code-font-family)"/>
                        </a:rPr>
                        <a:t> Date,</a:t>
                      </a:r>
                    </a:p>
                    <a:p>
                      <a:pPr algn="l" fontAlgn="base"/>
                      <a:r>
                        <a:rPr lang="en" sz="2400" b="0" i="0" dirty="0">
                          <a:effectLst/>
                          <a:latin typeface="var(--code-font-family)"/>
                        </a:rPr>
                        <a:t>    FOREIGN KEY (</a:t>
                      </a:r>
                      <a:r>
                        <a:rPr lang="en" sz="2400" b="0" i="0" dirty="0" err="1">
                          <a:effectLst/>
                          <a:latin typeface="var(--code-font-family)"/>
                        </a:rPr>
                        <a:t>CustomerId</a:t>
                      </a:r>
                      <a:r>
                        <a:rPr lang="en" sz="2400" b="0" i="0" dirty="0">
                          <a:effectLst/>
                          <a:latin typeface="var(--code-font-family)"/>
                        </a:rPr>
                        <a:t>)  REFERENCES Customers (Id)</a:t>
                      </a:r>
                    </a:p>
                    <a:p>
                      <a:pPr algn="l" fontAlgn="base"/>
                      <a:r>
                        <a:rPr lang="en" sz="2400" b="0" i="0" dirty="0">
                          <a:effectLst/>
                          <a:latin typeface="var(--code-font-family)"/>
                        </a:rPr>
                        <a:t>);</a:t>
                      </a:r>
                    </a:p>
                  </a:txBody>
                  <a:tcPr marL="0" marR="0" marT="0" marB="0" anchor="ctr">
                    <a:lnL>
                      <a:noFill/>
                    </a:lnL>
                    <a:lnR>
                      <a:noFill/>
                    </a:lnR>
                    <a:lnT>
                      <a:noFill/>
                    </a:lnT>
                    <a:lnB>
                      <a:noFill/>
                    </a:lnB>
                  </a:tcPr>
                </a:tc>
                <a:extLst>
                  <a:ext uri="{0D108BD9-81ED-4DB2-BD59-A6C34878D82A}">
                    <a16:rowId xmlns:a16="http://schemas.microsoft.com/office/drawing/2014/main" val="2836153457"/>
                  </a:ext>
                </a:extLst>
              </a:tr>
            </a:tbl>
          </a:graphicData>
        </a:graphic>
      </p:graphicFrame>
    </p:spTree>
    <p:extLst>
      <p:ext uri="{BB962C8B-B14F-4D97-AF65-F5344CB8AC3E}">
        <p14:creationId xmlns:p14="http://schemas.microsoft.com/office/powerpoint/2010/main" val="30372300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0B94AA-2D9B-F715-88B1-85123D951506}"/>
              </a:ext>
            </a:extLst>
          </p:cNvPr>
          <p:cNvSpPr txBox="1"/>
          <p:nvPr/>
        </p:nvSpPr>
        <p:spPr>
          <a:xfrm>
            <a:off x="208128" y="377672"/>
            <a:ext cx="11665424" cy="954107"/>
          </a:xfrm>
          <a:prstGeom prst="rect">
            <a:avLst/>
          </a:prstGeom>
          <a:noFill/>
        </p:spPr>
        <p:txBody>
          <a:bodyPr wrap="square">
            <a:spAutoFit/>
          </a:bodyPr>
          <a:lstStyle/>
          <a:p>
            <a:pPr algn="just"/>
            <a:r>
              <a:rPr lang="ru-RU" sz="2800" b="0" i="0" u="none" strike="noStrike" dirty="0">
                <a:solidFill>
                  <a:srgbClr val="000000"/>
                </a:solidFill>
                <a:effectLst/>
                <a:latin typeface="-apple-system"/>
              </a:rPr>
              <a:t>С помощью оператора </a:t>
            </a:r>
            <a:r>
              <a:rPr lang="en" sz="2800" b="1" i="0" u="none" strike="noStrike" dirty="0">
                <a:solidFill>
                  <a:srgbClr val="000000"/>
                </a:solidFill>
                <a:effectLst/>
                <a:latin typeface="-apple-system"/>
              </a:rPr>
              <a:t>CONSTRAINT</a:t>
            </a:r>
            <a:r>
              <a:rPr lang="en" sz="2800" b="0" i="0" u="none" strike="noStrike" dirty="0">
                <a:solidFill>
                  <a:srgbClr val="000000"/>
                </a:solidFill>
                <a:effectLst/>
                <a:latin typeface="-apple-system"/>
              </a:rPr>
              <a:t> </a:t>
            </a:r>
            <a:r>
              <a:rPr lang="ru-RU" sz="2800" b="0" i="0" u="none" strike="noStrike" dirty="0">
                <a:solidFill>
                  <a:srgbClr val="000000"/>
                </a:solidFill>
                <a:effectLst/>
                <a:latin typeface="-apple-system"/>
              </a:rPr>
              <a:t>можно задать имя для ограничения внешнего ключа. Обычно это имя начинается с префикса "</a:t>
            </a:r>
            <a:r>
              <a:rPr lang="en" sz="2800" b="0" i="0" u="none" strike="noStrike" dirty="0">
                <a:solidFill>
                  <a:srgbClr val="000000"/>
                </a:solidFill>
                <a:effectLst/>
                <a:latin typeface="-apple-system"/>
              </a:rPr>
              <a:t>FK_":</a:t>
            </a:r>
            <a:endParaRPr lang="ru-RU" sz="2800" dirty="0"/>
          </a:p>
        </p:txBody>
      </p:sp>
      <p:graphicFrame>
        <p:nvGraphicFramePr>
          <p:cNvPr id="6" name="Таблица 5">
            <a:extLst>
              <a:ext uri="{FF2B5EF4-FFF2-40B4-BE49-F238E27FC236}">
                <a16:creationId xmlns:a16="http://schemas.microsoft.com/office/drawing/2014/main" id="{F58E83BE-0158-5D46-EB8C-3A6120034A56}"/>
              </a:ext>
            </a:extLst>
          </p:cNvPr>
          <p:cNvGraphicFramePr>
            <a:graphicFrameLocks noGrp="1"/>
          </p:cNvGraphicFramePr>
          <p:nvPr>
            <p:extLst>
              <p:ext uri="{D42A27DB-BD31-4B8C-83A1-F6EECF244321}">
                <p14:modId xmlns:p14="http://schemas.microsoft.com/office/powerpoint/2010/main" val="1658750079"/>
              </p:ext>
            </p:extLst>
          </p:nvPr>
        </p:nvGraphicFramePr>
        <p:xfrm>
          <a:off x="350292" y="1873434"/>
          <a:ext cx="9416955" cy="2926080"/>
        </p:xfrm>
        <a:graphic>
          <a:graphicData uri="http://schemas.openxmlformats.org/drawingml/2006/table">
            <a:tbl>
              <a:tblPr/>
              <a:tblGrid>
                <a:gridCol w="9416955">
                  <a:extLst>
                    <a:ext uri="{9D8B030D-6E8A-4147-A177-3AD203B41FA5}">
                      <a16:colId xmlns:a16="http://schemas.microsoft.com/office/drawing/2014/main" val="2964622501"/>
                    </a:ext>
                  </a:extLst>
                </a:gridCol>
              </a:tblGrid>
              <a:tr h="0">
                <a:tc>
                  <a:txBody>
                    <a:bodyPr/>
                    <a:lstStyle/>
                    <a:p>
                      <a:pPr algn="l" fontAlgn="base"/>
                      <a:r>
                        <a:rPr lang="en" sz="2400" b="0" i="0" dirty="0">
                          <a:effectLst/>
                          <a:latin typeface="var(--code-font-family)"/>
                        </a:rPr>
                        <a:t>CREATE TABLE Orders</a:t>
                      </a:r>
                    </a:p>
                    <a:p>
                      <a:pPr algn="l" fontAlgn="base"/>
                      <a:r>
                        <a:rPr lang="en" sz="2400" b="0" i="0" dirty="0">
                          <a:effectLst/>
                          <a:latin typeface="var(--code-font-family)"/>
                        </a:rPr>
                        <a:t>(</a:t>
                      </a:r>
                    </a:p>
                    <a:p>
                      <a:pPr algn="l" fontAlgn="base"/>
                      <a:r>
                        <a:rPr lang="en" sz="2400" b="0" i="0" dirty="0">
                          <a:effectLst/>
                          <a:latin typeface="var(--code-font-family)"/>
                        </a:rPr>
                        <a:t>    Id INT PRIMARY KEY IDENTITY,</a:t>
                      </a:r>
                    </a:p>
                    <a:p>
                      <a:pPr algn="l" fontAlgn="base"/>
                      <a:r>
                        <a:rPr lang="en" sz="2400" b="0" i="0" dirty="0">
                          <a:effectLst/>
                          <a:latin typeface="var(--code-font-family)"/>
                        </a:rPr>
                        <a:t>    </a:t>
                      </a:r>
                      <a:r>
                        <a:rPr lang="en" sz="2400" b="0" i="0" dirty="0" err="1">
                          <a:effectLst/>
                          <a:latin typeface="var(--code-font-family)"/>
                        </a:rPr>
                        <a:t>CustomerId</a:t>
                      </a:r>
                      <a:r>
                        <a:rPr lang="en" sz="2400" b="0" i="0" dirty="0">
                          <a:effectLst/>
                          <a:latin typeface="var(--code-font-family)"/>
                        </a:rPr>
                        <a:t> INT,</a:t>
                      </a:r>
                    </a:p>
                    <a:p>
                      <a:pPr algn="l" fontAlgn="base"/>
                      <a:r>
                        <a:rPr lang="en" sz="2400" b="0" i="0" dirty="0">
                          <a:effectLst/>
                          <a:latin typeface="var(--code-font-family)"/>
                        </a:rPr>
                        <a:t>    </a:t>
                      </a:r>
                      <a:r>
                        <a:rPr lang="en" sz="2400" b="0" i="0" dirty="0" err="1">
                          <a:effectLst/>
                          <a:latin typeface="var(--code-font-family)"/>
                        </a:rPr>
                        <a:t>CreatedAt</a:t>
                      </a:r>
                      <a:r>
                        <a:rPr lang="en" sz="2400" b="0" i="0" dirty="0">
                          <a:effectLst/>
                          <a:latin typeface="var(--code-font-family)"/>
                        </a:rPr>
                        <a:t> Date,</a:t>
                      </a:r>
                    </a:p>
                    <a:p>
                      <a:pPr algn="l" fontAlgn="base"/>
                      <a:r>
                        <a:rPr lang="en" sz="2400" b="0" i="0" dirty="0">
                          <a:effectLst/>
                          <a:latin typeface="var(--code-font-family)"/>
                        </a:rPr>
                        <a:t>    CONSTRAINT </a:t>
                      </a:r>
                      <a:r>
                        <a:rPr lang="en" sz="2400" b="0" i="0" dirty="0" err="1">
                          <a:effectLst/>
                          <a:latin typeface="var(--code-font-family)"/>
                        </a:rPr>
                        <a:t>FK_Orders_To_Customers</a:t>
                      </a:r>
                      <a:r>
                        <a:rPr lang="en" sz="2400" b="0" i="0" dirty="0">
                          <a:effectLst/>
                          <a:latin typeface="var(--code-font-family)"/>
                        </a:rPr>
                        <a:t> FOREIGN KEY (</a:t>
                      </a:r>
                      <a:r>
                        <a:rPr lang="en" sz="2400" b="0" i="0" dirty="0" err="1">
                          <a:effectLst/>
                          <a:latin typeface="var(--code-font-family)"/>
                        </a:rPr>
                        <a:t>CustomerId</a:t>
                      </a:r>
                      <a:r>
                        <a:rPr lang="en" sz="2400" b="0" i="0" dirty="0">
                          <a:effectLst/>
                          <a:latin typeface="var(--code-font-family)"/>
                        </a:rPr>
                        <a:t>)  REFERENCES Customers (Id)</a:t>
                      </a:r>
                    </a:p>
                    <a:p>
                      <a:pPr algn="l" fontAlgn="base"/>
                      <a:r>
                        <a:rPr lang="en" sz="2400" b="0" i="0" dirty="0">
                          <a:effectLst/>
                          <a:latin typeface="var(--code-font-family)"/>
                        </a:rPr>
                        <a:t>);</a:t>
                      </a:r>
                    </a:p>
                  </a:txBody>
                  <a:tcPr marL="0" marR="0" marT="0" marB="0" anchor="ctr">
                    <a:lnL>
                      <a:noFill/>
                    </a:lnL>
                    <a:lnR>
                      <a:noFill/>
                    </a:lnR>
                    <a:lnT>
                      <a:noFill/>
                    </a:lnT>
                    <a:lnB>
                      <a:noFill/>
                    </a:lnB>
                  </a:tcPr>
                </a:tc>
                <a:extLst>
                  <a:ext uri="{0D108BD9-81ED-4DB2-BD59-A6C34878D82A}">
                    <a16:rowId xmlns:a16="http://schemas.microsoft.com/office/drawing/2014/main" val="1351446460"/>
                  </a:ext>
                </a:extLst>
              </a:tr>
            </a:tbl>
          </a:graphicData>
        </a:graphic>
      </p:graphicFrame>
    </p:spTree>
    <p:extLst>
      <p:ext uri="{BB962C8B-B14F-4D97-AF65-F5344CB8AC3E}">
        <p14:creationId xmlns:p14="http://schemas.microsoft.com/office/powerpoint/2010/main" val="37411154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617BD5-39D8-F0F3-BBBA-F847A40B38BA}"/>
              </a:ext>
            </a:extLst>
          </p:cNvPr>
          <p:cNvSpPr txBox="1"/>
          <p:nvPr/>
        </p:nvSpPr>
        <p:spPr>
          <a:xfrm>
            <a:off x="163773" y="477757"/>
            <a:ext cx="11791666" cy="6001643"/>
          </a:xfrm>
          <a:prstGeom prst="rect">
            <a:avLst/>
          </a:prstGeom>
          <a:noFill/>
        </p:spPr>
        <p:txBody>
          <a:bodyPr wrap="square">
            <a:spAutoFit/>
          </a:bodyPr>
          <a:lstStyle/>
          <a:p>
            <a:pPr algn="just"/>
            <a:r>
              <a:rPr lang="en" sz="2400" b="1" i="0" u="none" strike="noStrike" dirty="0">
                <a:solidFill>
                  <a:srgbClr val="000000"/>
                </a:solidFill>
                <a:effectLst/>
                <a:latin typeface="Times New Roman" panose="02020603050405020304" pitchFamily="18" charset="0"/>
                <a:cs typeface="Times New Roman" panose="02020603050405020304" pitchFamily="18" charset="0"/>
              </a:rPr>
              <a:t>ON DELETE </a:t>
            </a:r>
            <a:r>
              <a:rPr lang="ru-RU" sz="2400" b="1" i="0" u="none" strike="noStrike" dirty="0">
                <a:solidFill>
                  <a:srgbClr val="000000"/>
                </a:solidFill>
                <a:effectLst/>
                <a:latin typeface="Times New Roman" panose="02020603050405020304" pitchFamily="18" charset="0"/>
                <a:cs typeface="Times New Roman" panose="02020603050405020304" pitchFamily="18" charset="0"/>
              </a:rPr>
              <a:t>и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ON UPDATE</a:t>
            </a:r>
          </a:p>
          <a:p>
            <a:pPr algn="just"/>
            <a:r>
              <a:rPr lang="ru-RU" sz="2400" b="0" i="0" u="none" strike="noStrike" dirty="0">
                <a:solidFill>
                  <a:srgbClr val="000000"/>
                </a:solidFill>
                <a:effectLst/>
                <a:latin typeface="Times New Roman" panose="02020603050405020304" pitchFamily="18" charset="0"/>
                <a:cs typeface="Times New Roman" panose="02020603050405020304" pitchFamily="18" charset="0"/>
              </a:rPr>
              <a:t>С помощью выражений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ON DELETE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ON UPDATE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можно установить действия, которые выполняться соответственно при удалении и изменении связанной строки из главной таблицы. И для определения действия мы можем использовать следующие опции:</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CASCADE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автоматически удаляет или изменяет строки из зависимой таблицы при удалении или изменении связанных строк в главной таблице.</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NO ACTION</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предотвращает какие-либо действия в зависимой таблице при удалении или изменении связанных строк в главной таблице. То есть фактически какие-либо действия отсутствуют.</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SET NULL</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при удалении связанной строки из главной таблицы устанавливает для столбца внешнего ключа значение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NULL.</a:t>
            </a:r>
          </a:p>
          <a:p>
            <a:pPr algn="just">
              <a:buFont typeface="Arial" panose="020B0604020202020204" pitchFamily="34" charset="0"/>
              <a:buChar char="•"/>
            </a:pPr>
            <a:r>
              <a:rPr lang="en" sz="2400" b="1" i="0" u="none" strike="noStrike" dirty="0">
                <a:solidFill>
                  <a:srgbClr val="000000"/>
                </a:solidFill>
                <a:effectLst/>
                <a:latin typeface="Times New Roman" panose="02020603050405020304" pitchFamily="18" charset="0"/>
                <a:cs typeface="Times New Roman" panose="02020603050405020304" pitchFamily="18" charset="0"/>
              </a:rPr>
              <a:t>SET DEFAULT</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при удалении связанной строки из главной таблицы устанавливает для столбца внешнего ключа значение по умолчанию, которое задается с помощью атрибуты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DEFAULT.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Если для столбца не задано значение по умолчанию, то в качестве него применяется значение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NULL.</a:t>
            </a:r>
          </a:p>
        </p:txBody>
      </p:sp>
    </p:spTree>
    <p:extLst>
      <p:ext uri="{BB962C8B-B14F-4D97-AF65-F5344CB8AC3E}">
        <p14:creationId xmlns:p14="http://schemas.microsoft.com/office/powerpoint/2010/main" val="2261452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B9A74F3-7FBD-210B-C539-DF2FDF15E3F8}"/>
              </a:ext>
            </a:extLst>
          </p:cNvPr>
          <p:cNvSpPr txBox="1"/>
          <p:nvPr/>
        </p:nvSpPr>
        <p:spPr>
          <a:xfrm>
            <a:off x="232012" y="197346"/>
            <a:ext cx="11273051" cy="3231654"/>
          </a:xfrm>
          <a:prstGeom prst="rect">
            <a:avLst/>
          </a:prstGeom>
          <a:noFill/>
        </p:spPr>
        <p:txBody>
          <a:bodyPr wrap="square">
            <a:spAutoFit/>
          </a:bodyPr>
          <a:lstStyle/>
          <a:p>
            <a:pPr algn="just"/>
            <a:r>
              <a:rPr lang="ru-RU" sz="2400" b="1" i="0" u="none" strike="noStrike" dirty="0">
                <a:solidFill>
                  <a:srgbClr val="000000"/>
                </a:solidFill>
                <a:effectLst/>
                <a:latin typeface="Times New Roman" panose="02020603050405020304" pitchFamily="18" charset="0"/>
                <a:cs typeface="Times New Roman" panose="02020603050405020304" pitchFamily="18" charset="0"/>
              </a:rPr>
              <a:t>Каскадное удаление</a:t>
            </a:r>
          </a:p>
          <a:p>
            <a:pPr algn="just"/>
            <a:r>
              <a:rPr lang="ru-RU" sz="2400" b="0" i="0" u="none" strike="noStrike" dirty="0">
                <a:solidFill>
                  <a:srgbClr val="000000"/>
                </a:solidFill>
                <a:effectLst/>
                <a:latin typeface="Times New Roman" panose="02020603050405020304" pitchFamily="18" charset="0"/>
                <a:cs typeface="Times New Roman" panose="02020603050405020304" pitchFamily="18" charset="0"/>
              </a:rPr>
              <a:t>По умолчанию, если на строку из главной таблицы по внешнему ключу ссылается какая-либо строка из зависимой таблицы, то мы не сможем удалить эту строку из главной таблицы. Вначале нам необходимо будет удалить все связанные строки из зависимой таблицы. И если при удалении строки из главной таблицы необходимо, чтобы были удалены все связанные строки из зависимой таблицы, то применяется каскадное удаление, то есть опция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CASCADE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a:t>
            </a:r>
          </a:p>
          <a:p>
            <a:pPr algn="just"/>
            <a:r>
              <a:rPr lang="en" dirty="0"/>
              <a:t/>
            </a:r>
            <a:br>
              <a:rPr lang="en" dirty="0"/>
            </a:br>
            <a:endParaRPr lang="ru-RU" dirty="0"/>
          </a:p>
        </p:txBody>
      </p:sp>
      <p:sp>
        <p:nvSpPr>
          <p:cNvPr id="7" name="TextBox 6">
            <a:extLst>
              <a:ext uri="{FF2B5EF4-FFF2-40B4-BE49-F238E27FC236}">
                <a16:creationId xmlns:a16="http://schemas.microsoft.com/office/drawing/2014/main" id="{8469D749-4A41-DF61-31B5-39D9E94A7822}"/>
              </a:ext>
            </a:extLst>
          </p:cNvPr>
          <p:cNvSpPr txBox="1"/>
          <p:nvPr/>
        </p:nvSpPr>
        <p:spPr>
          <a:xfrm>
            <a:off x="686937" y="3069820"/>
            <a:ext cx="6093724" cy="3416320"/>
          </a:xfrm>
          <a:prstGeom prst="rect">
            <a:avLst/>
          </a:prstGeom>
          <a:noFill/>
        </p:spPr>
        <p:txBody>
          <a:bodyPr wrap="square">
            <a:spAutoFit/>
          </a:bodyPr>
          <a:lstStyle/>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CREATE TABLE Orders</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    Id INT PRIMARY KEY IDENTITY,</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en" sz="2400" b="0" i="0" u="none" strike="noStrike" dirty="0" err="1">
                <a:solidFill>
                  <a:srgbClr val="000000"/>
                </a:solidFill>
                <a:effectLst/>
                <a:latin typeface="Times New Roman" panose="02020603050405020304" pitchFamily="18" charset="0"/>
                <a:cs typeface="Times New Roman" panose="02020603050405020304" pitchFamily="18" charset="0"/>
              </a:rPr>
              <a:t>CustomerId</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INT,</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en" sz="2400" b="0" i="0" u="none" strike="noStrike" dirty="0" err="1">
                <a:solidFill>
                  <a:srgbClr val="000000"/>
                </a:solidFill>
                <a:effectLst/>
                <a:latin typeface="Times New Roman" panose="02020603050405020304" pitchFamily="18" charset="0"/>
                <a:cs typeface="Times New Roman" panose="02020603050405020304" pitchFamily="18" charset="0"/>
              </a:rPr>
              <a:t>CreatedAt</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Date,</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    FOREIGN KEY (</a:t>
            </a:r>
            <a:r>
              <a:rPr lang="en" sz="2400" b="0" i="0" u="none" strike="noStrike" dirty="0" err="1">
                <a:solidFill>
                  <a:srgbClr val="000000"/>
                </a:solidFill>
                <a:effectLst/>
                <a:latin typeface="Times New Roman" panose="02020603050405020304" pitchFamily="18" charset="0"/>
                <a:cs typeface="Times New Roman" panose="02020603050405020304" pitchFamily="18" charset="0"/>
              </a:rPr>
              <a:t>CustomerId</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REFERENCES Customers (Id) ON DELETE CASCADE</a:t>
            </a:r>
          </a:p>
          <a:p>
            <a:pPr algn="l" fontAlgn="base"/>
            <a:r>
              <a:rPr lang="en" sz="2400" b="0" i="0" u="none" strike="noStrike" dirty="0">
                <a:solidFill>
                  <a:srgbClr val="000000"/>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128236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9D622B-EB1A-3BF6-3599-69038860E032}"/>
              </a:ext>
            </a:extLst>
          </p:cNvPr>
          <p:cNvSpPr txBox="1"/>
          <p:nvPr/>
        </p:nvSpPr>
        <p:spPr>
          <a:xfrm>
            <a:off x="508379" y="312973"/>
            <a:ext cx="11105865" cy="2308324"/>
          </a:xfrm>
          <a:prstGeom prst="rect">
            <a:avLst/>
          </a:prstGeom>
          <a:noFill/>
        </p:spPr>
        <p:txBody>
          <a:bodyPr wrap="square">
            <a:spAutoFit/>
          </a:bodyPr>
          <a:lstStyle/>
          <a:p>
            <a:pPr algn="just"/>
            <a:r>
              <a:rPr lang="ru-RU" sz="2400" b="0" i="0" u="none" strike="noStrike" dirty="0">
                <a:solidFill>
                  <a:srgbClr val="000000"/>
                </a:solidFill>
                <a:effectLst/>
                <a:latin typeface="Times New Roman" panose="02020603050405020304" pitchFamily="18" charset="0"/>
                <a:cs typeface="Times New Roman" panose="02020603050405020304" pitchFamily="18" charset="0"/>
              </a:rPr>
              <a:t>Аналогично работает выражение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ON UPDATE CASCADE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При изменении значения первичного ключа автоматически изменится значение связанного с ним внешнего ключа. Но так как первичные ключи, как правило, изменяются очень редко, да и с принципе не рекомендуется использовать в качестве первичных ключей столбцы с изменяемыми значениями, то на практике выражение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ON UPDATE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используется редко.</a:t>
            </a:r>
            <a:endParaRPr lang="ru-RU"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2E56E6B-5427-7B25-EB56-5863E203B4B0}"/>
              </a:ext>
            </a:extLst>
          </p:cNvPr>
          <p:cNvSpPr txBox="1"/>
          <p:nvPr/>
        </p:nvSpPr>
        <p:spPr>
          <a:xfrm>
            <a:off x="577755" y="2621297"/>
            <a:ext cx="11105865" cy="1200329"/>
          </a:xfrm>
          <a:prstGeom prst="rect">
            <a:avLst/>
          </a:prstGeom>
          <a:noFill/>
        </p:spPr>
        <p:txBody>
          <a:bodyPr wrap="square">
            <a:spAutoFit/>
          </a:bodyPr>
          <a:lstStyle/>
          <a:p>
            <a:pPr algn="l"/>
            <a:r>
              <a:rPr lang="ru-RU" sz="2400" b="1" i="0" u="none" strike="noStrike" dirty="0">
                <a:solidFill>
                  <a:srgbClr val="000000"/>
                </a:solidFill>
                <a:effectLst/>
                <a:latin typeface="Times New Roman" panose="02020603050405020304" pitchFamily="18" charset="0"/>
                <a:cs typeface="Times New Roman" panose="02020603050405020304" pitchFamily="18" charset="0"/>
              </a:rPr>
              <a:t>Установка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NULL</a:t>
            </a:r>
          </a:p>
          <a:p>
            <a:pPr algn="l"/>
            <a:r>
              <a:rPr lang="ru-RU" sz="2400" b="0" i="0" u="none" strike="noStrike" dirty="0">
                <a:solidFill>
                  <a:srgbClr val="000000"/>
                </a:solidFill>
                <a:effectLst/>
                <a:latin typeface="Times New Roman" panose="02020603050405020304" pitchFamily="18" charset="0"/>
                <a:cs typeface="Times New Roman" panose="02020603050405020304" pitchFamily="18" charset="0"/>
              </a:rPr>
              <a:t>При установки для внешнего ключа опции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SET NULL</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необходимо, чтобы столбец внешнего ключа допускал значение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NULL:</a:t>
            </a:r>
          </a:p>
        </p:txBody>
      </p:sp>
      <p:sp>
        <p:nvSpPr>
          <p:cNvPr id="9" name="TextBox 8">
            <a:extLst>
              <a:ext uri="{FF2B5EF4-FFF2-40B4-BE49-F238E27FC236}">
                <a16:creationId xmlns:a16="http://schemas.microsoft.com/office/drawing/2014/main" id="{F4B926F6-E24C-F9A5-1452-AEB24D636983}"/>
              </a:ext>
            </a:extLst>
          </p:cNvPr>
          <p:cNvSpPr txBox="1"/>
          <p:nvPr/>
        </p:nvSpPr>
        <p:spPr>
          <a:xfrm>
            <a:off x="2760259" y="3821626"/>
            <a:ext cx="9550021" cy="3046988"/>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CREATE TABLE Orders</a:t>
            </a:r>
          </a:p>
          <a:p>
            <a:pPr algn="l" fontAlgn="base"/>
            <a:r>
              <a:rPr lang="en" sz="2400" b="0" i="0" u="none" strike="noStrike" dirty="0">
                <a:solidFill>
                  <a:srgbClr val="000000"/>
                </a:solidFill>
                <a:effectLst/>
                <a:latin typeface="Consolas" panose="020B0609020204030204" pitchFamily="49" charset="0"/>
              </a:rPr>
              <a:t>(</a:t>
            </a:r>
          </a:p>
          <a:p>
            <a:pPr algn="l" fontAlgn="base"/>
            <a:r>
              <a:rPr lang="en" sz="2400" b="0" i="0" u="none" strike="noStrike" dirty="0">
                <a:solidFill>
                  <a:srgbClr val="000000"/>
                </a:solidFill>
                <a:effectLst/>
                <a:latin typeface="Consolas" panose="020B0609020204030204" pitchFamily="49" charset="0"/>
              </a:rPr>
              <a:t>    Id INT PRIMARY KEY IDENTITY,</a:t>
            </a:r>
          </a:p>
          <a:p>
            <a:pPr algn="l" fontAlgn="base"/>
            <a:r>
              <a:rPr lang="en" sz="2400" b="0" i="0" u="none" strike="noStrike" dirty="0">
                <a:solidFill>
                  <a:srgbClr val="000000"/>
                </a:solidFill>
                <a:effectLst/>
                <a:latin typeface="Consolas" panose="020B0609020204030204" pitchFamily="49" charset="0"/>
              </a:rPr>
              <a:t>    </a:t>
            </a:r>
            <a:r>
              <a:rPr lang="en" sz="2400" b="0" i="0" u="none" strike="noStrike" dirty="0" err="1">
                <a:solidFill>
                  <a:srgbClr val="000000"/>
                </a:solidFill>
                <a:effectLst/>
                <a:latin typeface="Consolas" panose="020B0609020204030204" pitchFamily="49" charset="0"/>
              </a:rPr>
              <a:t>CustomerId</a:t>
            </a:r>
            <a:r>
              <a:rPr lang="en" sz="2400" b="0" i="0" u="none" strike="noStrike" dirty="0">
                <a:solidFill>
                  <a:srgbClr val="000000"/>
                </a:solidFill>
                <a:effectLst/>
                <a:latin typeface="Consolas" panose="020B0609020204030204" pitchFamily="49" charset="0"/>
              </a:rPr>
              <a:t> INT,</a:t>
            </a:r>
          </a:p>
          <a:p>
            <a:pPr algn="l" fontAlgn="base"/>
            <a:r>
              <a:rPr lang="en" sz="2400" b="0" i="0" u="none" strike="noStrike" dirty="0">
                <a:solidFill>
                  <a:srgbClr val="000000"/>
                </a:solidFill>
                <a:effectLst/>
                <a:latin typeface="Consolas" panose="020B0609020204030204" pitchFamily="49" charset="0"/>
              </a:rPr>
              <a:t>    </a:t>
            </a:r>
            <a:r>
              <a:rPr lang="en" sz="2400" b="0" i="0" u="none" strike="noStrike" dirty="0" err="1">
                <a:solidFill>
                  <a:srgbClr val="000000"/>
                </a:solidFill>
                <a:effectLst/>
                <a:latin typeface="Consolas" panose="020B0609020204030204" pitchFamily="49" charset="0"/>
              </a:rPr>
              <a:t>CreatedAt</a:t>
            </a:r>
            <a:r>
              <a:rPr lang="en" sz="2400" b="0" i="0" u="none" strike="noStrike" dirty="0">
                <a:solidFill>
                  <a:srgbClr val="000000"/>
                </a:solidFill>
                <a:effectLst/>
                <a:latin typeface="Consolas" panose="020B0609020204030204" pitchFamily="49" charset="0"/>
              </a:rPr>
              <a:t> Date,</a:t>
            </a:r>
          </a:p>
          <a:p>
            <a:pPr algn="l" fontAlgn="base"/>
            <a:r>
              <a:rPr lang="en" sz="2400" b="0" i="0" u="none" strike="noStrike" dirty="0">
                <a:solidFill>
                  <a:srgbClr val="000000"/>
                </a:solidFill>
                <a:effectLst/>
                <a:latin typeface="Consolas" panose="020B0609020204030204" pitchFamily="49" charset="0"/>
              </a:rPr>
              <a:t>    FOREIGN KEY (</a:t>
            </a:r>
            <a:r>
              <a:rPr lang="en" sz="2400" b="0" i="0" u="none" strike="noStrike" dirty="0" err="1">
                <a:solidFill>
                  <a:srgbClr val="000000"/>
                </a:solidFill>
                <a:effectLst/>
                <a:latin typeface="Consolas" panose="020B0609020204030204" pitchFamily="49" charset="0"/>
              </a:rPr>
              <a:t>CustomerId</a:t>
            </a:r>
            <a:r>
              <a:rPr lang="en" sz="2400" b="0" i="0" u="none" strike="noStrike" dirty="0">
                <a:solidFill>
                  <a:srgbClr val="000000"/>
                </a:solidFill>
                <a:effectLst/>
                <a:latin typeface="Consolas" panose="020B0609020204030204" pitchFamily="49" charset="0"/>
              </a:rPr>
              <a:t>) REFERENCES Customers (Id) ON DELETE SET NULL</a:t>
            </a:r>
          </a:p>
          <a:p>
            <a:pPr algn="l" fontAlgn="base"/>
            <a:r>
              <a:rPr lang="en" sz="2400" b="0" i="0" u="none" strike="noStrike"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5764590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94E90D-9EDC-761D-7CF9-45BE1D51ECF0}"/>
              </a:ext>
            </a:extLst>
          </p:cNvPr>
          <p:cNvSpPr txBox="1"/>
          <p:nvPr/>
        </p:nvSpPr>
        <p:spPr>
          <a:xfrm>
            <a:off x="535675" y="409012"/>
            <a:ext cx="6093724" cy="523220"/>
          </a:xfrm>
          <a:prstGeom prst="rect">
            <a:avLst/>
          </a:prstGeom>
          <a:noFill/>
        </p:spPr>
        <p:txBody>
          <a:bodyPr wrap="square">
            <a:spAutoFit/>
          </a:bodyPr>
          <a:lstStyle/>
          <a:p>
            <a:pPr algn="l"/>
            <a:r>
              <a:rPr lang="ru-RU" sz="2800" b="1" i="0" u="none" strike="noStrike" dirty="0">
                <a:solidFill>
                  <a:srgbClr val="000000"/>
                </a:solidFill>
                <a:effectLst/>
                <a:latin typeface="-apple-system"/>
              </a:rPr>
              <a:t>Установка значения по умолчанию</a:t>
            </a:r>
          </a:p>
        </p:txBody>
      </p:sp>
      <p:sp>
        <p:nvSpPr>
          <p:cNvPr id="7" name="TextBox 6">
            <a:extLst>
              <a:ext uri="{FF2B5EF4-FFF2-40B4-BE49-F238E27FC236}">
                <a16:creationId xmlns:a16="http://schemas.microsoft.com/office/drawing/2014/main" id="{588CC57D-A938-23BA-9532-B6BFA9C4AD83}"/>
              </a:ext>
            </a:extLst>
          </p:cNvPr>
          <p:cNvSpPr txBox="1"/>
          <p:nvPr/>
        </p:nvSpPr>
        <p:spPr>
          <a:xfrm>
            <a:off x="473384" y="1425476"/>
            <a:ext cx="11651777" cy="3046988"/>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CREATE TABLE Orders</a:t>
            </a:r>
          </a:p>
          <a:p>
            <a:pPr algn="l" fontAlgn="base"/>
            <a:r>
              <a:rPr lang="en" sz="2400" b="0" i="0" u="none" strike="noStrike" dirty="0">
                <a:solidFill>
                  <a:srgbClr val="000000"/>
                </a:solidFill>
                <a:effectLst/>
                <a:latin typeface="Consolas" panose="020B0609020204030204" pitchFamily="49" charset="0"/>
              </a:rPr>
              <a:t>(</a:t>
            </a:r>
          </a:p>
          <a:p>
            <a:pPr algn="l" fontAlgn="base"/>
            <a:r>
              <a:rPr lang="en" sz="2400" b="0" i="0" u="none" strike="noStrike" dirty="0">
                <a:solidFill>
                  <a:srgbClr val="000000"/>
                </a:solidFill>
                <a:effectLst/>
                <a:latin typeface="Consolas" panose="020B0609020204030204" pitchFamily="49" charset="0"/>
              </a:rPr>
              <a:t>    Id INT PRIMARY KEY IDENTITY,</a:t>
            </a:r>
          </a:p>
          <a:p>
            <a:pPr algn="l" fontAlgn="base"/>
            <a:r>
              <a:rPr lang="en" sz="2400" b="0" i="0" u="none" strike="noStrike" dirty="0">
                <a:solidFill>
                  <a:srgbClr val="000000"/>
                </a:solidFill>
                <a:effectLst/>
                <a:latin typeface="Consolas" panose="020B0609020204030204" pitchFamily="49" charset="0"/>
              </a:rPr>
              <a:t>    </a:t>
            </a:r>
            <a:r>
              <a:rPr lang="en" sz="2400" b="0" i="0" u="none" strike="noStrike" dirty="0" err="1">
                <a:solidFill>
                  <a:srgbClr val="000000"/>
                </a:solidFill>
                <a:effectLst/>
                <a:latin typeface="Consolas" panose="020B0609020204030204" pitchFamily="49" charset="0"/>
              </a:rPr>
              <a:t>CustomerId</a:t>
            </a:r>
            <a:r>
              <a:rPr lang="en" sz="2400" b="0" i="0" u="none" strike="noStrike" dirty="0">
                <a:solidFill>
                  <a:srgbClr val="000000"/>
                </a:solidFill>
                <a:effectLst/>
                <a:latin typeface="Consolas" panose="020B0609020204030204" pitchFamily="49" charset="0"/>
              </a:rPr>
              <a:t> INT,</a:t>
            </a:r>
          </a:p>
          <a:p>
            <a:pPr algn="l" fontAlgn="base"/>
            <a:r>
              <a:rPr lang="en" sz="2400" b="0" i="0" u="none" strike="noStrike" dirty="0">
                <a:solidFill>
                  <a:srgbClr val="000000"/>
                </a:solidFill>
                <a:effectLst/>
                <a:latin typeface="Consolas" panose="020B0609020204030204" pitchFamily="49" charset="0"/>
              </a:rPr>
              <a:t>    </a:t>
            </a:r>
            <a:r>
              <a:rPr lang="en" sz="2400" b="0" i="0" u="none" strike="noStrike" dirty="0" err="1">
                <a:solidFill>
                  <a:srgbClr val="000000"/>
                </a:solidFill>
                <a:effectLst/>
                <a:latin typeface="Consolas" panose="020B0609020204030204" pitchFamily="49" charset="0"/>
              </a:rPr>
              <a:t>CreatedAt</a:t>
            </a:r>
            <a:r>
              <a:rPr lang="en" sz="2400" b="0" i="0" u="none" strike="noStrike" dirty="0">
                <a:solidFill>
                  <a:srgbClr val="000000"/>
                </a:solidFill>
                <a:effectLst/>
                <a:latin typeface="Consolas" panose="020B0609020204030204" pitchFamily="49" charset="0"/>
              </a:rPr>
              <a:t> Date,</a:t>
            </a:r>
          </a:p>
          <a:p>
            <a:pPr algn="l" fontAlgn="base"/>
            <a:r>
              <a:rPr lang="en" sz="2400" b="0" i="0" u="none" strike="noStrike" dirty="0">
                <a:solidFill>
                  <a:srgbClr val="000000"/>
                </a:solidFill>
                <a:effectLst/>
                <a:latin typeface="Consolas" panose="020B0609020204030204" pitchFamily="49" charset="0"/>
              </a:rPr>
              <a:t>    FOREIGN KEY (</a:t>
            </a:r>
            <a:r>
              <a:rPr lang="en" sz="2400" b="0" i="0" u="none" strike="noStrike" dirty="0" err="1">
                <a:solidFill>
                  <a:srgbClr val="000000"/>
                </a:solidFill>
                <a:effectLst/>
                <a:latin typeface="Consolas" panose="020B0609020204030204" pitchFamily="49" charset="0"/>
              </a:rPr>
              <a:t>CustomerId</a:t>
            </a:r>
            <a:r>
              <a:rPr lang="en" sz="2400" b="0" i="0" u="none" strike="noStrike" dirty="0">
                <a:solidFill>
                  <a:srgbClr val="000000"/>
                </a:solidFill>
                <a:effectLst/>
                <a:latin typeface="Consolas" panose="020B0609020204030204" pitchFamily="49" charset="0"/>
              </a:rPr>
              <a:t>) REFERENCES Customers (Id) ON DELETE SET DEFAULT</a:t>
            </a:r>
          </a:p>
          <a:p>
            <a:pPr algn="l" fontAlgn="base"/>
            <a:r>
              <a:rPr lang="en" sz="2400" b="0" i="0" u="none" strike="noStrike"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967070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AA82B1-7267-CA37-FCF5-5E54E584CDE4}"/>
              </a:ext>
            </a:extLst>
          </p:cNvPr>
          <p:cNvSpPr txBox="1"/>
          <p:nvPr/>
        </p:nvSpPr>
        <p:spPr>
          <a:xfrm>
            <a:off x="3442648" y="177000"/>
            <a:ext cx="6093724" cy="523220"/>
          </a:xfrm>
          <a:prstGeom prst="rect">
            <a:avLst/>
          </a:prstGeom>
          <a:noFill/>
        </p:spPr>
        <p:txBody>
          <a:bodyPr wrap="square">
            <a:spAutoFit/>
          </a:bodyPr>
          <a:lstStyle/>
          <a:p>
            <a:pPr algn="l"/>
            <a:r>
              <a:rPr lang="ru-RU" sz="2800" b="1" i="0" u="none" strike="noStrike" dirty="0">
                <a:solidFill>
                  <a:srgbClr val="000000"/>
                </a:solidFill>
                <a:effectLst/>
                <a:latin typeface="Times New Roman" panose="02020603050405020304" pitchFamily="18" charset="0"/>
                <a:cs typeface="Times New Roman" panose="02020603050405020304" pitchFamily="18" charset="0"/>
              </a:rPr>
              <a:t>Изменение таблицы</a:t>
            </a:r>
          </a:p>
        </p:txBody>
      </p:sp>
      <p:sp>
        <p:nvSpPr>
          <p:cNvPr id="7" name="TextBox 6">
            <a:extLst>
              <a:ext uri="{FF2B5EF4-FFF2-40B4-BE49-F238E27FC236}">
                <a16:creationId xmlns:a16="http://schemas.microsoft.com/office/drawing/2014/main" id="{20116946-70D7-4042-4B20-EFD3C55495CF}"/>
              </a:ext>
            </a:extLst>
          </p:cNvPr>
          <p:cNvSpPr txBox="1"/>
          <p:nvPr/>
        </p:nvSpPr>
        <p:spPr>
          <a:xfrm>
            <a:off x="153536" y="876575"/>
            <a:ext cx="12038463" cy="1569660"/>
          </a:xfrm>
          <a:prstGeom prst="rect">
            <a:avLst/>
          </a:prstGeom>
          <a:noFill/>
        </p:spPr>
        <p:txBody>
          <a:bodyPr wrap="square">
            <a:spAutoFit/>
          </a:bodyPr>
          <a:lstStyle/>
          <a:p>
            <a:r>
              <a:rPr lang="ru-RU" sz="2400" b="0" i="0" u="none" strike="noStrike" dirty="0">
                <a:solidFill>
                  <a:srgbClr val="000000"/>
                </a:solidFill>
                <a:effectLst/>
                <a:latin typeface="Times New Roman" panose="02020603050405020304" pitchFamily="18" charset="0"/>
                <a:cs typeface="Times New Roman" panose="02020603050405020304" pitchFamily="18" charset="0"/>
              </a:rPr>
              <a:t>Возможно, в какой-то момент мы захотим изменить уже имеющуюся таблицу. Например, добавить или удалить столбцы, изменить тип столбцов, добавить или удалить ограничения. То есть потребуется изменить определение таблицы. Для изменения таблиц используется выражение </a:t>
            </a:r>
            <a:r>
              <a:rPr lang="en" sz="2400" b="1" i="0" u="none" strike="noStrike" dirty="0">
                <a:solidFill>
                  <a:srgbClr val="000000"/>
                </a:solidFill>
                <a:effectLst/>
                <a:latin typeface="Times New Roman" panose="02020603050405020304" pitchFamily="18" charset="0"/>
                <a:cs typeface="Times New Roman" panose="02020603050405020304" pitchFamily="18" charset="0"/>
              </a:rPr>
              <a:t>ALTER TABLE</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6326BFF-1851-ECDB-3F2D-74EE2663B62F}"/>
              </a:ext>
            </a:extLst>
          </p:cNvPr>
          <p:cNvSpPr txBox="1"/>
          <p:nvPr/>
        </p:nvSpPr>
        <p:spPr>
          <a:xfrm>
            <a:off x="153536" y="2446235"/>
            <a:ext cx="11941791" cy="461665"/>
          </a:xfrm>
          <a:prstGeom prst="rect">
            <a:avLst/>
          </a:prstGeom>
          <a:noFill/>
        </p:spPr>
        <p:txBody>
          <a:bodyPr wrap="square">
            <a:spAutoFit/>
          </a:bodyPr>
          <a:lstStyle/>
          <a:p>
            <a:pPr algn="just"/>
            <a:r>
              <a:rPr lang="ru-RU" sz="2400" b="0" i="0" u="none" strike="noStrike" dirty="0">
                <a:solidFill>
                  <a:srgbClr val="000000"/>
                </a:solidFill>
                <a:effectLst/>
                <a:latin typeface="Times New Roman" panose="02020603050405020304" pitchFamily="18" charset="0"/>
                <a:cs typeface="Times New Roman" panose="02020603050405020304" pitchFamily="18" charset="0"/>
              </a:rPr>
              <a:t>Общий формальный синтаксис команды выглядит следующим образом:</a:t>
            </a:r>
            <a:endParaRPr lang="ru-RU" sz="2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E0477ED-D04A-8C52-388F-401BC90F2F7C}"/>
              </a:ext>
            </a:extLst>
          </p:cNvPr>
          <p:cNvSpPr txBox="1"/>
          <p:nvPr/>
        </p:nvSpPr>
        <p:spPr>
          <a:xfrm>
            <a:off x="153536" y="3429000"/>
            <a:ext cx="11941791" cy="2215991"/>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ALTER TABLE </a:t>
            </a:r>
            <a:r>
              <a:rPr lang="ru-RU" sz="2400" b="0" i="0" u="none" strike="noStrike" dirty="0" err="1">
                <a:solidFill>
                  <a:srgbClr val="000000"/>
                </a:solidFill>
                <a:effectLst/>
                <a:latin typeface="Consolas" panose="020B0609020204030204" pitchFamily="49" charset="0"/>
              </a:rPr>
              <a:t>название_таблицы</a:t>
            </a:r>
            <a:r>
              <a:rPr lang="ru-RU" sz="2400" b="0" i="0" u="none" strike="noStrike" dirty="0">
                <a:solidFill>
                  <a:srgbClr val="000000"/>
                </a:solidFill>
                <a:effectLst/>
                <a:latin typeface="Consolas" panose="020B0609020204030204" pitchFamily="49" charset="0"/>
              </a:rPr>
              <a:t> [</a:t>
            </a:r>
            <a:r>
              <a:rPr lang="en" sz="2400" b="0" i="0" u="none" strike="noStrike" dirty="0">
                <a:solidFill>
                  <a:srgbClr val="000000"/>
                </a:solidFill>
                <a:effectLst/>
                <a:latin typeface="Consolas" panose="020B0609020204030204" pitchFamily="49" charset="0"/>
              </a:rPr>
              <a:t>WITH CHECK | WITH NOCHECK]</a:t>
            </a:r>
          </a:p>
          <a:p>
            <a:pPr algn="l" fontAlgn="base"/>
            <a:r>
              <a:rPr lang="en" sz="2400" b="0" i="0" u="none" strike="noStrike" dirty="0">
                <a:solidFill>
                  <a:srgbClr val="000000"/>
                </a:solidFill>
                <a:effectLst/>
                <a:latin typeface="Consolas" panose="020B0609020204030204" pitchFamily="49" charset="0"/>
              </a:rPr>
              <a:t>{ ADD </a:t>
            </a:r>
            <a:r>
              <a:rPr lang="ru-RU" sz="2400" b="0" i="0" u="none" strike="noStrike" dirty="0" err="1">
                <a:solidFill>
                  <a:srgbClr val="000000"/>
                </a:solidFill>
                <a:effectLst/>
                <a:latin typeface="Consolas" panose="020B0609020204030204" pitchFamily="49" charset="0"/>
              </a:rPr>
              <a:t>название_столбца</a:t>
            </a:r>
            <a:r>
              <a:rPr lang="ru-RU" sz="2400" b="0" i="0" u="none" strike="noStrike" dirty="0">
                <a:solidFill>
                  <a:srgbClr val="000000"/>
                </a:solidFill>
                <a:effectLst/>
                <a:latin typeface="Consolas" panose="020B0609020204030204" pitchFamily="49" charset="0"/>
              </a:rPr>
              <a:t> </a:t>
            </a:r>
            <a:r>
              <a:rPr lang="ru-RU" sz="2400" b="0" i="0" u="none" strike="noStrike" dirty="0" err="1">
                <a:solidFill>
                  <a:srgbClr val="000000"/>
                </a:solidFill>
                <a:effectLst/>
                <a:latin typeface="Consolas" panose="020B0609020204030204" pitchFamily="49" charset="0"/>
              </a:rPr>
              <a:t>тип_данных_столбца</a:t>
            </a:r>
            <a:r>
              <a:rPr lang="ru-RU" sz="2400" b="0" i="0" u="none" strike="noStrike" dirty="0">
                <a:solidFill>
                  <a:srgbClr val="000000"/>
                </a:solidFill>
                <a:effectLst/>
                <a:latin typeface="Consolas" panose="020B0609020204030204" pitchFamily="49" charset="0"/>
              </a:rPr>
              <a:t> [</a:t>
            </a:r>
            <a:r>
              <a:rPr lang="ru-RU" sz="2400" b="0" i="0" u="none" strike="noStrike" dirty="0" err="1">
                <a:solidFill>
                  <a:srgbClr val="000000"/>
                </a:solidFill>
                <a:effectLst/>
                <a:latin typeface="Consolas" panose="020B0609020204030204" pitchFamily="49" charset="0"/>
              </a:rPr>
              <a:t>атрибуты_столбца</a:t>
            </a:r>
            <a:r>
              <a:rPr lang="ru-RU" sz="2400" b="0" i="0" u="none" strike="noStrike" dirty="0">
                <a:solidFill>
                  <a:srgbClr val="000000"/>
                </a:solidFill>
                <a:effectLst/>
                <a:latin typeface="Consolas" panose="020B0609020204030204" pitchFamily="49" charset="0"/>
              </a:rPr>
              <a:t>] | </a:t>
            </a:r>
          </a:p>
          <a:p>
            <a:pPr algn="l" fontAlgn="base"/>
            <a:r>
              <a:rPr lang="ru-RU" sz="2400" b="0" i="0" u="none" strike="noStrike" dirty="0">
                <a:solidFill>
                  <a:srgbClr val="000000"/>
                </a:solidFill>
                <a:effectLst/>
                <a:latin typeface="Consolas" panose="020B0609020204030204" pitchFamily="49" charset="0"/>
              </a:rPr>
              <a:t>  </a:t>
            </a:r>
            <a:r>
              <a:rPr lang="en" sz="2400" b="0" i="0" u="none" strike="noStrike" dirty="0">
                <a:solidFill>
                  <a:srgbClr val="000000"/>
                </a:solidFill>
                <a:effectLst/>
                <a:latin typeface="Consolas" panose="020B0609020204030204" pitchFamily="49" charset="0"/>
              </a:rPr>
              <a:t>DROP COLUMN </a:t>
            </a:r>
            <a:r>
              <a:rPr lang="ru-RU" sz="2400" b="0" i="0" u="none" strike="noStrike" dirty="0" err="1">
                <a:solidFill>
                  <a:srgbClr val="000000"/>
                </a:solidFill>
                <a:effectLst/>
                <a:latin typeface="Consolas" panose="020B0609020204030204" pitchFamily="49" charset="0"/>
              </a:rPr>
              <a:t>название_столбца</a:t>
            </a:r>
            <a:r>
              <a:rPr lang="ru-RU" sz="2400" b="0" i="0" u="none" strike="noStrike" dirty="0">
                <a:solidFill>
                  <a:srgbClr val="000000"/>
                </a:solidFill>
                <a:effectLst/>
                <a:latin typeface="Consolas" panose="020B0609020204030204" pitchFamily="49" charset="0"/>
              </a:rPr>
              <a:t> |</a:t>
            </a:r>
          </a:p>
          <a:p>
            <a:pPr algn="l" fontAlgn="base"/>
            <a:r>
              <a:rPr lang="ru-RU" sz="2400" b="0" i="0" u="none" strike="noStrike" dirty="0">
                <a:solidFill>
                  <a:srgbClr val="000000"/>
                </a:solidFill>
                <a:effectLst/>
                <a:latin typeface="Consolas" panose="020B0609020204030204" pitchFamily="49" charset="0"/>
              </a:rPr>
              <a:t>  </a:t>
            </a:r>
            <a:r>
              <a:rPr lang="en" sz="2400" b="0" i="0" u="none" strike="noStrike" dirty="0">
                <a:solidFill>
                  <a:srgbClr val="000000"/>
                </a:solidFill>
                <a:effectLst/>
                <a:latin typeface="Consolas" panose="020B0609020204030204" pitchFamily="49" charset="0"/>
              </a:rPr>
              <a:t>ALTER COLUMN </a:t>
            </a:r>
            <a:r>
              <a:rPr lang="ru-RU" sz="2400" b="0" i="0" u="none" strike="noStrike" dirty="0" err="1">
                <a:solidFill>
                  <a:srgbClr val="000000"/>
                </a:solidFill>
                <a:effectLst/>
                <a:latin typeface="Consolas" panose="020B0609020204030204" pitchFamily="49" charset="0"/>
              </a:rPr>
              <a:t>название_столбца</a:t>
            </a:r>
            <a:r>
              <a:rPr lang="ru-RU" sz="2400" b="0" i="0" u="none" strike="noStrike" dirty="0">
                <a:solidFill>
                  <a:srgbClr val="000000"/>
                </a:solidFill>
                <a:effectLst/>
                <a:latin typeface="Consolas" panose="020B0609020204030204" pitchFamily="49" charset="0"/>
              </a:rPr>
              <a:t> </a:t>
            </a:r>
            <a:r>
              <a:rPr lang="ru-RU" sz="2400" b="0" i="0" u="none" strike="noStrike" dirty="0" err="1">
                <a:solidFill>
                  <a:srgbClr val="000000"/>
                </a:solidFill>
                <a:effectLst/>
                <a:latin typeface="Consolas" panose="020B0609020204030204" pitchFamily="49" charset="0"/>
              </a:rPr>
              <a:t>тип_данных_столбца</a:t>
            </a:r>
            <a:r>
              <a:rPr lang="ru-RU" sz="2400" b="0" i="0" u="none" strike="noStrike" dirty="0">
                <a:solidFill>
                  <a:srgbClr val="000000"/>
                </a:solidFill>
                <a:effectLst/>
                <a:latin typeface="Consolas" panose="020B0609020204030204" pitchFamily="49" charset="0"/>
              </a:rPr>
              <a:t> [</a:t>
            </a:r>
            <a:r>
              <a:rPr lang="en" sz="2400" b="0" i="0" u="none" strike="noStrike" dirty="0">
                <a:solidFill>
                  <a:srgbClr val="000000"/>
                </a:solidFill>
                <a:effectLst/>
                <a:latin typeface="Consolas" panose="020B0609020204030204" pitchFamily="49" charset="0"/>
              </a:rPr>
              <a:t>NULL|NOT NULL] |</a:t>
            </a:r>
          </a:p>
          <a:p>
            <a:pPr algn="l" fontAlgn="base"/>
            <a:r>
              <a:rPr lang="en" sz="2400" b="0" i="0" u="none" strike="noStrike" dirty="0">
                <a:solidFill>
                  <a:srgbClr val="000000"/>
                </a:solidFill>
                <a:effectLst/>
                <a:latin typeface="Consolas" panose="020B0609020204030204" pitchFamily="49" charset="0"/>
              </a:rPr>
              <a:t>  ADD [CONSTRAINT] </a:t>
            </a:r>
            <a:r>
              <a:rPr lang="ru-RU" sz="2400" b="0" i="0" u="none" strike="noStrike" dirty="0" err="1">
                <a:solidFill>
                  <a:srgbClr val="000000"/>
                </a:solidFill>
                <a:effectLst/>
                <a:latin typeface="Consolas" panose="020B0609020204030204" pitchFamily="49" charset="0"/>
              </a:rPr>
              <a:t>определение_ограничения</a:t>
            </a:r>
            <a:r>
              <a:rPr lang="ru-RU" sz="2400" b="0" i="0" u="none" strike="noStrike" dirty="0">
                <a:solidFill>
                  <a:srgbClr val="000000"/>
                </a:solidFill>
                <a:effectLst/>
                <a:latin typeface="Consolas" panose="020B0609020204030204" pitchFamily="49" charset="0"/>
              </a:rPr>
              <a:t> |</a:t>
            </a:r>
          </a:p>
          <a:p>
            <a:pPr algn="l" fontAlgn="base"/>
            <a:r>
              <a:rPr lang="ru-RU" b="0" i="0" u="none" strike="noStrike" dirty="0">
                <a:solidFill>
                  <a:srgbClr val="000000"/>
                </a:solidFill>
                <a:effectLst/>
                <a:latin typeface="Consolas" panose="020B0609020204030204" pitchFamily="49" charset="0"/>
              </a:rPr>
              <a:t>  </a:t>
            </a:r>
            <a:r>
              <a:rPr lang="en" b="0" i="0" u="none" strike="noStrike" dirty="0">
                <a:solidFill>
                  <a:srgbClr val="000000"/>
                </a:solidFill>
                <a:effectLst/>
                <a:latin typeface="Consolas" panose="020B0609020204030204" pitchFamily="49" charset="0"/>
              </a:rPr>
              <a:t>DROP [CONSTRAINT] </a:t>
            </a:r>
            <a:r>
              <a:rPr lang="ru-RU" b="0" i="0" u="none" strike="noStrike" dirty="0" err="1">
                <a:solidFill>
                  <a:srgbClr val="000000"/>
                </a:solidFill>
                <a:effectLst/>
                <a:latin typeface="Consolas" panose="020B0609020204030204" pitchFamily="49" charset="0"/>
              </a:rPr>
              <a:t>имя_ограничения</a:t>
            </a:r>
            <a:r>
              <a:rPr lang="ru-RU" b="0" i="0" u="none" strike="noStrike"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0569903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D098DE-CEAC-7527-6A29-344339F12B76}"/>
              </a:ext>
            </a:extLst>
          </p:cNvPr>
          <p:cNvSpPr txBox="1"/>
          <p:nvPr/>
        </p:nvSpPr>
        <p:spPr>
          <a:xfrm>
            <a:off x="2432713" y="272534"/>
            <a:ext cx="7803107" cy="461665"/>
          </a:xfrm>
          <a:prstGeom prst="rect">
            <a:avLst/>
          </a:prstGeom>
          <a:noFill/>
        </p:spPr>
        <p:txBody>
          <a:bodyPr wrap="square">
            <a:spAutoFit/>
          </a:bodyPr>
          <a:lstStyle/>
          <a:p>
            <a:r>
              <a:rPr lang="ru-RU" sz="2400" b="1" i="0" u="none" strike="noStrike" dirty="0">
                <a:solidFill>
                  <a:srgbClr val="000000"/>
                </a:solidFill>
                <a:effectLst/>
                <a:latin typeface="-apple-system"/>
              </a:rPr>
              <a:t>Добавим в таблицу </a:t>
            </a:r>
            <a:r>
              <a:rPr lang="en" sz="2400" b="1" i="0" u="none" strike="noStrike" dirty="0">
                <a:solidFill>
                  <a:srgbClr val="000000"/>
                </a:solidFill>
                <a:effectLst/>
                <a:latin typeface="-apple-system"/>
              </a:rPr>
              <a:t>Customers </a:t>
            </a:r>
            <a:r>
              <a:rPr lang="ru-RU" sz="2400" b="1" i="0" u="none" strike="noStrike" dirty="0">
                <a:solidFill>
                  <a:srgbClr val="000000"/>
                </a:solidFill>
                <a:effectLst/>
                <a:latin typeface="-apple-system"/>
              </a:rPr>
              <a:t>новый столбец </a:t>
            </a:r>
            <a:r>
              <a:rPr lang="en" sz="2400" b="1" i="0" u="none" strike="noStrike" dirty="0">
                <a:solidFill>
                  <a:srgbClr val="000000"/>
                </a:solidFill>
                <a:effectLst/>
                <a:latin typeface="-apple-system"/>
              </a:rPr>
              <a:t>Address:</a:t>
            </a:r>
            <a:endParaRPr lang="ru-RU" sz="2400" b="1" dirty="0"/>
          </a:p>
        </p:txBody>
      </p:sp>
      <p:graphicFrame>
        <p:nvGraphicFramePr>
          <p:cNvPr id="6" name="Таблица 5">
            <a:extLst>
              <a:ext uri="{FF2B5EF4-FFF2-40B4-BE49-F238E27FC236}">
                <a16:creationId xmlns:a16="http://schemas.microsoft.com/office/drawing/2014/main" id="{01B8EEBC-F47C-ED7D-C541-121CD1FF5120}"/>
              </a:ext>
            </a:extLst>
          </p:cNvPr>
          <p:cNvGraphicFramePr>
            <a:graphicFrameLocks noGrp="1"/>
          </p:cNvGraphicFramePr>
          <p:nvPr>
            <p:extLst>
              <p:ext uri="{D42A27DB-BD31-4B8C-83A1-F6EECF244321}">
                <p14:modId xmlns:p14="http://schemas.microsoft.com/office/powerpoint/2010/main" val="1502002023"/>
              </p:ext>
            </p:extLst>
          </p:nvPr>
        </p:nvGraphicFramePr>
        <p:xfrm>
          <a:off x="448021" y="503366"/>
          <a:ext cx="7481329" cy="1704325"/>
        </p:xfrm>
        <a:graphic>
          <a:graphicData uri="http://schemas.openxmlformats.org/drawingml/2006/table">
            <a:tbl>
              <a:tblPr/>
              <a:tblGrid>
                <a:gridCol w="298061">
                  <a:extLst>
                    <a:ext uri="{9D8B030D-6E8A-4147-A177-3AD203B41FA5}">
                      <a16:colId xmlns:a16="http://schemas.microsoft.com/office/drawing/2014/main" val="1511380681"/>
                    </a:ext>
                  </a:extLst>
                </a:gridCol>
                <a:gridCol w="7183268">
                  <a:extLst>
                    <a:ext uri="{9D8B030D-6E8A-4147-A177-3AD203B41FA5}">
                      <a16:colId xmlns:a16="http://schemas.microsoft.com/office/drawing/2014/main" val="1644142411"/>
                    </a:ext>
                  </a:extLst>
                </a:gridCol>
              </a:tblGrid>
              <a:tr h="1704325">
                <a:tc>
                  <a:txBody>
                    <a:bodyPr/>
                    <a:lstStyle/>
                    <a:p>
                      <a:pPr algn="r" fontAlgn="base"/>
                      <a:r>
                        <a:rPr lang="ru-RU" sz="2400" b="0" i="0">
                          <a:solidFill>
                            <a:srgbClr val="AFAFAF"/>
                          </a:solidFill>
                          <a:effectLst/>
                          <a:latin typeface="var(--code-font-family)"/>
                        </a:rPr>
                        <a:t>1</a:t>
                      </a:r>
                    </a:p>
                    <a:p>
                      <a:pPr algn="r" fontAlgn="base"/>
                      <a:r>
                        <a:rPr lang="ru-RU" sz="2400" b="0" i="0">
                          <a:solidFill>
                            <a:srgbClr val="AFAFAF"/>
                          </a:solidFill>
                          <a:effectLst/>
                          <a:latin typeface="var(--code-font-family)"/>
                        </a:rPr>
                        <a:t>2</a:t>
                      </a:r>
                    </a:p>
                  </a:txBody>
                  <a:tcPr marL="0" marR="0" marT="0" marB="0" anchor="ctr">
                    <a:lnL>
                      <a:noFill/>
                    </a:lnL>
                    <a:lnR>
                      <a:noFill/>
                    </a:lnR>
                    <a:lnT>
                      <a:noFill/>
                    </a:lnT>
                    <a:lnB>
                      <a:noFill/>
                    </a:lnB>
                  </a:tcPr>
                </a:tc>
                <a:tc>
                  <a:txBody>
                    <a:bodyPr/>
                    <a:lstStyle/>
                    <a:p>
                      <a:pPr algn="l" fontAlgn="base"/>
                      <a:r>
                        <a:rPr lang="en" sz="2400" b="0" i="0" dirty="0">
                          <a:effectLst/>
                          <a:latin typeface="var(--code-font-family)"/>
                        </a:rPr>
                        <a:t>ALTER TABLE Customers</a:t>
                      </a:r>
                    </a:p>
                    <a:p>
                      <a:pPr algn="l" fontAlgn="base"/>
                      <a:r>
                        <a:rPr lang="en" sz="2400" b="0" i="0" dirty="0">
                          <a:effectLst/>
                          <a:latin typeface="var(--code-font-family)"/>
                        </a:rPr>
                        <a:t>ADD Address NVARCHAR(50) NULL;</a:t>
                      </a:r>
                    </a:p>
                  </a:txBody>
                  <a:tcPr marL="0" marR="0" marT="0" marB="0" anchor="ctr">
                    <a:lnL>
                      <a:noFill/>
                    </a:lnL>
                    <a:lnR>
                      <a:noFill/>
                    </a:lnR>
                    <a:lnT>
                      <a:noFill/>
                    </a:lnT>
                    <a:lnB>
                      <a:noFill/>
                    </a:lnB>
                  </a:tcPr>
                </a:tc>
                <a:extLst>
                  <a:ext uri="{0D108BD9-81ED-4DB2-BD59-A6C34878D82A}">
                    <a16:rowId xmlns:a16="http://schemas.microsoft.com/office/drawing/2014/main" val="2652288207"/>
                  </a:ext>
                </a:extLst>
              </a:tr>
            </a:tbl>
          </a:graphicData>
        </a:graphic>
      </p:graphicFrame>
      <p:sp>
        <p:nvSpPr>
          <p:cNvPr id="8" name="TextBox 7">
            <a:extLst>
              <a:ext uri="{FF2B5EF4-FFF2-40B4-BE49-F238E27FC236}">
                <a16:creationId xmlns:a16="http://schemas.microsoft.com/office/drawing/2014/main" id="{E027C389-988C-AD57-8797-F3C575383166}"/>
              </a:ext>
            </a:extLst>
          </p:cNvPr>
          <p:cNvSpPr txBox="1"/>
          <p:nvPr/>
        </p:nvSpPr>
        <p:spPr>
          <a:xfrm>
            <a:off x="240541" y="1951672"/>
            <a:ext cx="11141691" cy="1569660"/>
          </a:xfrm>
          <a:prstGeom prst="rect">
            <a:avLst/>
          </a:prstGeom>
          <a:noFill/>
        </p:spPr>
        <p:txBody>
          <a:bodyPr wrap="square">
            <a:spAutoFit/>
          </a:bodyPr>
          <a:lstStyle/>
          <a:p>
            <a:pPr algn="just"/>
            <a:r>
              <a:rPr lang="ru-RU" sz="2400" b="0" i="0" u="none" strike="noStrike" dirty="0">
                <a:solidFill>
                  <a:srgbClr val="000000"/>
                </a:solidFill>
                <a:effectLst/>
                <a:latin typeface="-apple-system"/>
              </a:rPr>
              <a:t>В данном случае столбец </a:t>
            </a:r>
            <a:r>
              <a:rPr lang="en" sz="2400" b="0" i="0" u="none" strike="noStrike" dirty="0">
                <a:solidFill>
                  <a:srgbClr val="000000"/>
                </a:solidFill>
                <a:effectLst/>
                <a:latin typeface="-apple-system"/>
              </a:rPr>
              <a:t>Address </a:t>
            </a:r>
            <a:r>
              <a:rPr lang="ru-RU" sz="2400" b="0" i="0" u="none" strike="noStrike" dirty="0">
                <a:solidFill>
                  <a:srgbClr val="000000"/>
                </a:solidFill>
                <a:effectLst/>
                <a:latin typeface="-apple-system"/>
              </a:rPr>
              <a:t>имеет тип </a:t>
            </a:r>
            <a:r>
              <a:rPr lang="en" sz="2400" b="0" i="0" u="none" strike="noStrike" dirty="0">
                <a:solidFill>
                  <a:srgbClr val="000000"/>
                </a:solidFill>
                <a:effectLst/>
                <a:latin typeface="-apple-system"/>
              </a:rPr>
              <a:t>NVARCHAR </a:t>
            </a:r>
            <a:r>
              <a:rPr lang="ru-RU" sz="2400" b="0" i="0" u="none" strike="noStrike" dirty="0">
                <a:solidFill>
                  <a:srgbClr val="000000"/>
                </a:solidFill>
                <a:effectLst/>
                <a:latin typeface="-apple-system"/>
              </a:rPr>
              <a:t>и для него определен атрибут </a:t>
            </a:r>
            <a:r>
              <a:rPr lang="en" sz="2400" b="0" i="0" u="none" strike="noStrike" dirty="0">
                <a:solidFill>
                  <a:srgbClr val="000000"/>
                </a:solidFill>
                <a:effectLst/>
                <a:latin typeface="-apple-system"/>
              </a:rPr>
              <a:t>NULL. </a:t>
            </a:r>
            <a:r>
              <a:rPr lang="ru-RU" sz="2400" b="0" i="0" u="none" strike="noStrike" dirty="0">
                <a:solidFill>
                  <a:srgbClr val="000000"/>
                </a:solidFill>
                <a:effectLst/>
                <a:latin typeface="-apple-system"/>
              </a:rPr>
              <a:t>Но что если нам надо добавить столбец, который не должен принимать значения </a:t>
            </a:r>
            <a:r>
              <a:rPr lang="en" sz="2400" b="0" i="0" u="none" strike="noStrike" dirty="0">
                <a:solidFill>
                  <a:srgbClr val="000000"/>
                </a:solidFill>
                <a:effectLst/>
                <a:latin typeface="-apple-system"/>
              </a:rPr>
              <a:t>NULL? </a:t>
            </a:r>
            <a:r>
              <a:rPr lang="ru-RU" sz="2400" b="0" i="0" u="none" strike="noStrike" dirty="0">
                <a:solidFill>
                  <a:srgbClr val="000000"/>
                </a:solidFill>
                <a:effectLst/>
                <a:latin typeface="-apple-system"/>
              </a:rPr>
              <a:t>Если в таблице есть данные, то следующая команда не будет выполнена:</a:t>
            </a:r>
            <a:endParaRPr lang="ru-RU" sz="2400" dirty="0"/>
          </a:p>
        </p:txBody>
      </p:sp>
      <p:sp>
        <p:nvSpPr>
          <p:cNvPr id="10" name="TextBox 9">
            <a:extLst>
              <a:ext uri="{FF2B5EF4-FFF2-40B4-BE49-F238E27FC236}">
                <a16:creationId xmlns:a16="http://schemas.microsoft.com/office/drawing/2014/main" id="{6CCC5BCC-C022-13E0-BF79-998709205131}"/>
              </a:ext>
            </a:extLst>
          </p:cNvPr>
          <p:cNvSpPr txBox="1"/>
          <p:nvPr/>
        </p:nvSpPr>
        <p:spPr>
          <a:xfrm>
            <a:off x="699448" y="3655997"/>
            <a:ext cx="6093724" cy="830997"/>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ALTER TABLE Customers</a:t>
            </a:r>
          </a:p>
          <a:p>
            <a:pPr algn="l" fontAlgn="base"/>
            <a:r>
              <a:rPr lang="en" sz="2400" b="0" i="0" u="none" strike="noStrike" dirty="0">
                <a:solidFill>
                  <a:srgbClr val="000000"/>
                </a:solidFill>
                <a:effectLst/>
                <a:latin typeface="Consolas" panose="020B0609020204030204" pitchFamily="49" charset="0"/>
              </a:rPr>
              <a:t>ADD Address NVARCHAR(50) NOT NULL;</a:t>
            </a:r>
          </a:p>
        </p:txBody>
      </p:sp>
      <p:sp>
        <p:nvSpPr>
          <p:cNvPr id="12" name="TextBox 11">
            <a:extLst>
              <a:ext uri="{FF2B5EF4-FFF2-40B4-BE49-F238E27FC236}">
                <a16:creationId xmlns:a16="http://schemas.microsoft.com/office/drawing/2014/main" id="{D94611AB-2979-B80B-533B-AE29EDAB0D59}"/>
              </a:ext>
            </a:extLst>
          </p:cNvPr>
          <p:cNvSpPr txBox="1"/>
          <p:nvPr/>
        </p:nvSpPr>
        <p:spPr>
          <a:xfrm>
            <a:off x="3287404" y="4630086"/>
            <a:ext cx="6093724" cy="461665"/>
          </a:xfrm>
          <a:prstGeom prst="rect">
            <a:avLst/>
          </a:prstGeom>
          <a:noFill/>
        </p:spPr>
        <p:txBody>
          <a:bodyPr wrap="square">
            <a:spAutoFit/>
          </a:bodyPr>
          <a:lstStyle/>
          <a:p>
            <a:pPr algn="l"/>
            <a:r>
              <a:rPr lang="ru-RU" sz="2400" b="1" i="0" u="none" strike="noStrike" dirty="0">
                <a:solidFill>
                  <a:srgbClr val="000000"/>
                </a:solidFill>
                <a:effectLst/>
                <a:latin typeface="Times New Roman" panose="02020603050405020304" pitchFamily="18" charset="0"/>
                <a:cs typeface="Times New Roman" panose="02020603050405020304" pitchFamily="18" charset="0"/>
              </a:rPr>
              <a:t>Удаление столбца</a:t>
            </a:r>
          </a:p>
        </p:txBody>
      </p:sp>
      <p:sp>
        <p:nvSpPr>
          <p:cNvPr id="14" name="TextBox 13">
            <a:extLst>
              <a:ext uri="{FF2B5EF4-FFF2-40B4-BE49-F238E27FC236}">
                <a16:creationId xmlns:a16="http://schemas.microsoft.com/office/drawing/2014/main" id="{8D2EE699-72FB-58AE-09B5-12675FF9BA46}"/>
              </a:ext>
            </a:extLst>
          </p:cNvPr>
          <p:cNvSpPr txBox="1"/>
          <p:nvPr/>
        </p:nvSpPr>
        <p:spPr>
          <a:xfrm>
            <a:off x="750625" y="5091751"/>
            <a:ext cx="9116705" cy="461665"/>
          </a:xfrm>
          <a:prstGeom prst="rect">
            <a:avLst/>
          </a:prstGeom>
          <a:noFill/>
        </p:spPr>
        <p:txBody>
          <a:bodyPr wrap="square">
            <a:spAutoFit/>
          </a:bodyPr>
          <a:lstStyle/>
          <a:p>
            <a:r>
              <a:rPr lang="ru-RU" sz="2400" b="0" i="0" u="none" strike="noStrike" dirty="0">
                <a:solidFill>
                  <a:srgbClr val="000000"/>
                </a:solidFill>
                <a:effectLst/>
                <a:latin typeface="Times New Roman" panose="02020603050405020304" pitchFamily="18" charset="0"/>
                <a:cs typeface="Times New Roman" panose="02020603050405020304" pitchFamily="18" charset="0"/>
              </a:rPr>
              <a:t>Удалим столбец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Address </a:t>
            </a:r>
            <a:r>
              <a:rPr lang="ru-RU" sz="2400" b="0" i="0" u="none" strike="noStrike" dirty="0">
                <a:solidFill>
                  <a:srgbClr val="000000"/>
                </a:solidFill>
                <a:effectLst/>
                <a:latin typeface="Times New Roman" panose="02020603050405020304" pitchFamily="18" charset="0"/>
                <a:cs typeface="Times New Roman" panose="02020603050405020304" pitchFamily="18" charset="0"/>
              </a:rPr>
              <a:t>из таблицы </a:t>
            </a:r>
            <a:r>
              <a:rPr lang="en" sz="2400" b="0" i="0" u="none" strike="noStrike" dirty="0">
                <a:solidFill>
                  <a:srgbClr val="000000"/>
                </a:solidFill>
                <a:effectLst/>
                <a:latin typeface="Times New Roman" panose="02020603050405020304" pitchFamily="18" charset="0"/>
                <a:cs typeface="Times New Roman" panose="02020603050405020304" pitchFamily="18" charset="0"/>
              </a:rPr>
              <a:t>Customers:</a:t>
            </a:r>
            <a:endParaRPr lang="ru-RU" sz="24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CA224161-61B8-29BC-777B-B8C3EE65A100}"/>
              </a:ext>
            </a:extLst>
          </p:cNvPr>
          <p:cNvSpPr txBox="1"/>
          <p:nvPr/>
        </p:nvSpPr>
        <p:spPr>
          <a:xfrm>
            <a:off x="1141823" y="5734247"/>
            <a:ext cx="6093724" cy="830997"/>
          </a:xfrm>
          <a:prstGeom prst="rect">
            <a:avLst/>
          </a:prstGeom>
          <a:noFill/>
        </p:spPr>
        <p:txBody>
          <a:bodyPr wrap="square">
            <a:spAutoFit/>
          </a:bodyPr>
          <a:lstStyle/>
          <a:p>
            <a:pPr algn="l" fontAlgn="base"/>
            <a:r>
              <a:rPr lang="en" sz="2400" b="0" i="0" u="none" strike="noStrike" dirty="0">
                <a:solidFill>
                  <a:srgbClr val="000000"/>
                </a:solidFill>
                <a:effectLst/>
                <a:latin typeface="Consolas" panose="020B0609020204030204" pitchFamily="49" charset="0"/>
              </a:rPr>
              <a:t>ALTER TABLE Customers</a:t>
            </a:r>
          </a:p>
          <a:p>
            <a:pPr algn="l" fontAlgn="base"/>
            <a:r>
              <a:rPr lang="en" sz="2400" b="0" i="0" u="none" strike="noStrike" dirty="0">
                <a:solidFill>
                  <a:srgbClr val="000000"/>
                </a:solidFill>
                <a:effectLst/>
                <a:latin typeface="Consolas" panose="020B0609020204030204" pitchFamily="49" charset="0"/>
              </a:rPr>
              <a:t>DROP COLUMN Address;</a:t>
            </a:r>
          </a:p>
        </p:txBody>
      </p:sp>
    </p:spTree>
    <p:extLst>
      <p:ext uri="{BB962C8B-B14F-4D97-AF65-F5344CB8AC3E}">
        <p14:creationId xmlns:p14="http://schemas.microsoft.com/office/powerpoint/2010/main" val="238594377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2496</Words>
  <Application>Microsoft Office PowerPoint</Application>
  <PresentationFormat>Широкоэкранный</PresentationFormat>
  <Paragraphs>454</Paragraphs>
  <Slides>64</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64</vt:i4>
      </vt:variant>
    </vt:vector>
  </HeadingPairs>
  <TitlesOfParts>
    <vt:vector size="72" baseType="lpstr">
      <vt:lpstr>-apple-system</vt:lpstr>
      <vt:lpstr>Arial</vt:lpstr>
      <vt:lpstr>Calibri</vt:lpstr>
      <vt:lpstr>Calibri Light</vt:lpstr>
      <vt:lpstr>Consolas</vt:lpstr>
      <vt:lpstr>Times New Roman</vt:lpstr>
      <vt:lpstr>var(--code-font-family)</vt:lpstr>
      <vt:lpstr>Тема Office</vt:lpstr>
      <vt:lpstr>SQL Server. Создание базы данных, таблиц и связей между ними Основы работы с  MS SQL Server Management Studio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Server. Создание базы данных, таблиц и связей между ними Основы работы с  MS SQL Server Management Studio </dc:title>
  <dc:creator>Microsoft Office User</dc:creator>
  <cp:lastModifiedBy>administrator pk</cp:lastModifiedBy>
  <cp:revision>2</cp:revision>
  <dcterms:created xsi:type="dcterms:W3CDTF">2023-09-17T11:14:01Z</dcterms:created>
  <dcterms:modified xsi:type="dcterms:W3CDTF">2025-02-16T18:15:32Z</dcterms:modified>
</cp:coreProperties>
</file>